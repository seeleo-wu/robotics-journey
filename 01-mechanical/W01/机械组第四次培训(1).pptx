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7" r:id="rId33"/>
    <p:sldId id="289" r:id="rId34"/>
    <p:sldId id="290" r:id="rId35"/>
  </p:sldIdLst>
  <p:sldSz cx="10693400" cy="7562850"/>
  <p:notesSz cx="10693400" cy="7562850"/>
  <p:defaultTextStyle>
    <a:defPPr>
      <a:defRPr kern="0"/>
    </a:defPPr>
  </p:defaultTextStyle>
  <p:extLst>
    <p:ext uri="{EFAFB233-063F-42B5-8137-9DF3F51BA10A}">
      <p15:sldGuideLst xmlns:p15="http://schemas.microsoft.com/office/powerpoint/2012/main">
        <p15:guide id="1" orient="horz" pos="2880"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78" d="100"/>
          <a:sy n="78" d="100"/>
        </p:scale>
        <p:origin x="-1536" y="-8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8" Type="http://schemas.openxmlformats.org/officeDocument/2006/relationships/tableStyles" Target="tableStyles.xml"/><Relationship Id="rId37" Type="http://schemas.openxmlformats.org/officeDocument/2006/relationships/viewProps" Target="viewProps.xml"/><Relationship Id="rId36" Type="http://schemas.openxmlformats.org/officeDocument/2006/relationships/presProps" Target="presProps.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802005" y="2344483"/>
            <a:ext cx="9089390" cy="1588198"/>
          </a:xfrm>
          <a:prstGeom prst="rect">
            <a:avLst/>
          </a:prstGeom>
        </p:spPr>
        <p:txBody>
          <a:bodyPr wrap="square" lIns="0" tIns="0" rIns="0" bIns="0">
            <a:spAutoFit/>
          </a:bodyPr>
          <a:lstStyle>
            <a:lvl1pPr>
              <a:defRPr sz="2450" b="1" i="0">
                <a:solidFill>
                  <a:srgbClr val="26599C"/>
                </a:solidFill>
                <a:latin typeface="微软雅黑" panose="020B0503020204020204" charset="-122"/>
                <a:cs typeface="微软雅黑" panose="020B0503020204020204" charset="-122"/>
              </a:defRPr>
            </a:lvl1pPr>
          </a:lstStyle>
          <a:p/>
        </p:txBody>
      </p:sp>
      <p:sp>
        <p:nvSpPr>
          <p:cNvPr id="3" name="Holder 3"/>
          <p:cNvSpPr>
            <a:spLocks noGrp="1"/>
          </p:cNvSpPr>
          <p:nvPr>
            <p:ph type="subTitle" idx="4"/>
          </p:nvPr>
        </p:nvSpPr>
        <p:spPr>
          <a:xfrm>
            <a:off x="1604010" y="4235196"/>
            <a:ext cx="7485380" cy="1890712"/>
          </a:xfrm>
          <a:prstGeom prst="rect">
            <a:avLst/>
          </a:prstGeom>
        </p:spPr>
        <p:txBody>
          <a:bodyPr wrap="square" lIns="0" tIns="0" rIns="0" bIns="0">
            <a:spAutoFit/>
          </a:bodyPr>
          <a:lstStyle>
            <a:lvl1pPr>
              <a:defRPr sz="1550" b="0" i="0">
                <a:solidFill>
                  <a:schemeClr val="tx1"/>
                </a:solidFill>
                <a:latin typeface="微软雅黑" panose="020B0503020204020204" charset="-122"/>
                <a:cs typeface="微软雅黑" panose="020B0503020204020204" charset="-122"/>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50" b="1" i="0">
                <a:solidFill>
                  <a:srgbClr val="26599C"/>
                </a:solidFill>
                <a:latin typeface="微软雅黑" panose="020B0503020204020204" charset="-122"/>
                <a:cs typeface="微软雅黑" panose="020B0503020204020204" charset="-122"/>
              </a:defRPr>
            </a:lvl1pPr>
          </a:lstStyle>
          <a:p/>
        </p:txBody>
      </p:sp>
      <p:sp>
        <p:nvSpPr>
          <p:cNvPr id="3" name="Holder 3"/>
          <p:cNvSpPr>
            <a:spLocks noGrp="1"/>
          </p:cNvSpPr>
          <p:nvPr>
            <p:ph type="body" idx="1"/>
          </p:nvPr>
        </p:nvSpPr>
        <p:spPr/>
        <p:txBody>
          <a:bodyPr lIns="0" tIns="0" rIns="0" bIns="0"/>
          <a:lstStyle>
            <a:lvl1pPr>
              <a:defRPr sz="1550" b="0" i="0">
                <a:solidFill>
                  <a:schemeClr val="tx1"/>
                </a:solidFill>
                <a:latin typeface="微软雅黑" panose="020B0503020204020204" charset="-122"/>
                <a:cs typeface="微软雅黑" panose="020B0503020204020204" charset="-122"/>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50" b="1" i="0">
                <a:solidFill>
                  <a:srgbClr val="26599C"/>
                </a:solidFill>
                <a:latin typeface="微软雅黑" panose="020B0503020204020204" charset="-122"/>
                <a:cs typeface="微软雅黑" panose="020B0503020204020204" charset="-122"/>
              </a:defRPr>
            </a:lvl1pPr>
          </a:lstStyle>
          <a:p/>
        </p:txBody>
      </p:sp>
      <p:sp>
        <p:nvSpPr>
          <p:cNvPr id="3" name="Holder 3"/>
          <p:cNvSpPr>
            <a:spLocks noGrp="1"/>
          </p:cNvSpPr>
          <p:nvPr>
            <p:ph sz="half" idx="2"/>
          </p:nvPr>
        </p:nvSpPr>
        <p:spPr>
          <a:xfrm>
            <a:off x="534670" y="1739455"/>
            <a:ext cx="4651629" cy="4991481"/>
          </a:xfrm>
          <a:prstGeom prst="rect">
            <a:avLst/>
          </a:prstGeom>
        </p:spPr>
        <p:txBody>
          <a:bodyPr wrap="square" lIns="0" tIns="0" rIns="0" bIns="0">
            <a:spAutoFit/>
          </a:bodyPr>
          <a:lstStyle>
            <a:lvl1pPr>
              <a:defRPr/>
            </a:lvl1pPr>
          </a:lstStyle>
          <a:p/>
        </p:txBody>
      </p:sp>
      <p:sp>
        <p:nvSpPr>
          <p:cNvPr id="4" name="Holder 4"/>
          <p:cNvSpPr>
            <a:spLocks noGrp="1"/>
          </p:cNvSpPr>
          <p:nvPr>
            <p:ph sz="half" idx="3"/>
          </p:nvPr>
        </p:nvSpPr>
        <p:spPr>
          <a:xfrm>
            <a:off x="5507101" y="1739455"/>
            <a:ext cx="4651629" cy="4991481"/>
          </a:xfrm>
          <a:prstGeom prst="rect">
            <a:avLst/>
          </a:prstGeom>
        </p:spPr>
        <p:txBody>
          <a:bodyPr wrap="square" lIns="0" tIns="0" rIns="0" bIns="0">
            <a:spAutoFit/>
          </a:bodyPr>
          <a:lstStyle>
            <a:lvl1pPr>
              <a:defRPr/>
            </a:lvl1pPr>
          </a:lstStyle>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50" b="1" i="0">
                <a:solidFill>
                  <a:srgbClr val="26599C"/>
                </a:solidFill>
                <a:latin typeface="微软雅黑" panose="020B0503020204020204" charset="-122"/>
                <a:cs typeface="微软雅黑" panose="020B0503020204020204" charset="-122"/>
              </a:defRPr>
            </a:lvl1pPr>
          </a:lstStyle>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theme" Target="../theme/theme1.xml"/><Relationship Id="rId6" Type="http://schemas.openxmlformats.org/officeDocument/2006/relationships/image" Target="../media/image1.png"/><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6" cstate="print"/>
          <a:stretch>
            <a:fillRect/>
          </a:stretch>
        </p:blipFill>
        <p:spPr>
          <a:xfrm>
            <a:off x="0" y="772668"/>
            <a:ext cx="10692384" cy="6013703"/>
          </a:xfrm>
          <a:prstGeom prst="rect">
            <a:avLst/>
          </a:prstGeom>
        </p:spPr>
      </p:pic>
      <p:sp>
        <p:nvSpPr>
          <p:cNvPr id="2" name="Holder 2"/>
          <p:cNvSpPr>
            <a:spLocks noGrp="1"/>
          </p:cNvSpPr>
          <p:nvPr>
            <p:ph type="title"/>
          </p:nvPr>
        </p:nvSpPr>
        <p:spPr>
          <a:xfrm>
            <a:off x="504012" y="2198648"/>
            <a:ext cx="3865879" cy="559435"/>
          </a:xfrm>
          <a:prstGeom prst="rect">
            <a:avLst/>
          </a:prstGeom>
        </p:spPr>
        <p:txBody>
          <a:bodyPr wrap="square" lIns="0" tIns="0" rIns="0" bIns="0">
            <a:spAutoFit/>
          </a:bodyPr>
          <a:lstStyle>
            <a:lvl1pPr>
              <a:defRPr sz="2450" b="1" i="0">
                <a:solidFill>
                  <a:srgbClr val="26599C"/>
                </a:solidFill>
                <a:latin typeface="微软雅黑" panose="020B0503020204020204" charset="-122"/>
                <a:cs typeface="微软雅黑" panose="020B0503020204020204" charset="-122"/>
              </a:defRPr>
            </a:lvl1pPr>
          </a:lstStyle>
          <a:p/>
        </p:txBody>
      </p:sp>
      <p:sp>
        <p:nvSpPr>
          <p:cNvPr id="3" name="Holder 3"/>
          <p:cNvSpPr>
            <a:spLocks noGrp="1"/>
          </p:cNvSpPr>
          <p:nvPr>
            <p:ph type="body" idx="1"/>
          </p:nvPr>
        </p:nvSpPr>
        <p:spPr>
          <a:xfrm>
            <a:off x="4548637" y="3750607"/>
            <a:ext cx="5005705" cy="2601595"/>
          </a:xfrm>
          <a:prstGeom prst="rect">
            <a:avLst/>
          </a:prstGeom>
        </p:spPr>
        <p:txBody>
          <a:bodyPr wrap="square" lIns="0" tIns="0" rIns="0" bIns="0">
            <a:spAutoFit/>
          </a:bodyPr>
          <a:lstStyle>
            <a:lvl1pPr>
              <a:defRPr sz="1550" b="0" i="0">
                <a:solidFill>
                  <a:schemeClr val="tx1"/>
                </a:solidFill>
                <a:latin typeface="微软雅黑" panose="020B0503020204020204" charset="-122"/>
                <a:cs typeface="微软雅黑" panose="020B0503020204020204" charset="-122"/>
              </a:defRPr>
            </a:lvl1pPr>
          </a:lstStyle>
          <a:p/>
        </p:txBody>
      </p:sp>
      <p:sp>
        <p:nvSpPr>
          <p:cNvPr id="4" name="Holder 4"/>
          <p:cNvSpPr>
            <a:spLocks noGrp="1"/>
          </p:cNvSpPr>
          <p:nvPr>
            <p:ph type="ftr" sz="quarter" idx="5"/>
          </p:nvPr>
        </p:nvSpPr>
        <p:spPr>
          <a:xfrm>
            <a:off x="3635756" y="7033450"/>
            <a:ext cx="3421888" cy="378142"/>
          </a:xfrm>
          <a:prstGeom prst="rect">
            <a:avLst/>
          </a:prstGeom>
        </p:spPr>
        <p:txBody>
          <a:bodyPr wrap="square" lIns="0" tIns="0" rIns="0" bIns="0">
            <a:spAutoFit/>
          </a:bodyPr>
          <a:lstStyle>
            <a:lvl1pPr algn="ctr">
              <a:defRPr>
                <a:solidFill>
                  <a:schemeClr val="tx1">
                    <a:tint val="75000"/>
                  </a:schemeClr>
                </a:solidFill>
              </a:defRPr>
            </a:lvl1pPr>
          </a:lstStyle>
          <a:p/>
        </p:txBody>
      </p:sp>
      <p:sp>
        <p:nvSpPr>
          <p:cNvPr id="5" name="Holder 5"/>
          <p:cNvSpPr>
            <a:spLocks noGrp="1"/>
          </p:cNvSpPr>
          <p:nvPr>
            <p:ph type="dt" sz="half" idx="6"/>
          </p:nvPr>
        </p:nvSpPr>
        <p:spPr>
          <a:xfrm>
            <a:off x="534670" y="7033450"/>
            <a:ext cx="2459482" cy="378142"/>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a:xfrm>
            <a:off x="7699248" y="7033450"/>
            <a:ext cx="2459482" cy="378142"/>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jpeg"/><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4.jpeg"/><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8.jpeg"/><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image" Target="../media/image5.jpeg"/></Relationships>
</file>

<file path=ppt/slides/_rels/slide4.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12.jpeg"/><Relationship Id="rId4" Type="http://schemas.openxmlformats.org/officeDocument/2006/relationships/image" Target="../media/image11.jpeg"/><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image" Target="../media/image5.jpeg"/></Relationships>
</file>

<file path=ppt/slides/_rels/slide5.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openxmlformats.org/officeDocument/2006/relationships/image" Target="../media/image16.jpeg"/><Relationship Id="rId4" Type="http://schemas.openxmlformats.org/officeDocument/2006/relationships/image" Target="../media/image15.jpeg"/><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image" Target="../media/image5.jpeg"/></Relationships>
</file>

<file path=ppt/slides/_rels/slide6.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20.jpeg"/><Relationship Id="rId4" Type="http://schemas.openxmlformats.org/officeDocument/2006/relationships/image" Target="../media/image19.jpeg"/><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image" Target="../media/image5.jpe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2.jpeg"/><Relationship Id="rId1" Type="http://schemas.openxmlformats.org/officeDocument/2006/relationships/image" Target="../media/image21.jpe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23.jpeg"/><Relationship Id="rId1" Type="http://schemas.openxmlformats.org/officeDocument/2006/relationships/image" Target="../media/image21.jpeg"/></Relationships>
</file>

<file path=ppt/slides/_rels/slide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6.jpeg"/><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image" Target="../media/image21.jpeg"/></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8.jpeg"/><Relationship Id="rId2" Type="http://schemas.openxmlformats.org/officeDocument/2006/relationships/image" Target="../media/image27.jpeg"/><Relationship Id="rId1" Type="http://schemas.openxmlformats.org/officeDocument/2006/relationships/image" Target="../media/image21.jpeg"/></Relationships>
</file>

<file path=ppt/slides/_rels/slide11.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31.jpeg"/><Relationship Id="rId3" Type="http://schemas.openxmlformats.org/officeDocument/2006/relationships/image" Target="../media/image30.jpeg"/><Relationship Id="rId2" Type="http://schemas.openxmlformats.org/officeDocument/2006/relationships/image" Target="../media/image29.jpeg"/><Relationship Id="rId1" Type="http://schemas.openxmlformats.org/officeDocument/2006/relationships/image" Target="../media/image21.jpeg"/></Relationships>
</file>

<file path=ppt/slides/_rels/slide1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34.jpeg"/><Relationship Id="rId3" Type="http://schemas.openxmlformats.org/officeDocument/2006/relationships/image" Target="../media/image33.jpeg"/><Relationship Id="rId2" Type="http://schemas.openxmlformats.org/officeDocument/2006/relationships/image" Target="../media/image32.jpeg"/><Relationship Id="rId1" Type="http://schemas.openxmlformats.org/officeDocument/2006/relationships/image" Target="../media/image21.jpeg"/></Relationships>
</file>

<file path=ppt/slides/_rels/slide13.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39.jpeg"/><Relationship Id="rId5" Type="http://schemas.openxmlformats.org/officeDocument/2006/relationships/image" Target="../media/image38.jpeg"/><Relationship Id="rId4" Type="http://schemas.openxmlformats.org/officeDocument/2006/relationships/image" Target="../media/image37.jpeg"/><Relationship Id="rId3" Type="http://schemas.openxmlformats.org/officeDocument/2006/relationships/image" Target="../media/image36.jpeg"/><Relationship Id="rId2" Type="http://schemas.openxmlformats.org/officeDocument/2006/relationships/image" Target="../media/image35.jpeg"/><Relationship Id="rId1" Type="http://schemas.openxmlformats.org/officeDocument/2006/relationships/image" Target="../media/image21.jpeg"/></Relationships>
</file>

<file path=ppt/slides/_rels/slide14.xml.rels><?xml version="1.0" encoding="UTF-8" standalone="yes"?>
<Relationships xmlns="http://schemas.openxmlformats.org/package/2006/relationships"><Relationship Id="rId5" Type="http://schemas.openxmlformats.org/officeDocument/2006/relationships/slideLayout" Target="../slideLayouts/slideLayout4.xml"/><Relationship Id="rId4" Type="http://schemas.openxmlformats.org/officeDocument/2006/relationships/image" Target="../media/image42.jpeg"/><Relationship Id="rId3" Type="http://schemas.openxmlformats.org/officeDocument/2006/relationships/image" Target="../media/image41.jpeg"/><Relationship Id="rId2" Type="http://schemas.openxmlformats.org/officeDocument/2006/relationships/image" Target="../media/image40.jpeg"/><Relationship Id="rId1" Type="http://schemas.openxmlformats.org/officeDocument/2006/relationships/image" Target="../media/image21.jpeg"/></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4.jpeg"/><Relationship Id="rId2" Type="http://schemas.openxmlformats.org/officeDocument/2006/relationships/image" Target="../media/image43.jpeg"/><Relationship Id="rId1" Type="http://schemas.openxmlformats.org/officeDocument/2006/relationships/image" Target="../media/image21.jpeg"/></Relationships>
</file>

<file path=ppt/slides/_rels/slide1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47.jpeg"/><Relationship Id="rId3" Type="http://schemas.openxmlformats.org/officeDocument/2006/relationships/image" Target="../media/image46.jpeg"/><Relationship Id="rId2" Type="http://schemas.openxmlformats.org/officeDocument/2006/relationships/image" Target="../media/image45.jpeg"/><Relationship Id="rId1" Type="http://schemas.openxmlformats.org/officeDocument/2006/relationships/image" Target="../media/image21.jpeg"/></Relationships>
</file>

<file path=ppt/slides/_rels/slide1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50.jpeg"/><Relationship Id="rId3" Type="http://schemas.openxmlformats.org/officeDocument/2006/relationships/image" Target="../media/image49.jpeg"/><Relationship Id="rId2" Type="http://schemas.openxmlformats.org/officeDocument/2006/relationships/image" Target="../media/image48.jpeg"/><Relationship Id="rId1" Type="http://schemas.openxmlformats.org/officeDocument/2006/relationships/image" Target="../media/image21.jpeg"/></Relationships>
</file>

<file path=ppt/slides/_rels/slide18.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53.jpeg"/><Relationship Id="rId4" Type="http://schemas.openxmlformats.org/officeDocument/2006/relationships/hyperlink" Target="http://www.bilibili.com/video" TargetMode="External"/><Relationship Id="rId3" Type="http://schemas.openxmlformats.org/officeDocument/2006/relationships/image" Target="../media/image52.jpeg"/><Relationship Id="rId2" Type="http://schemas.openxmlformats.org/officeDocument/2006/relationships/image" Target="../media/image51.jpeg"/><Relationship Id="rId1" Type="http://schemas.openxmlformats.org/officeDocument/2006/relationships/image" Target="../media/image21.jpeg"/></Relationships>
</file>

<file path=ppt/slides/_rels/slide1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56.jpeg"/><Relationship Id="rId3" Type="http://schemas.openxmlformats.org/officeDocument/2006/relationships/image" Target="../media/image55.jpeg"/><Relationship Id="rId2" Type="http://schemas.openxmlformats.org/officeDocument/2006/relationships/image" Target="../media/image54.jpeg"/><Relationship Id="rId1" Type="http://schemas.openxmlformats.org/officeDocument/2006/relationships/image" Target="../media/image21.jpeg"/></Relationships>
</file>

<file path=ppt/slides/_rels/slide20.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60.jpeg"/><Relationship Id="rId4" Type="http://schemas.openxmlformats.org/officeDocument/2006/relationships/image" Target="../media/image59.jpeg"/><Relationship Id="rId3" Type="http://schemas.openxmlformats.org/officeDocument/2006/relationships/image" Target="../media/image58.jpeg"/><Relationship Id="rId2" Type="http://schemas.openxmlformats.org/officeDocument/2006/relationships/image" Target="../media/image57.jpeg"/><Relationship Id="rId1" Type="http://schemas.openxmlformats.org/officeDocument/2006/relationships/image" Target="../media/image21.jpeg"/></Relationships>
</file>

<file path=ppt/slides/_rels/slide2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62.jpeg"/><Relationship Id="rId2" Type="http://schemas.openxmlformats.org/officeDocument/2006/relationships/image" Target="../media/image61.jpeg"/><Relationship Id="rId1" Type="http://schemas.openxmlformats.org/officeDocument/2006/relationships/image" Target="../media/image21.jpeg"/></Relationships>
</file>

<file path=ppt/slides/_rels/slide22.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68.jpeg"/><Relationship Id="rId5" Type="http://schemas.openxmlformats.org/officeDocument/2006/relationships/image" Target="../media/image67.jpeg"/><Relationship Id="rId4" Type="http://schemas.openxmlformats.org/officeDocument/2006/relationships/image" Target="../media/image66.jpeg"/><Relationship Id="rId3" Type="http://schemas.openxmlformats.org/officeDocument/2006/relationships/image" Target="../media/image65.jpeg"/><Relationship Id="rId2" Type="http://schemas.openxmlformats.org/officeDocument/2006/relationships/image" Target="../media/image64.jpeg"/><Relationship Id="rId1" Type="http://schemas.openxmlformats.org/officeDocument/2006/relationships/image" Target="../media/image63.jpeg"/></Relationships>
</file>

<file path=ppt/slides/_rels/slide2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71.jpeg"/><Relationship Id="rId3" Type="http://schemas.openxmlformats.org/officeDocument/2006/relationships/image" Target="../media/image70.jpeg"/><Relationship Id="rId2" Type="http://schemas.openxmlformats.org/officeDocument/2006/relationships/image" Target="../media/image69.jpeg"/><Relationship Id="rId1" Type="http://schemas.openxmlformats.org/officeDocument/2006/relationships/image" Target="../media/image63.jpeg"/></Relationships>
</file>

<file path=ppt/slides/_rels/slide24.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hyperlink" Target="http://www.bilibili.com/video/B" TargetMode="External"/><Relationship Id="rId5" Type="http://schemas.openxmlformats.org/officeDocument/2006/relationships/hyperlink" Target="http://www.bilibili.com/video/BV1Rv4y1v7aE/?share_source=copy_web&amp;vd_sour" TargetMode="External"/><Relationship Id="rId4" Type="http://schemas.openxmlformats.org/officeDocument/2006/relationships/image" Target="../media/image74.jpeg"/><Relationship Id="rId3" Type="http://schemas.openxmlformats.org/officeDocument/2006/relationships/image" Target="../media/image73.jpeg"/><Relationship Id="rId2" Type="http://schemas.openxmlformats.org/officeDocument/2006/relationships/image" Target="../media/image72.jpeg"/><Relationship Id="rId1" Type="http://schemas.openxmlformats.org/officeDocument/2006/relationships/image" Target="../media/image63.jpeg"/></Relationships>
</file>

<file path=ppt/slides/_rels/slide2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hyperlink" Target="http://www.bilibili.com/video/BV1aG4y1B7fQ/?share" TargetMode="External"/><Relationship Id="rId3" Type="http://schemas.openxmlformats.org/officeDocument/2006/relationships/image" Target="../media/image76.jpeg"/><Relationship Id="rId2" Type="http://schemas.openxmlformats.org/officeDocument/2006/relationships/image" Target="../media/image75.jpeg"/><Relationship Id="rId1" Type="http://schemas.openxmlformats.org/officeDocument/2006/relationships/image" Target="../media/image63.jpeg"/></Relationships>
</file>

<file path=ppt/slides/_rels/slide26.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image" Target="../media/image78.jpeg"/><Relationship Id="rId2" Type="http://schemas.openxmlformats.org/officeDocument/2006/relationships/image" Target="../media/image77.jpeg"/><Relationship Id="rId1" Type="http://schemas.openxmlformats.org/officeDocument/2006/relationships/image" Target="../media/image63.jpeg"/></Relationships>
</file>

<file path=ppt/slides/_rels/slide2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80.jpeg"/><Relationship Id="rId2" Type="http://schemas.openxmlformats.org/officeDocument/2006/relationships/image" Target="../media/image79.jpeg"/><Relationship Id="rId1" Type="http://schemas.openxmlformats.org/officeDocument/2006/relationships/image" Target="../media/image63.jpeg"/></Relationships>
</file>

<file path=ppt/slides/_rels/slide28.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hyperlink" Target="http://www.bilibili.com/video/BV11t4y1z7zC/?sha" TargetMode="External"/><Relationship Id="rId4" Type="http://schemas.openxmlformats.org/officeDocument/2006/relationships/image" Target="../media/image83.jpeg"/><Relationship Id="rId3" Type="http://schemas.openxmlformats.org/officeDocument/2006/relationships/image" Target="../media/image82.jpeg"/><Relationship Id="rId2" Type="http://schemas.openxmlformats.org/officeDocument/2006/relationships/image" Target="../media/image81.jpeg"/><Relationship Id="rId1" Type="http://schemas.openxmlformats.org/officeDocument/2006/relationships/image" Target="../media/image63.jpeg"/></Relationships>
</file>

<file path=ppt/slides/_rels/slide2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84.jpeg"/><Relationship Id="rId2" Type="http://schemas.openxmlformats.org/officeDocument/2006/relationships/hyperlink" Target="http://www.bilibili.com/video/BV" TargetMode="External"/><Relationship Id="rId1" Type="http://schemas.openxmlformats.org/officeDocument/2006/relationships/image" Target="../media/image63.jpeg"/></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6.jpeg"/><Relationship Id="rId1" Type="http://schemas.openxmlformats.org/officeDocument/2006/relationships/image" Target="../media/image85.jpeg"/></Relationships>
</file>

<file path=ppt/slides/_rels/slide31.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89.jpeg"/><Relationship Id="rId3" Type="http://schemas.openxmlformats.org/officeDocument/2006/relationships/image" Target="../media/image88.png"/><Relationship Id="rId2" Type="http://schemas.openxmlformats.org/officeDocument/2006/relationships/image" Target="../media/image87.png"/><Relationship Id="rId1" Type="http://schemas.openxmlformats.org/officeDocument/2006/relationships/image" Target="../media/image85.jpeg"/></Relationships>
</file>

<file path=ppt/slides/_rels/slide3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91.jpeg"/><Relationship Id="rId2" Type="http://schemas.openxmlformats.org/officeDocument/2006/relationships/image" Target="../media/image90.jpeg"/><Relationship Id="rId1" Type="http://schemas.openxmlformats.org/officeDocument/2006/relationships/image" Target="../media/image85.jpeg"/></Relationships>
</file>

<file path=ppt/slides/_rels/slide33.xml.rels><?xml version="1.0" encoding="UTF-8" standalone="yes"?>
<Relationships xmlns="http://schemas.openxmlformats.org/package/2006/relationships"><Relationship Id="rId7" Type="http://schemas.openxmlformats.org/officeDocument/2006/relationships/slideLayout" Target="../slideLayouts/slideLayout5.xml"/><Relationship Id="rId6" Type="http://schemas.openxmlformats.org/officeDocument/2006/relationships/image" Target="../media/image96.png"/><Relationship Id="rId5" Type="http://schemas.openxmlformats.org/officeDocument/2006/relationships/image" Target="../media/image95.png"/><Relationship Id="rId4" Type="http://schemas.openxmlformats.org/officeDocument/2006/relationships/image" Target="../media/image94.png"/><Relationship Id="rId3" Type="http://schemas.openxmlformats.org/officeDocument/2006/relationships/image" Target="../media/image93.png"/><Relationship Id="rId2" Type="http://schemas.openxmlformats.org/officeDocument/2006/relationships/image" Target="../media/image92.jpeg"/><Relationship Id="rId1" Type="http://schemas.openxmlformats.org/officeDocument/2006/relationships/image" Target="../media/image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81888" y="2625975"/>
            <a:ext cx="8941435" cy="1860550"/>
          </a:xfrm>
          <a:prstGeom prst="rect">
            <a:avLst/>
          </a:prstGeom>
        </p:spPr>
        <p:txBody>
          <a:bodyPr vert="horz" wrap="square" lIns="0" tIns="211455" rIns="0" bIns="0" rtlCol="0">
            <a:spAutoFit/>
          </a:bodyPr>
          <a:lstStyle/>
          <a:p>
            <a:pPr marL="12700">
              <a:lnSpc>
                <a:spcPct val="100000"/>
              </a:lnSpc>
              <a:spcBef>
                <a:spcPts val="1665"/>
              </a:spcBef>
            </a:pPr>
            <a:r>
              <a:rPr sz="7000" spc="-5" dirty="0">
                <a:solidFill>
                  <a:srgbClr val="000000"/>
                </a:solidFill>
              </a:rPr>
              <a:t>机械组第四次线下培训</a:t>
            </a:r>
            <a:endParaRPr sz="7000"/>
          </a:p>
          <a:p>
            <a:pPr marR="9525" algn="r">
              <a:lnSpc>
                <a:spcPct val="100000"/>
              </a:lnSpc>
              <a:spcBef>
                <a:spcPts val="700"/>
              </a:spcBef>
            </a:pPr>
            <a:r>
              <a:rPr sz="3150" b="0" spc="-10" dirty="0">
                <a:solidFill>
                  <a:srgbClr val="000000"/>
                </a:solidFill>
                <a:latin typeface="Calibri" panose="020F0502020204030204"/>
                <a:cs typeface="Calibri" panose="020F0502020204030204"/>
              </a:rPr>
              <a:t>——</a:t>
            </a:r>
            <a:r>
              <a:rPr sz="3150" b="0" spc="-15" dirty="0">
                <a:solidFill>
                  <a:srgbClr val="000000"/>
                </a:solidFill>
                <a:latin typeface="微软雅黑" panose="020B0503020204020204" charset="-122"/>
                <a:cs typeface="微软雅黑" panose="020B0503020204020204" charset="-122"/>
              </a:rPr>
              <a:t>轴系设计</a:t>
            </a:r>
            <a:endParaRPr sz="3150">
              <a:latin typeface="微软雅黑" panose="020B0503020204020204" charset="-122"/>
              <a:cs typeface="微软雅黑" panose="020B0503020204020204" charset="-122"/>
            </a:endParaRPr>
          </a:p>
        </p:txBody>
      </p:sp>
      <p:sp>
        <p:nvSpPr>
          <p:cNvPr id="3" name="object 3"/>
          <p:cNvSpPr/>
          <p:nvPr/>
        </p:nvSpPr>
        <p:spPr>
          <a:xfrm>
            <a:off x="2500883" y="4797552"/>
            <a:ext cx="5552440" cy="0"/>
          </a:xfrm>
          <a:custGeom>
            <a:avLst/>
            <a:gdLst/>
            <a:ahLst/>
            <a:cxnLst/>
            <a:rect l="l" t="t" r="r" b="b"/>
            <a:pathLst>
              <a:path w="5552440">
                <a:moveTo>
                  <a:pt x="0" y="0"/>
                </a:moveTo>
                <a:lnTo>
                  <a:pt x="5551932" y="0"/>
                </a:lnTo>
              </a:path>
            </a:pathLst>
          </a:custGeom>
          <a:ln w="10668">
            <a:solidFill>
              <a:srgbClr val="446070"/>
            </a:solidFill>
          </a:ln>
        </p:spPr>
        <p:txBody>
          <a:bodyPr wrap="square" lIns="0" tIns="0" rIns="0" bIns="0" rtlCol="0"/>
          <a:lstStyle/>
          <a:p/>
        </p:txBody>
      </p:sp>
      <p:sp>
        <p:nvSpPr>
          <p:cNvPr id="4" name="object 4"/>
          <p:cNvSpPr/>
          <p:nvPr/>
        </p:nvSpPr>
        <p:spPr>
          <a:xfrm>
            <a:off x="2363724" y="4777739"/>
            <a:ext cx="40005" cy="40005"/>
          </a:xfrm>
          <a:custGeom>
            <a:avLst/>
            <a:gdLst/>
            <a:ahLst/>
            <a:cxnLst/>
            <a:rect l="l" t="t" r="r" b="b"/>
            <a:pathLst>
              <a:path w="40005" h="40004">
                <a:moveTo>
                  <a:pt x="19812" y="39624"/>
                </a:moveTo>
                <a:lnTo>
                  <a:pt x="12215" y="38242"/>
                </a:lnTo>
                <a:lnTo>
                  <a:pt x="5905" y="34290"/>
                </a:lnTo>
                <a:lnTo>
                  <a:pt x="1595" y="28051"/>
                </a:lnTo>
                <a:lnTo>
                  <a:pt x="0" y="19812"/>
                </a:lnTo>
                <a:lnTo>
                  <a:pt x="1595" y="12215"/>
                </a:lnTo>
                <a:lnTo>
                  <a:pt x="5905" y="5905"/>
                </a:lnTo>
                <a:lnTo>
                  <a:pt x="12215" y="1595"/>
                </a:lnTo>
                <a:lnTo>
                  <a:pt x="19812" y="0"/>
                </a:lnTo>
                <a:lnTo>
                  <a:pt x="28051" y="1595"/>
                </a:lnTo>
                <a:lnTo>
                  <a:pt x="34290" y="5905"/>
                </a:lnTo>
                <a:lnTo>
                  <a:pt x="38242" y="12215"/>
                </a:lnTo>
                <a:lnTo>
                  <a:pt x="39624" y="19812"/>
                </a:lnTo>
                <a:lnTo>
                  <a:pt x="38242" y="28051"/>
                </a:lnTo>
                <a:lnTo>
                  <a:pt x="34290" y="34290"/>
                </a:lnTo>
                <a:lnTo>
                  <a:pt x="28051" y="38242"/>
                </a:lnTo>
                <a:lnTo>
                  <a:pt x="19812" y="39624"/>
                </a:lnTo>
                <a:close/>
              </a:path>
            </a:pathLst>
          </a:custGeom>
          <a:solidFill>
            <a:srgbClr val="446070"/>
          </a:solidFill>
        </p:spPr>
        <p:txBody>
          <a:bodyPr wrap="square" lIns="0" tIns="0" rIns="0" bIns="0" rtlCol="0"/>
          <a:lstStyle/>
          <a:p/>
        </p:txBody>
      </p:sp>
      <p:sp>
        <p:nvSpPr>
          <p:cNvPr id="5" name="object 5"/>
          <p:cNvSpPr/>
          <p:nvPr/>
        </p:nvSpPr>
        <p:spPr>
          <a:xfrm>
            <a:off x="8189976" y="4777739"/>
            <a:ext cx="40005" cy="40005"/>
          </a:xfrm>
          <a:custGeom>
            <a:avLst/>
            <a:gdLst/>
            <a:ahLst/>
            <a:cxnLst/>
            <a:rect l="l" t="t" r="r" b="b"/>
            <a:pathLst>
              <a:path w="40004" h="40004">
                <a:moveTo>
                  <a:pt x="19812" y="39624"/>
                </a:moveTo>
                <a:lnTo>
                  <a:pt x="11572" y="38242"/>
                </a:lnTo>
                <a:lnTo>
                  <a:pt x="5334" y="34290"/>
                </a:lnTo>
                <a:lnTo>
                  <a:pt x="1381" y="28051"/>
                </a:lnTo>
                <a:lnTo>
                  <a:pt x="0" y="19812"/>
                </a:lnTo>
                <a:lnTo>
                  <a:pt x="1381" y="12215"/>
                </a:lnTo>
                <a:lnTo>
                  <a:pt x="5334" y="5905"/>
                </a:lnTo>
                <a:lnTo>
                  <a:pt x="11572" y="1595"/>
                </a:lnTo>
                <a:lnTo>
                  <a:pt x="19812" y="0"/>
                </a:lnTo>
                <a:lnTo>
                  <a:pt x="27408" y="1595"/>
                </a:lnTo>
                <a:lnTo>
                  <a:pt x="33718" y="5905"/>
                </a:lnTo>
                <a:lnTo>
                  <a:pt x="38028" y="12215"/>
                </a:lnTo>
                <a:lnTo>
                  <a:pt x="39624" y="19812"/>
                </a:lnTo>
                <a:lnTo>
                  <a:pt x="38028" y="28051"/>
                </a:lnTo>
                <a:lnTo>
                  <a:pt x="33718" y="34290"/>
                </a:lnTo>
                <a:lnTo>
                  <a:pt x="27408" y="38242"/>
                </a:lnTo>
                <a:lnTo>
                  <a:pt x="19812" y="39624"/>
                </a:lnTo>
                <a:close/>
              </a:path>
            </a:pathLst>
          </a:custGeom>
          <a:solidFill>
            <a:srgbClr val="446070"/>
          </a:solidFill>
        </p:spPr>
        <p:txBody>
          <a:bodyPr wrap="square" lIns="0" tIns="0" rIns="0" bIns="0" rtlCol="0"/>
          <a:lstStyle/>
          <a:p/>
        </p:txBody>
      </p:sp>
      <p:sp>
        <p:nvSpPr>
          <p:cNvPr id="6" name="object 6"/>
          <p:cNvSpPr txBox="1"/>
          <p:nvPr/>
        </p:nvSpPr>
        <p:spPr>
          <a:xfrm>
            <a:off x="3221206" y="4917478"/>
            <a:ext cx="4220845" cy="1183640"/>
          </a:xfrm>
          <a:prstGeom prst="rect">
            <a:avLst/>
          </a:prstGeom>
        </p:spPr>
        <p:txBody>
          <a:bodyPr vert="horz" wrap="square" lIns="0" tIns="16510" rIns="0" bIns="0" rtlCol="0">
            <a:spAutoFit/>
          </a:bodyPr>
          <a:lstStyle/>
          <a:p>
            <a:pPr marL="12700">
              <a:lnSpc>
                <a:spcPct val="100000"/>
              </a:lnSpc>
              <a:spcBef>
                <a:spcPts val="130"/>
              </a:spcBef>
            </a:pPr>
            <a:r>
              <a:rPr sz="1550" dirty="0">
                <a:latin typeface="Calibri" panose="020F0502020204030204"/>
                <a:cs typeface="Calibri" panose="020F0502020204030204"/>
              </a:rPr>
              <a:t>The</a:t>
            </a:r>
            <a:r>
              <a:rPr sz="1550" spc="45" dirty="0">
                <a:latin typeface="Calibri" panose="020F0502020204030204"/>
                <a:cs typeface="Calibri" panose="020F0502020204030204"/>
              </a:rPr>
              <a:t> </a:t>
            </a:r>
            <a:r>
              <a:rPr sz="1550" dirty="0">
                <a:latin typeface="Calibri" panose="020F0502020204030204"/>
                <a:cs typeface="Calibri" panose="020F0502020204030204"/>
              </a:rPr>
              <a:t>second</a:t>
            </a:r>
            <a:r>
              <a:rPr sz="1550" spc="30" dirty="0">
                <a:latin typeface="Calibri" panose="020F0502020204030204"/>
                <a:cs typeface="Calibri" panose="020F0502020204030204"/>
              </a:rPr>
              <a:t> </a:t>
            </a:r>
            <a:r>
              <a:rPr sz="1550" dirty="0">
                <a:latin typeface="Calibri" panose="020F0502020204030204"/>
                <a:cs typeface="Calibri" panose="020F0502020204030204"/>
              </a:rPr>
              <a:t>offline</a:t>
            </a:r>
            <a:r>
              <a:rPr sz="1550" spc="45" dirty="0">
                <a:latin typeface="Calibri" panose="020F0502020204030204"/>
                <a:cs typeface="Calibri" panose="020F0502020204030204"/>
              </a:rPr>
              <a:t> </a:t>
            </a:r>
            <a:r>
              <a:rPr sz="1550" dirty="0">
                <a:latin typeface="Calibri" panose="020F0502020204030204"/>
                <a:cs typeface="Calibri" panose="020F0502020204030204"/>
              </a:rPr>
              <a:t>training</a:t>
            </a:r>
            <a:r>
              <a:rPr sz="1550" spc="75" dirty="0">
                <a:latin typeface="Calibri" panose="020F0502020204030204"/>
                <a:cs typeface="Calibri" panose="020F0502020204030204"/>
              </a:rPr>
              <a:t> </a:t>
            </a:r>
            <a:r>
              <a:rPr sz="1550" dirty="0">
                <a:latin typeface="Calibri" panose="020F0502020204030204"/>
                <a:cs typeface="Calibri" panose="020F0502020204030204"/>
              </a:rPr>
              <a:t>of</a:t>
            </a:r>
            <a:r>
              <a:rPr sz="1550" spc="55" dirty="0">
                <a:latin typeface="Calibri" panose="020F0502020204030204"/>
                <a:cs typeface="Calibri" panose="020F0502020204030204"/>
              </a:rPr>
              <a:t> </a:t>
            </a:r>
            <a:r>
              <a:rPr sz="1550" dirty="0">
                <a:latin typeface="Calibri" panose="020F0502020204030204"/>
                <a:cs typeface="Calibri" panose="020F0502020204030204"/>
              </a:rPr>
              <a:t>the</a:t>
            </a:r>
            <a:r>
              <a:rPr sz="1550" spc="60" dirty="0">
                <a:latin typeface="Calibri" panose="020F0502020204030204"/>
                <a:cs typeface="Calibri" panose="020F0502020204030204"/>
              </a:rPr>
              <a:t> </a:t>
            </a:r>
            <a:r>
              <a:rPr sz="1550" dirty="0">
                <a:latin typeface="Calibri" panose="020F0502020204030204"/>
                <a:cs typeface="Calibri" panose="020F0502020204030204"/>
              </a:rPr>
              <a:t>mechanical</a:t>
            </a:r>
            <a:r>
              <a:rPr sz="1550" spc="60" dirty="0">
                <a:latin typeface="Calibri" panose="020F0502020204030204"/>
                <a:cs typeface="Calibri" panose="020F0502020204030204"/>
              </a:rPr>
              <a:t> </a:t>
            </a:r>
            <a:r>
              <a:rPr sz="1550" spc="-10" dirty="0">
                <a:latin typeface="Calibri" panose="020F0502020204030204"/>
                <a:cs typeface="Calibri" panose="020F0502020204030204"/>
              </a:rPr>
              <a:t>group</a:t>
            </a:r>
            <a:endParaRPr sz="1550">
              <a:latin typeface="Calibri" panose="020F0502020204030204"/>
              <a:cs typeface="Calibri" panose="020F0502020204030204"/>
            </a:endParaRPr>
          </a:p>
          <a:p>
            <a:pPr>
              <a:lnSpc>
                <a:spcPct val="100000"/>
              </a:lnSpc>
            </a:pPr>
            <a:endParaRPr sz="1550">
              <a:latin typeface="Calibri" panose="020F0502020204030204"/>
              <a:cs typeface="Calibri" panose="020F0502020204030204"/>
            </a:endParaRPr>
          </a:p>
          <a:p>
            <a:pPr>
              <a:lnSpc>
                <a:spcPct val="100000"/>
              </a:lnSpc>
              <a:spcBef>
                <a:spcPts val="1665"/>
              </a:spcBef>
            </a:pPr>
            <a:endParaRPr sz="1550">
              <a:latin typeface="Calibri" panose="020F0502020204030204"/>
              <a:cs typeface="Calibri" panose="020F0502020204030204"/>
            </a:endParaRPr>
          </a:p>
          <a:p>
            <a:pPr marL="518160">
              <a:lnSpc>
                <a:spcPct val="100000"/>
              </a:lnSpc>
            </a:pPr>
            <a:r>
              <a:rPr sz="1550" dirty="0">
                <a:latin typeface="微软雅黑" panose="020B0503020204020204" charset="-122"/>
                <a:cs typeface="微软雅黑" panose="020B0503020204020204" charset="-122"/>
              </a:rPr>
              <a:t>主办：河北工业大学山海</a:t>
            </a:r>
            <a:r>
              <a:rPr lang="zh-CN" altLang="en-US" sz="1550" dirty="0">
                <a:latin typeface="微软雅黑" panose="020B0503020204020204" charset="-122"/>
                <a:cs typeface="微软雅黑" panose="020B0503020204020204" charset="-122"/>
              </a:rPr>
              <a:t>机甲</a:t>
            </a:r>
            <a:r>
              <a:rPr sz="1550" spc="-25" dirty="0">
                <a:latin typeface="微软雅黑" panose="020B0503020204020204" charset="-122"/>
                <a:cs typeface="微软雅黑" panose="020B0503020204020204" charset="-122"/>
              </a:rPr>
              <a:t>战队</a:t>
            </a:r>
            <a:endParaRPr sz="1600">
              <a:latin typeface="微软雅黑" panose="020B0503020204020204" charset="-122"/>
              <a:cs typeface="微软雅黑" panose="020B0503020204020204" charset="-122"/>
            </a:endParaRPr>
          </a:p>
        </p:txBody>
      </p:sp>
      <p:pic>
        <p:nvPicPr>
          <p:cNvPr id="7" name="object 7"/>
          <p:cNvPicPr/>
          <p:nvPr/>
        </p:nvPicPr>
        <p:blipFill>
          <a:blip r:embed="rId1" cstate="print"/>
          <a:stretch>
            <a:fillRect/>
          </a:stretch>
        </p:blipFill>
        <p:spPr>
          <a:xfrm>
            <a:off x="8683752" y="4610100"/>
            <a:ext cx="2008632" cy="2176271"/>
          </a:xfrm>
          <a:prstGeom prst="rect">
            <a:avLst/>
          </a:prstGeom>
        </p:spPr>
      </p:pic>
      <p:pic>
        <p:nvPicPr>
          <p:cNvPr id="8" name="object 8"/>
          <p:cNvPicPr/>
          <p:nvPr/>
        </p:nvPicPr>
        <p:blipFill>
          <a:blip r:embed="rId2" cstate="print"/>
          <a:stretch>
            <a:fillRect/>
          </a:stretch>
        </p:blipFill>
        <p:spPr>
          <a:xfrm>
            <a:off x="0" y="772668"/>
            <a:ext cx="10692384" cy="107594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973645" y="3783838"/>
            <a:ext cx="823594" cy="966469"/>
          </a:xfrm>
          <a:custGeom>
            <a:avLst/>
            <a:gdLst/>
            <a:ahLst/>
            <a:cxnLst/>
            <a:rect l="l" t="t" r="r" b="b"/>
            <a:pathLst>
              <a:path w="823594" h="966470">
                <a:moveTo>
                  <a:pt x="823239" y="0"/>
                </a:moveTo>
                <a:lnTo>
                  <a:pt x="0" y="0"/>
                </a:lnTo>
                <a:lnTo>
                  <a:pt x="0" y="138430"/>
                </a:lnTo>
                <a:lnTo>
                  <a:pt x="0" y="252730"/>
                </a:lnTo>
                <a:lnTo>
                  <a:pt x="0" y="966470"/>
                </a:lnTo>
                <a:lnTo>
                  <a:pt x="148399" y="966470"/>
                </a:lnTo>
                <a:lnTo>
                  <a:pt x="148399" y="895350"/>
                </a:lnTo>
                <a:lnTo>
                  <a:pt x="674941" y="895350"/>
                </a:lnTo>
                <a:lnTo>
                  <a:pt x="674941" y="966470"/>
                </a:lnTo>
                <a:lnTo>
                  <a:pt x="823239" y="966470"/>
                </a:lnTo>
                <a:lnTo>
                  <a:pt x="823239" y="138938"/>
                </a:lnTo>
                <a:lnTo>
                  <a:pt x="674941" y="138938"/>
                </a:lnTo>
                <a:lnTo>
                  <a:pt x="674941" y="755650"/>
                </a:lnTo>
                <a:lnTo>
                  <a:pt x="148399" y="755650"/>
                </a:lnTo>
                <a:lnTo>
                  <a:pt x="148399" y="636270"/>
                </a:lnTo>
                <a:lnTo>
                  <a:pt x="674941" y="636270"/>
                </a:lnTo>
                <a:lnTo>
                  <a:pt x="674941" y="501650"/>
                </a:lnTo>
                <a:lnTo>
                  <a:pt x="148399" y="501650"/>
                </a:lnTo>
                <a:lnTo>
                  <a:pt x="148399" y="387350"/>
                </a:lnTo>
                <a:lnTo>
                  <a:pt x="674941" y="387350"/>
                </a:lnTo>
                <a:lnTo>
                  <a:pt x="674941" y="252730"/>
                </a:lnTo>
                <a:lnTo>
                  <a:pt x="148399" y="252730"/>
                </a:lnTo>
                <a:lnTo>
                  <a:pt x="148399" y="138430"/>
                </a:lnTo>
                <a:lnTo>
                  <a:pt x="823239" y="138430"/>
                </a:lnTo>
                <a:lnTo>
                  <a:pt x="823239" y="0"/>
                </a:lnTo>
                <a:close/>
              </a:path>
            </a:pathLst>
          </a:custGeom>
          <a:solidFill>
            <a:srgbClr val="26599C"/>
          </a:solidFill>
        </p:spPr>
        <p:txBody>
          <a:bodyPr wrap="square" lIns="0" tIns="0" rIns="0" bIns="0" rtlCol="0"/>
          <a:lstStyle/>
          <a:p/>
        </p:txBody>
      </p:sp>
      <p:sp>
        <p:nvSpPr>
          <p:cNvPr id="3" name="object 3"/>
          <p:cNvSpPr/>
          <p:nvPr/>
        </p:nvSpPr>
        <p:spPr>
          <a:xfrm>
            <a:off x="2252793" y="3762755"/>
            <a:ext cx="1038860" cy="992505"/>
          </a:xfrm>
          <a:custGeom>
            <a:avLst/>
            <a:gdLst/>
            <a:ahLst/>
            <a:cxnLst/>
            <a:rect l="l" t="t" r="r" b="b"/>
            <a:pathLst>
              <a:path w="1038860" h="992504">
                <a:moveTo>
                  <a:pt x="891314" y="377952"/>
                </a:moveTo>
                <a:lnTo>
                  <a:pt x="748153" y="377952"/>
                </a:lnTo>
                <a:lnTo>
                  <a:pt x="748153" y="306324"/>
                </a:lnTo>
                <a:lnTo>
                  <a:pt x="127504" y="306324"/>
                </a:lnTo>
                <a:lnTo>
                  <a:pt x="127504" y="192024"/>
                </a:lnTo>
                <a:lnTo>
                  <a:pt x="748153" y="192024"/>
                </a:lnTo>
                <a:lnTo>
                  <a:pt x="748153" y="123444"/>
                </a:lnTo>
                <a:lnTo>
                  <a:pt x="90928" y="123444"/>
                </a:lnTo>
                <a:lnTo>
                  <a:pt x="90928" y="0"/>
                </a:lnTo>
                <a:lnTo>
                  <a:pt x="891314" y="0"/>
                </a:lnTo>
                <a:lnTo>
                  <a:pt x="891314" y="377952"/>
                </a:lnTo>
                <a:close/>
              </a:path>
              <a:path w="1038860" h="992504">
                <a:moveTo>
                  <a:pt x="1036475" y="501396"/>
                </a:moveTo>
                <a:lnTo>
                  <a:pt x="4250" y="501396"/>
                </a:lnTo>
                <a:lnTo>
                  <a:pt x="4250" y="377952"/>
                </a:lnTo>
                <a:lnTo>
                  <a:pt x="1036475" y="377952"/>
                </a:lnTo>
                <a:lnTo>
                  <a:pt x="1036475" y="501396"/>
                </a:lnTo>
                <a:close/>
              </a:path>
              <a:path w="1038860" h="992504">
                <a:moveTo>
                  <a:pt x="69020" y="947928"/>
                </a:moveTo>
                <a:lnTo>
                  <a:pt x="0" y="809505"/>
                </a:lnTo>
                <a:lnTo>
                  <a:pt x="346" y="809505"/>
                </a:lnTo>
                <a:lnTo>
                  <a:pt x="49724" y="788869"/>
                </a:lnTo>
                <a:lnTo>
                  <a:pt x="98370" y="767986"/>
                </a:lnTo>
                <a:lnTo>
                  <a:pt x="146004" y="746984"/>
                </a:lnTo>
                <a:lnTo>
                  <a:pt x="192638" y="725872"/>
                </a:lnTo>
                <a:lnTo>
                  <a:pt x="238280" y="704659"/>
                </a:lnTo>
                <a:lnTo>
                  <a:pt x="196258" y="666101"/>
                </a:lnTo>
                <a:lnTo>
                  <a:pt x="155781" y="630721"/>
                </a:lnTo>
                <a:lnTo>
                  <a:pt x="116858" y="598521"/>
                </a:lnTo>
                <a:lnTo>
                  <a:pt x="79498" y="569499"/>
                </a:lnTo>
                <a:lnTo>
                  <a:pt x="139029" y="501396"/>
                </a:lnTo>
                <a:lnTo>
                  <a:pt x="193322" y="501396"/>
                </a:lnTo>
                <a:lnTo>
                  <a:pt x="225912" y="525574"/>
                </a:lnTo>
                <a:lnTo>
                  <a:pt x="259949" y="551521"/>
                </a:lnTo>
                <a:lnTo>
                  <a:pt x="295415" y="579218"/>
                </a:lnTo>
                <a:lnTo>
                  <a:pt x="332291" y="608647"/>
                </a:lnTo>
                <a:lnTo>
                  <a:pt x="246662" y="700468"/>
                </a:lnTo>
                <a:lnTo>
                  <a:pt x="822459" y="700468"/>
                </a:lnTo>
                <a:lnTo>
                  <a:pt x="809059" y="709803"/>
                </a:lnTo>
                <a:lnTo>
                  <a:pt x="593467" y="709803"/>
                </a:lnTo>
                <a:lnTo>
                  <a:pt x="593467" y="741807"/>
                </a:lnTo>
                <a:lnTo>
                  <a:pt x="450401" y="741807"/>
                </a:lnTo>
                <a:lnTo>
                  <a:pt x="258499" y="843048"/>
                </a:lnTo>
                <a:lnTo>
                  <a:pt x="175983" y="887885"/>
                </a:lnTo>
                <a:lnTo>
                  <a:pt x="102432" y="928874"/>
                </a:lnTo>
                <a:lnTo>
                  <a:pt x="69020" y="947928"/>
                </a:lnTo>
                <a:close/>
              </a:path>
              <a:path w="1038860" h="992504">
                <a:moveTo>
                  <a:pt x="822459" y="700468"/>
                </a:moveTo>
                <a:lnTo>
                  <a:pt x="246662" y="700468"/>
                </a:lnTo>
                <a:lnTo>
                  <a:pt x="299793" y="675449"/>
                </a:lnTo>
                <a:lnTo>
                  <a:pt x="351460" y="650116"/>
                </a:lnTo>
                <a:lnTo>
                  <a:pt x="401663" y="624481"/>
                </a:lnTo>
                <a:lnTo>
                  <a:pt x="450401" y="598521"/>
                </a:lnTo>
                <a:lnTo>
                  <a:pt x="450401" y="501396"/>
                </a:lnTo>
                <a:lnTo>
                  <a:pt x="593467" y="501396"/>
                </a:lnTo>
                <a:lnTo>
                  <a:pt x="593467" y="542163"/>
                </a:lnTo>
                <a:lnTo>
                  <a:pt x="614056" y="569702"/>
                </a:lnTo>
                <a:lnTo>
                  <a:pt x="636091" y="595741"/>
                </a:lnTo>
                <a:lnTo>
                  <a:pt x="659555" y="620279"/>
                </a:lnTo>
                <a:lnTo>
                  <a:pt x="684431" y="643318"/>
                </a:lnTo>
                <a:lnTo>
                  <a:pt x="906198" y="643318"/>
                </a:lnTo>
                <a:lnTo>
                  <a:pt x="877979" y="662320"/>
                </a:lnTo>
                <a:lnTo>
                  <a:pt x="834402" y="692149"/>
                </a:lnTo>
                <a:lnTo>
                  <a:pt x="822459" y="700468"/>
                </a:lnTo>
                <a:close/>
              </a:path>
              <a:path w="1038860" h="992504">
                <a:moveTo>
                  <a:pt x="906198" y="643318"/>
                </a:moveTo>
                <a:lnTo>
                  <a:pt x="684431" y="643318"/>
                </a:lnTo>
                <a:lnTo>
                  <a:pt x="728293" y="612155"/>
                </a:lnTo>
                <a:lnTo>
                  <a:pt x="772156" y="578107"/>
                </a:lnTo>
                <a:lnTo>
                  <a:pt x="816018" y="541185"/>
                </a:lnTo>
                <a:lnTo>
                  <a:pt x="859881" y="501396"/>
                </a:lnTo>
                <a:lnTo>
                  <a:pt x="871406" y="501396"/>
                </a:lnTo>
                <a:lnTo>
                  <a:pt x="968561" y="601789"/>
                </a:lnTo>
                <a:lnTo>
                  <a:pt x="922698" y="632207"/>
                </a:lnTo>
                <a:lnTo>
                  <a:pt x="906198" y="643318"/>
                </a:lnTo>
                <a:close/>
              </a:path>
              <a:path w="1038860" h="992504">
                <a:moveTo>
                  <a:pt x="945606" y="949452"/>
                </a:moveTo>
                <a:lnTo>
                  <a:pt x="899773" y="931622"/>
                </a:lnTo>
                <a:lnTo>
                  <a:pt x="855618" y="911596"/>
                </a:lnTo>
                <a:lnTo>
                  <a:pt x="813142" y="889373"/>
                </a:lnTo>
                <a:lnTo>
                  <a:pt x="772341" y="864952"/>
                </a:lnTo>
                <a:lnTo>
                  <a:pt x="733218" y="838329"/>
                </a:lnTo>
                <a:lnTo>
                  <a:pt x="695769" y="809505"/>
                </a:lnTo>
                <a:lnTo>
                  <a:pt x="659995" y="778476"/>
                </a:lnTo>
                <a:lnTo>
                  <a:pt x="625894" y="745243"/>
                </a:lnTo>
                <a:lnTo>
                  <a:pt x="593467" y="709803"/>
                </a:lnTo>
                <a:lnTo>
                  <a:pt x="809059" y="709803"/>
                </a:lnTo>
                <a:lnTo>
                  <a:pt x="791968" y="721709"/>
                </a:lnTo>
                <a:lnTo>
                  <a:pt x="835939" y="745702"/>
                </a:lnTo>
                <a:lnTo>
                  <a:pt x="882585" y="767395"/>
                </a:lnTo>
                <a:lnTo>
                  <a:pt x="931905" y="786798"/>
                </a:lnTo>
                <a:lnTo>
                  <a:pt x="983900" y="803919"/>
                </a:lnTo>
                <a:lnTo>
                  <a:pt x="1038570" y="818769"/>
                </a:lnTo>
                <a:lnTo>
                  <a:pt x="1009284" y="858329"/>
                </a:lnTo>
                <a:lnTo>
                  <a:pt x="984016" y="893290"/>
                </a:lnTo>
                <a:lnTo>
                  <a:pt x="962784" y="923661"/>
                </a:lnTo>
                <a:lnTo>
                  <a:pt x="945606" y="949452"/>
                </a:lnTo>
                <a:close/>
              </a:path>
              <a:path w="1038860" h="992504">
                <a:moveTo>
                  <a:pt x="589852" y="864250"/>
                </a:moveTo>
                <a:lnTo>
                  <a:pt x="365778" y="864250"/>
                </a:lnTo>
                <a:lnTo>
                  <a:pt x="387727" y="864108"/>
                </a:lnTo>
                <a:lnTo>
                  <a:pt x="415160" y="859870"/>
                </a:lnTo>
                <a:lnTo>
                  <a:pt x="434745" y="847141"/>
                </a:lnTo>
                <a:lnTo>
                  <a:pt x="446489" y="825893"/>
                </a:lnTo>
                <a:lnTo>
                  <a:pt x="450401" y="796099"/>
                </a:lnTo>
                <a:lnTo>
                  <a:pt x="450401" y="741807"/>
                </a:lnTo>
                <a:lnTo>
                  <a:pt x="593467" y="741807"/>
                </a:lnTo>
                <a:lnTo>
                  <a:pt x="593356" y="825893"/>
                </a:lnTo>
                <a:lnTo>
                  <a:pt x="589917" y="863536"/>
                </a:lnTo>
                <a:lnTo>
                  <a:pt x="589852" y="864250"/>
                </a:lnTo>
                <a:close/>
              </a:path>
              <a:path w="1038860" h="992504">
                <a:moveTo>
                  <a:pt x="306193" y="992124"/>
                </a:moveTo>
                <a:lnTo>
                  <a:pt x="298350" y="954744"/>
                </a:lnTo>
                <a:lnTo>
                  <a:pt x="282699" y="888450"/>
                </a:lnTo>
                <a:lnTo>
                  <a:pt x="274856" y="859536"/>
                </a:lnTo>
                <a:lnTo>
                  <a:pt x="309342" y="861964"/>
                </a:lnTo>
                <a:lnTo>
                  <a:pt x="339649" y="863536"/>
                </a:lnTo>
                <a:lnTo>
                  <a:pt x="365778" y="864250"/>
                </a:lnTo>
                <a:lnTo>
                  <a:pt x="589852" y="864250"/>
                </a:lnTo>
                <a:lnTo>
                  <a:pt x="588243" y="881859"/>
                </a:lnTo>
                <a:lnTo>
                  <a:pt x="572573" y="926887"/>
                </a:lnTo>
                <a:lnTo>
                  <a:pt x="546455" y="959763"/>
                </a:lnTo>
                <a:lnTo>
                  <a:pt x="509891" y="980491"/>
                </a:lnTo>
                <a:lnTo>
                  <a:pt x="462879" y="989076"/>
                </a:lnTo>
                <a:lnTo>
                  <a:pt x="351249" y="991728"/>
                </a:lnTo>
                <a:lnTo>
                  <a:pt x="306193" y="992124"/>
                </a:lnTo>
                <a:close/>
              </a:path>
            </a:pathLst>
          </a:custGeom>
          <a:solidFill>
            <a:srgbClr val="26599C"/>
          </a:solidFill>
        </p:spPr>
        <p:txBody>
          <a:bodyPr wrap="square" lIns="0" tIns="0" rIns="0" bIns="0" rtlCol="0"/>
          <a:lstStyle/>
          <a:p/>
        </p:txBody>
      </p:sp>
      <p:pic>
        <p:nvPicPr>
          <p:cNvPr id="4" name="object 4"/>
          <p:cNvPicPr/>
          <p:nvPr/>
        </p:nvPicPr>
        <p:blipFill>
          <a:blip r:embed="rId1" cstate="print"/>
          <a:stretch>
            <a:fillRect/>
          </a:stretch>
        </p:blipFill>
        <p:spPr>
          <a:xfrm>
            <a:off x="8683752" y="4610100"/>
            <a:ext cx="2008632" cy="2176271"/>
          </a:xfrm>
          <a:prstGeom prst="rect">
            <a:avLst/>
          </a:prstGeom>
        </p:spPr>
      </p:pic>
      <p:grpSp>
        <p:nvGrpSpPr>
          <p:cNvPr id="5" name="object 5"/>
          <p:cNvGrpSpPr/>
          <p:nvPr/>
        </p:nvGrpSpPr>
        <p:grpSpPr>
          <a:xfrm>
            <a:off x="3927347" y="2499360"/>
            <a:ext cx="32384" cy="3624579"/>
            <a:chOff x="3927347" y="2499360"/>
            <a:chExt cx="32384" cy="3624579"/>
          </a:xfrm>
        </p:grpSpPr>
        <p:sp>
          <p:nvSpPr>
            <p:cNvPr id="6" name="object 6"/>
            <p:cNvSpPr/>
            <p:nvPr/>
          </p:nvSpPr>
          <p:spPr>
            <a:xfrm>
              <a:off x="3943349" y="2499360"/>
              <a:ext cx="0" cy="3575685"/>
            </a:xfrm>
            <a:custGeom>
              <a:avLst/>
              <a:gdLst/>
              <a:ahLst/>
              <a:cxnLst/>
              <a:rect l="l" t="t" r="r" b="b"/>
              <a:pathLst>
                <a:path h="3575685">
                  <a:moveTo>
                    <a:pt x="0" y="0"/>
                  </a:moveTo>
                  <a:lnTo>
                    <a:pt x="0" y="3575304"/>
                  </a:lnTo>
                </a:path>
              </a:pathLst>
            </a:custGeom>
            <a:ln w="32004">
              <a:solidFill>
                <a:srgbClr val="26599C"/>
              </a:solidFill>
              <a:prstDash val="sysDot"/>
            </a:ln>
          </p:spPr>
          <p:txBody>
            <a:bodyPr wrap="square" lIns="0" tIns="0" rIns="0" bIns="0" rtlCol="0"/>
            <a:lstStyle/>
            <a:p/>
          </p:txBody>
        </p:sp>
        <p:sp>
          <p:nvSpPr>
            <p:cNvPr id="7" name="object 7"/>
            <p:cNvSpPr/>
            <p:nvPr/>
          </p:nvSpPr>
          <p:spPr>
            <a:xfrm>
              <a:off x="3927347" y="6108192"/>
              <a:ext cx="32384" cy="15240"/>
            </a:xfrm>
            <a:custGeom>
              <a:avLst/>
              <a:gdLst/>
              <a:ahLst/>
              <a:cxnLst/>
              <a:rect l="l" t="t" r="r" b="b"/>
              <a:pathLst>
                <a:path w="32385" h="15239">
                  <a:moveTo>
                    <a:pt x="32004" y="15239"/>
                  </a:moveTo>
                  <a:lnTo>
                    <a:pt x="0" y="15239"/>
                  </a:lnTo>
                  <a:lnTo>
                    <a:pt x="0" y="0"/>
                  </a:lnTo>
                  <a:lnTo>
                    <a:pt x="32004" y="0"/>
                  </a:lnTo>
                  <a:lnTo>
                    <a:pt x="32004" y="15239"/>
                  </a:lnTo>
                  <a:close/>
                </a:path>
              </a:pathLst>
            </a:custGeom>
            <a:solidFill>
              <a:srgbClr val="26599C"/>
            </a:solidFill>
          </p:spPr>
          <p:txBody>
            <a:bodyPr wrap="square" lIns="0" tIns="0" rIns="0" bIns="0" rtlCol="0"/>
            <a:lstStyle/>
            <a:p/>
          </p:txBody>
        </p:sp>
      </p:grpSp>
      <p:sp>
        <p:nvSpPr>
          <p:cNvPr id="8" name="object 8"/>
          <p:cNvSpPr txBox="1"/>
          <p:nvPr/>
        </p:nvSpPr>
        <p:spPr>
          <a:xfrm>
            <a:off x="4374833" y="2948366"/>
            <a:ext cx="2486660" cy="2764155"/>
          </a:xfrm>
          <a:prstGeom prst="rect">
            <a:avLst/>
          </a:prstGeom>
        </p:spPr>
        <p:txBody>
          <a:bodyPr vert="horz" wrap="square" lIns="0" tIns="13335" rIns="0" bIns="0" rtlCol="0">
            <a:spAutoFit/>
          </a:bodyPr>
          <a:lstStyle/>
          <a:p>
            <a:pPr marL="332105" indent="-321945">
              <a:lnSpc>
                <a:spcPct val="100000"/>
              </a:lnSpc>
              <a:spcBef>
                <a:spcPts val="105"/>
              </a:spcBef>
              <a:buSzPct val="96000"/>
              <a:buAutoNum type="arabicPeriod"/>
              <a:tabLst>
                <a:tab pos="332105" algn="l"/>
              </a:tabLst>
            </a:pPr>
            <a:r>
              <a:rPr sz="2800" b="1" spc="-10" dirty="0">
                <a:solidFill>
                  <a:srgbClr val="26599C"/>
                </a:solidFill>
                <a:latin typeface="微软雅黑" panose="020B0503020204020204" charset="-122"/>
                <a:cs typeface="微软雅黑" panose="020B0503020204020204" charset="-122"/>
              </a:rPr>
              <a:t>轴的相关概念</a:t>
            </a:r>
            <a:endParaRPr sz="2800">
              <a:latin typeface="微软雅黑" panose="020B0503020204020204" charset="-122"/>
              <a:cs typeface="微软雅黑" panose="020B0503020204020204" charset="-122"/>
            </a:endParaRPr>
          </a:p>
          <a:p>
            <a:pPr marL="332105" indent="-321945">
              <a:lnSpc>
                <a:spcPct val="100000"/>
              </a:lnSpc>
              <a:spcBef>
                <a:spcPts val="2665"/>
              </a:spcBef>
              <a:buSzPct val="96000"/>
              <a:buAutoNum type="arabicPeriod"/>
              <a:tabLst>
                <a:tab pos="332105" algn="l"/>
              </a:tabLst>
            </a:pPr>
            <a:r>
              <a:rPr sz="2800" b="1" spc="-25" dirty="0">
                <a:solidFill>
                  <a:srgbClr val="26599C"/>
                </a:solidFill>
                <a:latin typeface="微软雅黑" panose="020B0503020204020204" charset="-122"/>
                <a:cs typeface="微软雅黑" panose="020B0503020204020204" charset="-122"/>
              </a:rPr>
              <a:t>轴承</a:t>
            </a:r>
            <a:endParaRPr sz="2800">
              <a:latin typeface="微软雅黑" panose="020B0503020204020204" charset="-122"/>
              <a:cs typeface="微软雅黑" panose="020B0503020204020204" charset="-122"/>
            </a:endParaRPr>
          </a:p>
          <a:p>
            <a:pPr marL="332105" indent="-321945">
              <a:lnSpc>
                <a:spcPct val="100000"/>
              </a:lnSpc>
              <a:spcBef>
                <a:spcPts val="2725"/>
              </a:spcBef>
              <a:buSzPct val="96000"/>
              <a:buAutoNum type="arabicPeriod"/>
              <a:tabLst>
                <a:tab pos="332105" algn="l"/>
              </a:tabLst>
            </a:pPr>
            <a:r>
              <a:rPr sz="2800" b="1" spc="-10" dirty="0">
                <a:solidFill>
                  <a:srgbClr val="26599C"/>
                </a:solidFill>
                <a:latin typeface="微软雅黑" panose="020B0503020204020204" charset="-122"/>
                <a:cs typeface="微软雅黑" panose="020B0503020204020204" charset="-122"/>
              </a:rPr>
              <a:t>轴系固定件</a:t>
            </a:r>
            <a:endParaRPr sz="2800">
              <a:latin typeface="微软雅黑" panose="020B0503020204020204" charset="-122"/>
              <a:cs typeface="微软雅黑" panose="020B0503020204020204" charset="-122"/>
            </a:endParaRPr>
          </a:p>
          <a:p>
            <a:pPr marL="332105" indent="-321945">
              <a:lnSpc>
                <a:spcPct val="100000"/>
              </a:lnSpc>
              <a:spcBef>
                <a:spcPts val="2725"/>
              </a:spcBef>
              <a:buSzPct val="96000"/>
              <a:buAutoNum type="arabicPeriod"/>
              <a:tabLst>
                <a:tab pos="332105" algn="l"/>
              </a:tabLst>
            </a:pPr>
            <a:r>
              <a:rPr sz="2800" b="1" spc="-10" dirty="0">
                <a:solidFill>
                  <a:srgbClr val="26599C"/>
                </a:solidFill>
                <a:latin typeface="微软雅黑" panose="020B0503020204020204" charset="-122"/>
                <a:cs typeface="微软雅黑" panose="020B0503020204020204" charset="-122"/>
              </a:rPr>
              <a:t>轴系设计要点</a:t>
            </a:r>
            <a:endParaRPr sz="2800">
              <a:latin typeface="微软雅黑" panose="020B0503020204020204" charset="-122"/>
              <a:cs typeface="微软雅黑" panose="020B0503020204020204" charset="-122"/>
            </a:endParaRPr>
          </a:p>
        </p:txBody>
      </p:sp>
      <p:pic>
        <p:nvPicPr>
          <p:cNvPr id="9" name="object 9"/>
          <p:cNvPicPr/>
          <p:nvPr/>
        </p:nvPicPr>
        <p:blipFill>
          <a:blip r:embed="rId2" cstate="print"/>
          <a:stretch>
            <a:fillRect/>
          </a:stretch>
        </p:blipFill>
        <p:spPr>
          <a:xfrm>
            <a:off x="0" y="772668"/>
            <a:ext cx="10692384" cy="107137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330670" y="2279444"/>
            <a:ext cx="2029460" cy="506730"/>
          </a:xfrm>
          <a:prstGeom prst="rect">
            <a:avLst/>
          </a:prstGeom>
        </p:spPr>
        <p:txBody>
          <a:bodyPr vert="horz" wrap="square" lIns="0" tIns="13335" rIns="0" bIns="0" rtlCol="0">
            <a:spAutoFit/>
          </a:bodyPr>
          <a:lstStyle/>
          <a:p>
            <a:pPr marL="12700">
              <a:lnSpc>
                <a:spcPct val="100000"/>
              </a:lnSpc>
              <a:spcBef>
                <a:spcPts val="105"/>
              </a:spcBef>
            </a:pPr>
            <a:r>
              <a:rPr sz="3150" b="1" spc="-10" dirty="0">
                <a:latin typeface="微软雅黑" panose="020B0503020204020204" charset="-122"/>
                <a:cs typeface="微软雅黑" panose="020B0503020204020204" charset="-122"/>
              </a:rPr>
              <a:t>什么是轴？</a:t>
            </a:r>
            <a:endParaRPr sz="3150">
              <a:latin typeface="微软雅黑" panose="020B0503020204020204" charset="-122"/>
              <a:cs typeface="微软雅黑" panose="020B0503020204020204" charset="-122"/>
            </a:endParaRPr>
          </a:p>
        </p:txBody>
      </p:sp>
      <p:pic>
        <p:nvPicPr>
          <p:cNvPr id="3" name="object 3"/>
          <p:cNvPicPr/>
          <p:nvPr/>
        </p:nvPicPr>
        <p:blipFill>
          <a:blip r:embed="rId1" cstate="print"/>
          <a:stretch>
            <a:fillRect/>
          </a:stretch>
        </p:blipFill>
        <p:spPr>
          <a:xfrm>
            <a:off x="0" y="772668"/>
            <a:ext cx="10692384" cy="1075943"/>
          </a:xfrm>
          <a:prstGeom prst="rect">
            <a:avLst/>
          </a:prstGeom>
        </p:spPr>
      </p:pic>
      <p:pic>
        <p:nvPicPr>
          <p:cNvPr id="4" name="object 4"/>
          <p:cNvPicPr/>
          <p:nvPr/>
        </p:nvPicPr>
        <p:blipFill>
          <a:blip r:embed="rId2" cstate="print"/>
          <a:stretch>
            <a:fillRect/>
          </a:stretch>
        </p:blipFill>
        <p:spPr>
          <a:xfrm>
            <a:off x="318515" y="3718559"/>
            <a:ext cx="3090672" cy="2865119"/>
          </a:xfrm>
          <a:prstGeom prst="rect">
            <a:avLst/>
          </a:prstGeom>
        </p:spPr>
      </p:pic>
      <p:pic>
        <p:nvPicPr>
          <p:cNvPr id="5" name="object 5"/>
          <p:cNvPicPr/>
          <p:nvPr/>
        </p:nvPicPr>
        <p:blipFill>
          <a:blip r:embed="rId3" cstate="print"/>
          <a:stretch>
            <a:fillRect/>
          </a:stretch>
        </p:blipFill>
        <p:spPr>
          <a:xfrm>
            <a:off x="3747515" y="3803903"/>
            <a:ext cx="3197351" cy="2665475"/>
          </a:xfrm>
          <a:prstGeom prst="rect">
            <a:avLst/>
          </a:prstGeom>
        </p:spPr>
      </p:pic>
      <p:pic>
        <p:nvPicPr>
          <p:cNvPr id="6" name="object 6"/>
          <p:cNvPicPr/>
          <p:nvPr/>
        </p:nvPicPr>
        <p:blipFill>
          <a:blip r:embed="rId4" cstate="print"/>
          <a:stretch>
            <a:fillRect/>
          </a:stretch>
        </p:blipFill>
        <p:spPr>
          <a:xfrm>
            <a:off x="7283196" y="3803904"/>
            <a:ext cx="3057143" cy="2679191"/>
          </a:xfrm>
          <a:prstGeom prst="rect">
            <a:avLst/>
          </a:prstGeom>
        </p:spPr>
      </p:pic>
      <p:sp>
        <p:nvSpPr>
          <p:cNvPr id="7" name="object 7"/>
          <p:cNvSpPr txBox="1"/>
          <p:nvPr/>
        </p:nvSpPr>
        <p:spPr>
          <a:xfrm>
            <a:off x="1253732" y="3020039"/>
            <a:ext cx="7647940" cy="941705"/>
          </a:xfrm>
          <a:prstGeom prst="rect">
            <a:avLst/>
          </a:prstGeom>
        </p:spPr>
        <p:txBody>
          <a:bodyPr vert="horz" wrap="square" lIns="0" tIns="15240" rIns="0" bIns="0" rtlCol="0">
            <a:spAutoFit/>
          </a:bodyPr>
          <a:lstStyle/>
          <a:p>
            <a:pPr marL="12700" marR="5080">
              <a:lnSpc>
                <a:spcPct val="101000"/>
              </a:lnSpc>
              <a:spcBef>
                <a:spcPts val="120"/>
              </a:spcBef>
            </a:pPr>
            <a:r>
              <a:rPr sz="1550" spc="-5" dirty="0">
                <a:latin typeface="微软雅黑" panose="020B0503020204020204" charset="-122"/>
                <a:cs typeface="微软雅黑" panose="020B0503020204020204" charset="-122"/>
              </a:rPr>
              <a:t>轴是穿在轴承中间或车轮中间或齿轮中间的圆柱形物件，但也有少部分是方型的。轴是支承转动零件并与之一起回转以传递运动、扭矩或弯矩的机械零件。</a:t>
            </a:r>
            <a:endParaRPr sz="1550">
              <a:latin typeface="微软雅黑" panose="020B0503020204020204" charset="-122"/>
              <a:cs typeface="微软雅黑" panose="020B0503020204020204" charset="-122"/>
            </a:endParaRPr>
          </a:p>
          <a:p>
            <a:pPr marL="537210" algn="ctr">
              <a:lnSpc>
                <a:spcPct val="100000"/>
              </a:lnSpc>
              <a:spcBef>
                <a:spcPts val="925"/>
              </a:spcBef>
            </a:pPr>
            <a:r>
              <a:rPr sz="2100" b="1" dirty="0">
                <a:solidFill>
                  <a:srgbClr val="ED822F"/>
                </a:solidFill>
                <a:latin typeface="微软雅黑" panose="020B0503020204020204" charset="-122"/>
                <a:cs typeface="微软雅黑" panose="020B0503020204020204" charset="-122"/>
              </a:rPr>
              <a:t>轴</a:t>
            </a:r>
            <a:r>
              <a:rPr sz="2100" b="1" spc="-25" dirty="0">
                <a:solidFill>
                  <a:srgbClr val="ED822F"/>
                </a:solidFill>
                <a:latin typeface="Calibri" panose="020F0502020204030204"/>
                <a:cs typeface="Calibri" panose="020F0502020204030204"/>
              </a:rPr>
              <a:t>≠</a:t>
            </a:r>
            <a:r>
              <a:rPr sz="2100" b="1" spc="-25" dirty="0">
                <a:solidFill>
                  <a:srgbClr val="ED822F"/>
                </a:solidFill>
                <a:latin typeface="微软雅黑" panose="020B0503020204020204" charset="-122"/>
                <a:cs typeface="微软雅黑" panose="020B0503020204020204" charset="-122"/>
              </a:rPr>
              <a:t>光杆</a:t>
            </a:r>
            <a:endParaRPr sz="2100">
              <a:latin typeface="微软雅黑" panose="020B0503020204020204" charset="-122"/>
              <a:cs typeface="微软雅黑" panose="020B0503020204020204" charset="-122"/>
            </a:endParaRPr>
          </a:p>
        </p:txBody>
      </p:sp>
      <p:sp>
        <p:nvSpPr>
          <p:cNvPr id="8" name="object 8"/>
          <p:cNvSpPr txBox="1">
            <a:spLocks noGrp="1"/>
          </p:cNvSpPr>
          <p:nvPr>
            <p:ph type="title"/>
          </p:nvPr>
        </p:nvSpPr>
        <p:spPr>
          <a:xfrm>
            <a:off x="508575" y="2014170"/>
            <a:ext cx="3096260" cy="559435"/>
          </a:xfrm>
          <a:prstGeom prst="rect">
            <a:avLst/>
          </a:prstGeom>
        </p:spPr>
        <p:txBody>
          <a:bodyPr vert="horz" wrap="square" lIns="0" tIns="12700" rIns="0" bIns="0" rtlCol="0">
            <a:spAutoFit/>
          </a:bodyPr>
          <a:lstStyle/>
          <a:p>
            <a:pPr marL="12700">
              <a:lnSpc>
                <a:spcPct val="100000"/>
              </a:lnSpc>
              <a:spcBef>
                <a:spcPts val="100"/>
              </a:spcBef>
            </a:pPr>
            <a:r>
              <a:rPr sz="3500" spc="-25" dirty="0"/>
              <a:t>1</a:t>
            </a:r>
            <a:r>
              <a:rPr sz="3500" spc="-20" dirty="0"/>
              <a:t>.轴的相关概念</a:t>
            </a:r>
            <a:endParaRPr sz="35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57799" y="2058488"/>
            <a:ext cx="2430780" cy="506730"/>
          </a:xfrm>
          <a:prstGeom prst="rect">
            <a:avLst/>
          </a:prstGeom>
        </p:spPr>
        <p:txBody>
          <a:bodyPr vert="horz" wrap="square" lIns="0" tIns="13335" rIns="0" bIns="0" rtlCol="0">
            <a:spAutoFit/>
          </a:bodyPr>
          <a:lstStyle/>
          <a:p>
            <a:pPr marL="12700">
              <a:lnSpc>
                <a:spcPct val="100000"/>
              </a:lnSpc>
              <a:spcBef>
                <a:spcPts val="105"/>
              </a:spcBef>
            </a:pPr>
            <a:r>
              <a:rPr sz="3150" spc="-10" dirty="0">
                <a:solidFill>
                  <a:srgbClr val="000000"/>
                </a:solidFill>
              </a:rPr>
              <a:t>轴的受力方向</a:t>
            </a:r>
            <a:endParaRPr sz="3150"/>
          </a:p>
        </p:txBody>
      </p:sp>
      <p:pic>
        <p:nvPicPr>
          <p:cNvPr id="3" name="object 3"/>
          <p:cNvPicPr/>
          <p:nvPr/>
        </p:nvPicPr>
        <p:blipFill>
          <a:blip r:embed="rId1" cstate="print"/>
          <a:stretch>
            <a:fillRect/>
          </a:stretch>
        </p:blipFill>
        <p:spPr>
          <a:xfrm>
            <a:off x="0" y="772668"/>
            <a:ext cx="10692384" cy="1075943"/>
          </a:xfrm>
          <a:prstGeom prst="rect">
            <a:avLst/>
          </a:prstGeom>
        </p:spPr>
      </p:pic>
      <p:pic>
        <p:nvPicPr>
          <p:cNvPr id="4" name="object 4"/>
          <p:cNvPicPr/>
          <p:nvPr/>
        </p:nvPicPr>
        <p:blipFill>
          <a:blip r:embed="rId2" cstate="print"/>
          <a:stretch>
            <a:fillRect/>
          </a:stretch>
        </p:blipFill>
        <p:spPr>
          <a:xfrm>
            <a:off x="1060704" y="2772156"/>
            <a:ext cx="2444495" cy="1729740"/>
          </a:xfrm>
          <a:prstGeom prst="rect">
            <a:avLst/>
          </a:prstGeom>
        </p:spPr>
      </p:pic>
      <p:sp>
        <p:nvSpPr>
          <p:cNvPr id="5" name="object 5"/>
          <p:cNvSpPr txBox="1"/>
          <p:nvPr/>
        </p:nvSpPr>
        <p:spPr>
          <a:xfrm>
            <a:off x="3852114" y="2568983"/>
            <a:ext cx="5643245" cy="1295400"/>
          </a:xfrm>
          <a:prstGeom prst="rect">
            <a:avLst/>
          </a:prstGeom>
        </p:spPr>
        <p:txBody>
          <a:bodyPr vert="horz" wrap="square" lIns="0" tIns="16510" rIns="0" bIns="0" rtlCol="0">
            <a:spAutoFit/>
          </a:bodyPr>
          <a:lstStyle/>
          <a:p>
            <a:pPr marL="12700">
              <a:lnSpc>
                <a:spcPct val="100000"/>
              </a:lnSpc>
              <a:spcBef>
                <a:spcPts val="130"/>
              </a:spcBef>
            </a:pPr>
            <a:r>
              <a:rPr sz="1550" spc="-5" dirty="0">
                <a:latin typeface="微软雅黑" panose="020B0503020204020204" charset="-122"/>
                <a:cs typeface="微软雅黑" panose="020B0503020204020204" charset="-122"/>
              </a:rPr>
              <a:t>根据受力情况可分为：</a:t>
            </a:r>
            <a:endParaRPr sz="1550">
              <a:latin typeface="微软雅黑" panose="020B0503020204020204" charset="-122"/>
              <a:cs typeface="微软雅黑" panose="020B0503020204020204" charset="-122"/>
            </a:endParaRPr>
          </a:p>
          <a:p>
            <a:pPr marL="451485" marR="2007235">
              <a:lnSpc>
                <a:spcPct val="100000"/>
              </a:lnSpc>
              <a:spcBef>
                <a:spcPts val="1805"/>
              </a:spcBef>
            </a:pPr>
            <a:r>
              <a:rPr sz="1750" b="1" dirty="0">
                <a:latin typeface="微软雅黑" panose="020B0503020204020204" charset="-122"/>
                <a:cs typeface="微软雅黑" panose="020B0503020204020204" charset="-122"/>
              </a:rPr>
              <a:t>转轴</a:t>
            </a:r>
            <a:r>
              <a:rPr sz="1750" b="1" spc="-10" dirty="0">
                <a:latin typeface="Calibri" panose="020F0502020204030204"/>
                <a:cs typeface="Calibri" panose="020F0502020204030204"/>
              </a:rPr>
              <a:t>:</a:t>
            </a:r>
            <a:r>
              <a:rPr sz="1750" spc="-5" dirty="0">
                <a:latin typeface="微软雅黑" panose="020B0503020204020204" charset="-122"/>
                <a:cs typeface="微软雅黑" panose="020B0503020204020204" charset="-122"/>
              </a:rPr>
              <a:t>同时承受弯矩和扭矩的轴。</a:t>
            </a:r>
            <a:r>
              <a:rPr sz="1750" b="1" dirty="0">
                <a:latin typeface="微软雅黑" panose="020B0503020204020204" charset="-122"/>
                <a:cs typeface="微软雅黑" panose="020B0503020204020204" charset="-122"/>
              </a:rPr>
              <a:t>传动轴</a:t>
            </a:r>
            <a:r>
              <a:rPr sz="1750" b="1" spc="-10" dirty="0">
                <a:latin typeface="Calibri" panose="020F0502020204030204"/>
                <a:cs typeface="Calibri" panose="020F0502020204030204"/>
              </a:rPr>
              <a:t>:</a:t>
            </a:r>
            <a:r>
              <a:rPr sz="1750" spc="-5" dirty="0">
                <a:latin typeface="微软雅黑" panose="020B0503020204020204" charset="-122"/>
                <a:cs typeface="微软雅黑" panose="020B0503020204020204" charset="-122"/>
              </a:rPr>
              <a:t>只受或主要受扭矩的轴。</a:t>
            </a:r>
            <a:endParaRPr sz="1750">
              <a:latin typeface="微软雅黑" panose="020B0503020204020204" charset="-122"/>
              <a:cs typeface="微软雅黑" panose="020B0503020204020204" charset="-122"/>
            </a:endParaRPr>
          </a:p>
          <a:p>
            <a:pPr marL="451485">
              <a:lnSpc>
                <a:spcPct val="100000"/>
              </a:lnSpc>
            </a:pPr>
            <a:r>
              <a:rPr sz="1750" b="1" dirty="0">
                <a:latin typeface="微软雅黑" panose="020B0503020204020204" charset="-122"/>
                <a:cs typeface="微软雅黑" panose="020B0503020204020204" charset="-122"/>
              </a:rPr>
              <a:t>心轴</a:t>
            </a:r>
            <a:r>
              <a:rPr sz="1750" b="1" spc="-10" dirty="0">
                <a:latin typeface="Calibri" panose="020F0502020204030204"/>
                <a:cs typeface="Calibri" panose="020F0502020204030204"/>
              </a:rPr>
              <a:t>:</a:t>
            </a:r>
            <a:r>
              <a:rPr sz="1750" spc="-5" dirty="0">
                <a:latin typeface="微软雅黑" panose="020B0503020204020204" charset="-122"/>
                <a:cs typeface="微软雅黑" panose="020B0503020204020204" charset="-122"/>
              </a:rPr>
              <a:t>支承转动零件，只承受弯矩而不传递扭矩的轴。</a:t>
            </a:r>
            <a:endParaRPr sz="1750">
              <a:latin typeface="微软雅黑" panose="020B0503020204020204" charset="-122"/>
              <a:cs typeface="微软雅黑" panose="020B0503020204020204" charset="-122"/>
            </a:endParaRPr>
          </a:p>
        </p:txBody>
      </p:sp>
      <p:pic>
        <p:nvPicPr>
          <p:cNvPr id="6" name="object 6"/>
          <p:cNvPicPr/>
          <p:nvPr/>
        </p:nvPicPr>
        <p:blipFill>
          <a:blip r:embed="rId3" cstate="print"/>
          <a:stretch>
            <a:fillRect/>
          </a:stretch>
        </p:blipFill>
        <p:spPr>
          <a:xfrm>
            <a:off x="3902964" y="4658867"/>
            <a:ext cx="2997707" cy="1758695"/>
          </a:xfrm>
          <a:prstGeom prst="rect">
            <a:avLst/>
          </a:prstGeom>
        </p:spPr>
      </p:pic>
      <p:pic>
        <p:nvPicPr>
          <p:cNvPr id="7" name="object 7"/>
          <p:cNvPicPr/>
          <p:nvPr/>
        </p:nvPicPr>
        <p:blipFill>
          <a:blip r:embed="rId4" cstate="print"/>
          <a:stretch>
            <a:fillRect/>
          </a:stretch>
        </p:blipFill>
        <p:spPr>
          <a:xfrm>
            <a:off x="280415" y="4623815"/>
            <a:ext cx="3261359" cy="1828800"/>
          </a:xfrm>
          <a:prstGeom prst="rect">
            <a:avLst/>
          </a:prstGeom>
        </p:spPr>
      </p:pic>
      <p:pic>
        <p:nvPicPr>
          <p:cNvPr id="8" name="object 8"/>
          <p:cNvPicPr/>
          <p:nvPr/>
        </p:nvPicPr>
        <p:blipFill>
          <a:blip r:embed="rId5" cstate="print"/>
          <a:stretch>
            <a:fillRect/>
          </a:stretch>
        </p:blipFill>
        <p:spPr>
          <a:xfrm>
            <a:off x="7420355" y="4061459"/>
            <a:ext cx="2729483" cy="2572511"/>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1" cstate="print"/>
          <a:stretch>
            <a:fillRect/>
          </a:stretch>
        </p:blipFill>
        <p:spPr>
          <a:xfrm>
            <a:off x="0" y="772668"/>
            <a:ext cx="10692384" cy="1075943"/>
          </a:xfrm>
          <a:prstGeom prst="rect">
            <a:avLst/>
          </a:prstGeom>
        </p:spPr>
      </p:pic>
      <p:sp>
        <p:nvSpPr>
          <p:cNvPr id="3" name="object 3"/>
          <p:cNvSpPr txBox="1">
            <a:spLocks noGrp="1"/>
          </p:cNvSpPr>
          <p:nvPr>
            <p:ph type="title"/>
          </p:nvPr>
        </p:nvSpPr>
        <p:spPr>
          <a:xfrm>
            <a:off x="854463" y="2241352"/>
            <a:ext cx="1092200" cy="345440"/>
          </a:xfrm>
          <a:prstGeom prst="rect">
            <a:avLst/>
          </a:prstGeom>
        </p:spPr>
        <p:txBody>
          <a:bodyPr vert="horz" wrap="square" lIns="0" tIns="12700" rIns="0" bIns="0" rtlCol="0">
            <a:spAutoFit/>
          </a:bodyPr>
          <a:lstStyle/>
          <a:p>
            <a:pPr marL="12700">
              <a:lnSpc>
                <a:spcPct val="100000"/>
              </a:lnSpc>
              <a:spcBef>
                <a:spcPts val="100"/>
              </a:spcBef>
            </a:pPr>
            <a:r>
              <a:rPr sz="2100" b="0" spc="-15" dirty="0">
                <a:solidFill>
                  <a:srgbClr val="000000"/>
                </a:solidFill>
                <a:latin typeface="微软雅黑" panose="020B0503020204020204" charset="-122"/>
                <a:cs typeface="微软雅黑" panose="020B0503020204020204" charset="-122"/>
              </a:rPr>
              <a:t>相关概念</a:t>
            </a:r>
            <a:endParaRPr sz="2100">
              <a:latin typeface="微软雅黑" panose="020B0503020204020204" charset="-122"/>
              <a:cs typeface="微软雅黑" panose="020B0503020204020204" charset="-122"/>
            </a:endParaRPr>
          </a:p>
        </p:txBody>
      </p:sp>
      <p:sp>
        <p:nvSpPr>
          <p:cNvPr id="4" name="object 4"/>
          <p:cNvSpPr txBox="1"/>
          <p:nvPr/>
        </p:nvSpPr>
        <p:spPr>
          <a:xfrm>
            <a:off x="286006" y="3244093"/>
            <a:ext cx="4433570" cy="988060"/>
          </a:xfrm>
          <a:prstGeom prst="rect">
            <a:avLst/>
          </a:prstGeom>
        </p:spPr>
        <p:txBody>
          <a:bodyPr vert="horz" wrap="square" lIns="0" tIns="12700" rIns="0" bIns="0" rtlCol="0">
            <a:spAutoFit/>
          </a:bodyPr>
          <a:lstStyle/>
          <a:p>
            <a:pPr marL="12700" marR="5080">
              <a:lnSpc>
                <a:spcPct val="102000"/>
              </a:lnSpc>
              <a:spcBef>
                <a:spcPts val="100"/>
              </a:spcBef>
            </a:pPr>
            <a:r>
              <a:rPr sz="1550" b="1" spc="30" dirty="0">
                <a:latin typeface="微软雅黑" panose="020B0503020204020204" charset="-122"/>
                <a:cs typeface="微软雅黑" panose="020B0503020204020204" charset="-122"/>
              </a:rPr>
              <a:t>力矩</a:t>
            </a:r>
            <a:r>
              <a:rPr sz="1550" b="1" dirty="0">
                <a:latin typeface="Calibri" panose="020F0502020204030204"/>
                <a:cs typeface="Calibri" panose="020F0502020204030204"/>
              </a:rPr>
              <a:t>:</a:t>
            </a:r>
            <a:r>
              <a:rPr sz="1550" spc="30" dirty="0">
                <a:latin typeface="微软雅黑" panose="020B0503020204020204" charset="-122"/>
                <a:cs typeface="微软雅黑" panose="020B0503020204020204" charset="-122"/>
              </a:rPr>
              <a:t>力对点之矩</a:t>
            </a:r>
            <a:r>
              <a:rPr sz="1550" spc="-5" dirty="0">
                <a:latin typeface="Calibri" panose="020F0502020204030204"/>
                <a:cs typeface="Calibri" panose="020F0502020204030204"/>
              </a:rPr>
              <a:t>(</a:t>
            </a:r>
            <a:r>
              <a:rPr sz="1550" spc="20" dirty="0">
                <a:latin typeface="微软雅黑" panose="020B0503020204020204" charset="-122"/>
                <a:cs typeface="微软雅黑" panose="020B0503020204020204" charset="-122"/>
              </a:rPr>
              <a:t>简称力矩</a:t>
            </a:r>
            <a:r>
              <a:rPr sz="1550" dirty="0">
                <a:latin typeface="Calibri" panose="020F0502020204030204"/>
                <a:cs typeface="Calibri" panose="020F0502020204030204"/>
              </a:rPr>
              <a:t>)</a:t>
            </a:r>
            <a:r>
              <a:rPr sz="1550" spc="15" dirty="0">
                <a:latin typeface="微软雅黑" panose="020B0503020204020204" charset="-122"/>
                <a:cs typeface="微软雅黑" panose="020B0503020204020204" charset="-122"/>
              </a:rPr>
              <a:t>是度量力对刚体</a:t>
            </a:r>
            <a:r>
              <a:rPr sz="1550" b="1" spc="20" dirty="0">
                <a:latin typeface="微软雅黑" panose="020B0503020204020204" charset="-122"/>
                <a:cs typeface="微软雅黑" panose="020B0503020204020204" charset="-122"/>
              </a:rPr>
              <a:t>转动</a:t>
            </a:r>
            <a:r>
              <a:rPr sz="1550" b="1" spc="5" dirty="0">
                <a:latin typeface="微软雅黑" panose="020B0503020204020204" charset="-122"/>
                <a:cs typeface="微软雅黑" panose="020B0503020204020204" charset="-122"/>
              </a:rPr>
              <a:t> </a:t>
            </a:r>
            <a:r>
              <a:rPr sz="1550" b="1" spc="30" dirty="0">
                <a:latin typeface="微软雅黑" panose="020B0503020204020204" charset="-122"/>
                <a:cs typeface="微软雅黑" panose="020B0503020204020204" charset="-122"/>
              </a:rPr>
              <a:t>效应</a:t>
            </a:r>
            <a:r>
              <a:rPr sz="1550" spc="20" dirty="0">
                <a:latin typeface="微软雅黑" panose="020B0503020204020204" charset="-122"/>
                <a:cs typeface="微软雅黑" panose="020B0503020204020204" charset="-122"/>
              </a:rPr>
              <a:t>的物理量。其绝对值等于</a:t>
            </a:r>
            <a:r>
              <a:rPr sz="1550" b="1" spc="10" dirty="0">
                <a:latin typeface="微软雅黑" panose="020B0503020204020204" charset="-122"/>
                <a:cs typeface="微软雅黑" panose="020B0503020204020204" charset="-122"/>
              </a:rPr>
              <a:t>力的大小与力臂的乘</a:t>
            </a:r>
            <a:r>
              <a:rPr sz="1550" b="1" spc="30" dirty="0">
                <a:latin typeface="微软雅黑" panose="020B0503020204020204" charset="-122"/>
                <a:cs typeface="微软雅黑" panose="020B0503020204020204" charset="-122"/>
              </a:rPr>
              <a:t>积</a:t>
            </a:r>
            <a:r>
              <a:rPr sz="1550" spc="20" dirty="0">
                <a:latin typeface="微软雅黑" panose="020B0503020204020204" charset="-122"/>
                <a:cs typeface="微软雅黑" panose="020B0503020204020204" charset="-122"/>
              </a:rPr>
              <a:t>，其转向用正负号确定</a:t>
            </a:r>
            <a:r>
              <a:rPr sz="1550" dirty="0">
                <a:latin typeface="Calibri" panose="020F0502020204030204"/>
                <a:cs typeface="Calibri" panose="020F0502020204030204"/>
              </a:rPr>
              <a:t>(</a:t>
            </a:r>
            <a:r>
              <a:rPr sz="1550" spc="20" dirty="0">
                <a:latin typeface="微软雅黑" panose="020B0503020204020204" charset="-122"/>
                <a:cs typeface="微软雅黑" panose="020B0503020204020204" charset="-122"/>
              </a:rPr>
              <a:t>平面</a:t>
            </a:r>
            <a:r>
              <a:rPr sz="1550" spc="15" dirty="0">
                <a:latin typeface="Calibri" panose="020F0502020204030204"/>
                <a:cs typeface="Calibri" panose="020F0502020204030204"/>
              </a:rPr>
              <a:t>)</a:t>
            </a:r>
            <a:r>
              <a:rPr sz="1550" spc="15" dirty="0">
                <a:latin typeface="微软雅黑" panose="020B0503020204020204" charset="-122"/>
                <a:cs typeface="微软雅黑" panose="020B0503020204020204" charset="-122"/>
              </a:rPr>
              <a:t>，其规定为</a:t>
            </a:r>
            <a:r>
              <a:rPr sz="1550" dirty="0">
                <a:latin typeface="Calibri" panose="020F0502020204030204"/>
                <a:cs typeface="Calibri" panose="020F0502020204030204"/>
              </a:rPr>
              <a:t>:</a:t>
            </a:r>
            <a:r>
              <a:rPr sz="1550" spc="20" dirty="0">
                <a:latin typeface="微软雅黑" panose="020B0503020204020204" charset="-122"/>
                <a:cs typeface="微软雅黑" panose="020B0503020204020204" charset="-122"/>
              </a:rPr>
              <a:t>力使物</a:t>
            </a:r>
            <a:r>
              <a:rPr sz="1550" spc="10" dirty="0">
                <a:latin typeface="微软雅黑" panose="020B0503020204020204" charset="-122"/>
                <a:cs typeface="微软雅黑" panose="020B0503020204020204" charset="-122"/>
              </a:rPr>
              <a:t>体绕矩心逆时针转向转动时为正，反之为负。</a:t>
            </a:r>
            <a:endParaRPr sz="1550">
              <a:latin typeface="微软雅黑" panose="020B0503020204020204" charset="-122"/>
              <a:cs typeface="微软雅黑" panose="020B0503020204020204" charset="-122"/>
            </a:endParaRPr>
          </a:p>
        </p:txBody>
      </p:sp>
      <p:pic>
        <p:nvPicPr>
          <p:cNvPr id="5" name="object 5"/>
          <p:cNvPicPr/>
          <p:nvPr/>
        </p:nvPicPr>
        <p:blipFill>
          <a:blip r:embed="rId2" cstate="print"/>
          <a:stretch>
            <a:fillRect/>
          </a:stretch>
        </p:blipFill>
        <p:spPr>
          <a:xfrm>
            <a:off x="637031" y="4535423"/>
            <a:ext cx="1694687" cy="1516379"/>
          </a:xfrm>
          <a:prstGeom prst="rect">
            <a:avLst/>
          </a:prstGeom>
        </p:spPr>
      </p:pic>
      <p:pic>
        <p:nvPicPr>
          <p:cNvPr id="6" name="object 6"/>
          <p:cNvPicPr/>
          <p:nvPr/>
        </p:nvPicPr>
        <p:blipFill>
          <a:blip r:embed="rId3" cstate="print"/>
          <a:stretch>
            <a:fillRect/>
          </a:stretch>
        </p:blipFill>
        <p:spPr>
          <a:xfrm>
            <a:off x="2415539" y="5132832"/>
            <a:ext cx="1467611" cy="473963"/>
          </a:xfrm>
          <a:prstGeom prst="rect">
            <a:avLst/>
          </a:prstGeom>
        </p:spPr>
      </p:pic>
      <p:pic>
        <p:nvPicPr>
          <p:cNvPr id="7" name="object 7"/>
          <p:cNvPicPr/>
          <p:nvPr/>
        </p:nvPicPr>
        <p:blipFill>
          <a:blip r:embed="rId4" cstate="print"/>
          <a:stretch>
            <a:fillRect/>
          </a:stretch>
        </p:blipFill>
        <p:spPr>
          <a:xfrm>
            <a:off x="5266944" y="3782567"/>
            <a:ext cx="4143755" cy="1267967"/>
          </a:xfrm>
          <a:prstGeom prst="rect">
            <a:avLst/>
          </a:prstGeom>
        </p:spPr>
      </p:pic>
      <p:sp>
        <p:nvSpPr>
          <p:cNvPr id="8" name="object 8"/>
          <p:cNvSpPr txBox="1"/>
          <p:nvPr/>
        </p:nvSpPr>
        <p:spPr>
          <a:xfrm>
            <a:off x="4938793" y="1988269"/>
            <a:ext cx="5087620" cy="1710055"/>
          </a:xfrm>
          <a:prstGeom prst="rect">
            <a:avLst/>
          </a:prstGeom>
        </p:spPr>
        <p:txBody>
          <a:bodyPr vert="horz" wrap="square" lIns="0" tIns="16510" rIns="0" bIns="0" rtlCol="0">
            <a:spAutoFit/>
          </a:bodyPr>
          <a:lstStyle/>
          <a:p>
            <a:pPr marL="12700">
              <a:lnSpc>
                <a:spcPct val="100000"/>
              </a:lnSpc>
              <a:spcBef>
                <a:spcPts val="130"/>
              </a:spcBef>
            </a:pPr>
            <a:r>
              <a:rPr sz="1550" b="1" dirty="0">
                <a:latin typeface="微软雅黑" panose="020B0503020204020204" charset="-122"/>
                <a:cs typeface="微软雅黑" panose="020B0503020204020204" charset="-122"/>
              </a:rPr>
              <a:t>弯矩</a:t>
            </a:r>
            <a:r>
              <a:rPr sz="1550" b="1" spc="-10" dirty="0">
                <a:latin typeface="Calibri" panose="020F0502020204030204"/>
                <a:cs typeface="Calibri" panose="020F0502020204030204"/>
              </a:rPr>
              <a:t>:</a:t>
            </a:r>
            <a:r>
              <a:rPr sz="1550" spc="-5" dirty="0">
                <a:latin typeface="微软雅黑" panose="020B0503020204020204" charset="-122"/>
                <a:cs typeface="微软雅黑" panose="020B0503020204020204" charset="-122"/>
              </a:rPr>
              <a:t>弯矩是受力构件截面上的内力矩的一种。</a:t>
            </a:r>
            <a:endParaRPr sz="1550">
              <a:latin typeface="微软雅黑" panose="020B0503020204020204" charset="-122"/>
              <a:cs typeface="微软雅黑" panose="020B0503020204020204" charset="-122"/>
            </a:endParaRPr>
          </a:p>
          <a:p>
            <a:pPr marL="12700">
              <a:lnSpc>
                <a:spcPct val="100000"/>
              </a:lnSpc>
              <a:spcBef>
                <a:spcPts val="1925"/>
              </a:spcBef>
            </a:pPr>
            <a:r>
              <a:rPr sz="1550" b="1" dirty="0">
                <a:latin typeface="微软雅黑" panose="020B0503020204020204" charset="-122"/>
                <a:cs typeface="微软雅黑" panose="020B0503020204020204" charset="-122"/>
              </a:rPr>
              <a:t>扭矩</a:t>
            </a:r>
            <a:r>
              <a:rPr sz="1550" b="1" spc="-10" dirty="0">
                <a:latin typeface="Calibri" panose="020F0502020204030204"/>
                <a:cs typeface="Calibri" panose="020F0502020204030204"/>
              </a:rPr>
              <a:t>:</a:t>
            </a:r>
            <a:r>
              <a:rPr sz="1550" spc="-5" dirty="0">
                <a:latin typeface="微软雅黑" panose="020B0503020204020204" charset="-122"/>
                <a:cs typeface="微软雅黑" panose="020B0503020204020204" charset="-122"/>
              </a:rPr>
              <a:t>扭矩是使物体发生转动的一种特殊的力矩。</a:t>
            </a:r>
            <a:endParaRPr sz="1550">
              <a:latin typeface="微软雅黑" panose="020B0503020204020204" charset="-122"/>
              <a:cs typeface="微软雅黑" panose="020B0503020204020204" charset="-122"/>
            </a:endParaRPr>
          </a:p>
          <a:p>
            <a:pPr marL="12700">
              <a:lnSpc>
                <a:spcPct val="100000"/>
              </a:lnSpc>
              <a:spcBef>
                <a:spcPts val="1930"/>
              </a:spcBef>
            </a:pPr>
            <a:r>
              <a:rPr sz="1550" dirty="0">
                <a:latin typeface="微软雅黑" panose="020B0503020204020204" charset="-122"/>
                <a:cs typeface="微软雅黑" panose="020B0503020204020204" charset="-122"/>
              </a:rPr>
              <a:t>通俗来讲</a:t>
            </a:r>
            <a:r>
              <a:rPr sz="1550" spc="-50" dirty="0">
                <a:latin typeface="Calibri" panose="020F0502020204030204"/>
                <a:cs typeface="Calibri" panose="020F0502020204030204"/>
              </a:rPr>
              <a:t>:</a:t>
            </a:r>
            <a:endParaRPr sz="1550">
              <a:latin typeface="Calibri" panose="020F0502020204030204"/>
              <a:cs typeface="Calibri" panose="020F0502020204030204"/>
            </a:endParaRPr>
          </a:p>
          <a:p>
            <a:pPr marL="859790">
              <a:lnSpc>
                <a:spcPct val="100000"/>
              </a:lnSpc>
              <a:spcBef>
                <a:spcPts val="35"/>
              </a:spcBef>
            </a:pPr>
            <a:r>
              <a:rPr sz="1550" spc="-5" dirty="0">
                <a:latin typeface="微软雅黑" panose="020B0503020204020204" charset="-122"/>
                <a:cs typeface="微软雅黑" panose="020B0503020204020204" charset="-122"/>
              </a:rPr>
              <a:t>弯矩就是弯曲所需要的力矩。</a:t>
            </a:r>
            <a:endParaRPr sz="1550">
              <a:latin typeface="微软雅黑" panose="020B0503020204020204" charset="-122"/>
              <a:cs typeface="微软雅黑" panose="020B0503020204020204" charset="-122"/>
            </a:endParaRPr>
          </a:p>
          <a:p>
            <a:pPr marL="859790">
              <a:lnSpc>
                <a:spcPct val="100000"/>
              </a:lnSpc>
              <a:spcBef>
                <a:spcPts val="35"/>
              </a:spcBef>
            </a:pPr>
            <a:r>
              <a:rPr sz="1550" spc="-5" dirty="0">
                <a:latin typeface="微软雅黑" panose="020B0503020204020204" charset="-122"/>
                <a:cs typeface="微软雅黑" panose="020B0503020204020204" charset="-122"/>
              </a:rPr>
              <a:t>扭矩就是使得物体发生扭转或者转动作用的力矩</a:t>
            </a:r>
            <a:endParaRPr sz="1550">
              <a:latin typeface="微软雅黑" panose="020B0503020204020204" charset="-122"/>
              <a:cs typeface="微软雅黑" panose="020B0503020204020204" charset="-122"/>
            </a:endParaRPr>
          </a:p>
        </p:txBody>
      </p:sp>
      <p:pic>
        <p:nvPicPr>
          <p:cNvPr id="9" name="object 9"/>
          <p:cNvPicPr/>
          <p:nvPr/>
        </p:nvPicPr>
        <p:blipFill>
          <a:blip r:embed="rId5" cstate="print"/>
          <a:stretch>
            <a:fillRect/>
          </a:stretch>
        </p:blipFill>
        <p:spPr>
          <a:xfrm>
            <a:off x="5266944" y="5103876"/>
            <a:ext cx="4110227" cy="162915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1" cstate="print"/>
          <a:stretch>
            <a:fillRect/>
          </a:stretch>
        </p:blipFill>
        <p:spPr>
          <a:xfrm>
            <a:off x="0" y="772668"/>
            <a:ext cx="10692384" cy="1075943"/>
          </a:xfrm>
          <a:prstGeom prst="rect">
            <a:avLst/>
          </a:prstGeom>
        </p:spPr>
      </p:pic>
      <p:sp>
        <p:nvSpPr>
          <p:cNvPr id="3" name="object 3"/>
          <p:cNvSpPr txBox="1">
            <a:spLocks noGrp="1"/>
          </p:cNvSpPr>
          <p:nvPr>
            <p:ph type="title"/>
          </p:nvPr>
        </p:nvSpPr>
        <p:spPr>
          <a:xfrm>
            <a:off x="1168434" y="2251900"/>
            <a:ext cx="1625600" cy="345440"/>
          </a:xfrm>
          <a:prstGeom prst="rect">
            <a:avLst/>
          </a:prstGeom>
        </p:spPr>
        <p:txBody>
          <a:bodyPr vert="horz" wrap="square" lIns="0" tIns="12700" rIns="0" bIns="0" rtlCol="0">
            <a:spAutoFit/>
          </a:bodyPr>
          <a:lstStyle/>
          <a:p>
            <a:pPr marL="12700">
              <a:lnSpc>
                <a:spcPct val="100000"/>
              </a:lnSpc>
              <a:spcBef>
                <a:spcPts val="100"/>
              </a:spcBef>
            </a:pPr>
            <a:r>
              <a:rPr sz="2100" spc="-10" dirty="0">
                <a:solidFill>
                  <a:srgbClr val="000000"/>
                </a:solidFill>
              </a:rPr>
              <a:t>机器人相关轴</a:t>
            </a:r>
            <a:endParaRPr sz="2100"/>
          </a:p>
        </p:txBody>
      </p:sp>
      <p:pic>
        <p:nvPicPr>
          <p:cNvPr id="4" name="object 4"/>
          <p:cNvPicPr/>
          <p:nvPr/>
        </p:nvPicPr>
        <p:blipFill>
          <a:blip r:embed="rId2" cstate="print"/>
          <a:stretch>
            <a:fillRect/>
          </a:stretch>
        </p:blipFill>
        <p:spPr>
          <a:xfrm>
            <a:off x="8426196" y="2418588"/>
            <a:ext cx="2156459" cy="3450335"/>
          </a:xfrm>
          <a:prstGeom prst="rect">
            <a:avLst/>
          </a:prstGeom>
        </p:spPr>
      </p:pic>
      <p:pic>
        <p:nvPicPr>
          <p:cNvPr id="5" name="object 5"/>
          <p:cNvPicPr/>
          <p:nvPr/>
        </p:nvPicPr>
        <p:blipFill>
          <a:blip r:embed="rId3" cstate="print"/>
          <a:stretch>
            <a:fillRect/>
          </a:stretch>
        </p:blipFill>
        <p:spPr>
          <a:xfrm>
            <a:off x="175260" y="3695700"/>
            <a:ext cx="2447543" cy="1973579"/>
          </a:xfrm>
          <a:prstGeom prst="rect">
            <a:avLst/>
          </a:prstGeom>
        </p:spPr>
      </p:pic>
      <p:pic>
        <p:nvPicPr>
          <p:cNvPr id="6" name="object 6"/>
          <p:cNvPicPr/>
          <p:nvPr/>
        </p:nvPicPr>
        <p:blipFill>
          <a:blip r:embed="rId4" cstate="print"/>
          <a:stretch>
            <a:fillRect/>
          </a:stretch>
        </p:blipFill>
        <p:spPr>
          <a:xfrm>
            <a:off x="2997707" y="3695700"/>
            <a:ext cx="2464308" cy="1973579"/>
          </a:xfrm>
          <a:prstGeom prst="rect">
            <a:avLst/>
          </a:prstGeom>
        </p:spPr>
      </p:pic>
      <p:pic>
        <p:nvPicPr>
          <p:cNvPr id="7" name="object 7"/>
          <p:cNvPicPr/>
          <p:nvPr/>
        </p:nvPicPr>
        <p:blipFill>
          <a:blip r:embed="rId5" cstate="print"/>
          <a:stretch>
            <a:fillRect/>
          </a:stretch>
        </p:blipFill>
        <p:spPr>
          <a:xfrm>
            <a:off x="5836920" y="3695700"/>
            <a:ext cx="2442972" cy="1973579"/>
          </a:xfrm>
          <a:prstGeom prst="rect">
            <a:avLst/>
          </a:prstGeom>
        </p:spPr>
      </p:pic>
      <p:sp>
        <p:nvSpPr>
          <p:cNvPr id="8" name="object 8"/>
          <p:cNvSpPr txBox="1"/>
          <p:nvPr/>
        </p:nvSpPr>
        <p:spPr>
          <a:xfrm>
            <a:off x="8555218" y="6130573"/>
            <a:ext cx="1926589" cy="267335"/>
          </a:xfrm>
          <a:prstGeom prst="rect">
            <a:avLst/>
          </a:prstGeom>
        </p:spPr>
        <p:txBody>
          <a:bodyPr vert="horz" wrap="square" lIns="0" tIns="16510" rIns="0" bIns="0" rtlCol="0">
            <a:spAutoFit/>
          </a:bodyPr>
          <a:lstStyle/>
          <a:p>
            <a:pPr marL="12700">
              <a:lnSpc>
                <a:spcPct val="100000"/>
              </a:lnSpc>
              <a:spcBef>
                <a:spcPts val="130"/>
              </a:spcBef>
            </a:pPr>
            <a:r>
              <a:rPr sz="1550" dirty="0">
                <a:latin typeface="Calibri" panose="020F0502020204030204"/>
                <a:cs typeface="Calibri" panose="020F0502020204030204"/>
              </a:rPr>
              <a:t>Z</a:t>
            </a:r>
            <a:r>
              <a:rPr sz="1550" spc="-10" dirty="0">
                <a:latin typeface="微软雅黑" panose="020B0503020204020204" charset="-122"/>
                <a:cs typeface="微软雅黑" panose="020B0503020204020204" charset="-122"/>
              </a:rPr>
              <a:t>轴正方向为前进方向</a:t>
            </a:r>
            <a:endParaRPr sz="1550">
              <a:latin typeface="微软雅黑" panose="020B0503020204020204" charset="-122"/>
              <a:cs typeface="微软雅黑" panose="020B0503020204020204" charset="-122"/>
            </a:endParaRPr>
          </a:p>
        </p:txBody>
      </p:sp>
      <p:sp>
        <p:nvSpPr>
          <p:cNvPr id="9" name="object 9"/>
          <p:cNvSpPr txBox="1"/>
          <p:nvPr/>
        </p:nvSpPr>
        <p:spPr>
          <a:xfrm>
            <a:off x="328636" y="5847092"/>
            <a:ext cx="2139315" cy="508000"/>
          </a:xfrm>
          <a:prstGeom prst="rect">
            <a:avLst/>
          </a:prstGeom>
        </p:spPr>
        <p:txBody>
          <a:bodyPr vert="horz" wrap="square" lIns="0" tIns="16510" rIns="0" bIns="0" rtlCol="0">
            <a:spAutoFit/>
          </a:bodyPr>
          <a:lstStyle/>
          <a:p>
            <a:pPr algn="ctr">
              <a:lnSpc>
                <a:spcPct val="100000"/>
              </a:lnSpc>
              <a:spcBef>
                <a:spcPts val="130"/>
              </a:spcBef>
            </a:pPr>
            <a:r>
              <a:rPr sz="1550" b="1" dirty="0">
                <a:latin typeface="Calibri" panose="020F0502020204030204"/>
                <a:cs typeface="Calibri" panose="020F0502020204030204"/>
              </a:rPr>
              <a:t>pitch</a:t>
            </a:r>
            <a:r>
              <a:rPr sz="1550" b="1" spc="-50" dirty="0">
                <a:latin typeface="微软雅黑" panose="020B0503020204020204" charset="-122"/>
                <a:cs typeface="微软雅黑" panose="020B0503020204020204" charset="-122"/>
              </a:rPr>
              <a:t>轴</a:t>
            </a:r>
            <a:endParaRPr sz="1550">
              <a:latin typeface="微软雅黑" panose="020B0503020204020204" charset="-122"/>
              <a:cs typeface="微软雅黑" panose="020B0503020204020204" charset="-122"/>
            </a:endParaRPr>
          </a:p>
          <a:p>
            <a:pPr algn="ctr">
              <a:lnSpc>
                <a:spcPct val="100000"/>
              </a:lnSpc>
              <a:spcBef>
                <a:spcPts val="40"/>
              </a:spcBef>
            </a:pPr>
            <a:r>
              <a:rPr sz="1550" dirty="0">
                <a:latin typeface="微软雅黑" panose="020B0503020204020204" charset="-122"/>
                <a:cs typeface="微软雅黑" panose="020B0503020204020204" charset="-122"/>
              </a:rPr>
              <a:t>俯仰，将物体绕</a:t>
            </a:r>
            <a:r>
              <a:rPr sz="1550" dirty="0">
                <a:latin typeface="Calibri" panose="020F0502020204030204"/>
                <a:cs typeface="Calibri" panose="020F0502020204030204"/>
              </a:rPr>
              <a:t>X</a:t>
            </a:r>
            <a:r>
              <a:rPr sz="1550" spc="-20" dirty="0">
                <a:latin typeface="微软雅黑" panose="020B0503020204020204" charset="-122"/>
                <a:cs typeface="微软雅黑" panose="020B0503020204020204" charset="-122"/>
              </a:rPr>
              <a:t>轴旋转</a:t>
            </a:r>
            <a:endParaRPr sz="1550">
              <a:latin typeface="微软雅黑" panose="020B0503020204020204" charset="-122"/>
              <a:cs typeface="微软雅黑" panose="020B0503020204020204" charset="-122"/>
            </a:endParaRPr>
          </a:p>
        </p:txBody>
      </p:sp>
      <p:sp>
        <p:nvSpPr>
          <p:cNvPr id="10" name="object 10"/>
          <p:cNvSpPr txBox="1"/>
          <p:nvPr/>
        </p:nvSpPr>
        <p:spPr>
          <a:xfrm>
            <a:off x="3163351" y="5847092"/>
            <a:ext cx="2131060" cy="508000"/>
          </a:xfrm>
          <a:prstGeom prst="rect">
            <a:avLst/>
          </a:prstGeom>
        </p:spPr>
        <p:txBody>
          <a:bodyPr vert="horz" wrap="square" lIns="0" tIns="16510" rIns="0" bIns="0" rtlCol="0">
            <a:spAutoFit/>
          </a:bodyPr>
          <a:lstStyle/>
          <a:p>
            <a:pPr marL="1905" algn="ctr">
              <a:lnSpc>
                <a:spcPct val="100000"/>
              </a:lnSpc>
              <a:spcBef>
                <a:spcPts val="130"/>
              </a:spcBef>
            </a:pPr>
            <a:r>
              <a:rPr sz="1550" b="1" dirty="0">
                <a:latin typeface="Calibri" panose="020F0502020204030204"/>
                <a:cs typeface="Calibri" panose="020F0502020204030204"/>
              </a:rPr>
              <a:t>yaw</a:t>
            </a:r>
            <a:r>
              <a:rPr sz="1550" b="1" spc="-50" dirty="0">
                <a:latin typeface="微软雅黑" panose="020B0503020204020204" charset="-122"/>
                <a:cs typeface="微软雅黑" panose="020B0503020204020204" charset="-122"/>
              </a:rPr>
              <a:t>轴</a:t>
            </a:r>
            <a:endParaRPr sz="1550">
              <a:latin typeface="微软雅黑" panose="020B0503020204020204" charset="-122"/>
              <a:cs typeface="微软雅黑" panose="020B0503020204020204" charset="-122"/>
            </a:endParaRPr>
          </a:p>
          <a:p>
            <a:pPr algn="ctr">
              <a:lnSpc>
                <a:spcPct val="100000"/>
              </a:lnSpc>
              <a:spcBef>
                <a:spcPts val="40"/>
              </a:spcBef>
            </a:pPr>
            <a:r>
              <a:rPr sz="1550" dirty="0">
                <a:latin typeface="微软雅黑" panose="020B0503020204020204" charset="-122"/>
                <a:cs typeface="微软雅黑" panose="020B0503020204020204" charset="-122"/>
              </a:rPr>
              <a:t>航向，将物体绕</a:t>
            </a:r>
            <a:r>
              <a:rPr sz="1550" dirty="0">
                <a:latin typeface="Calibri" panose="020F0502020204030204"/>
                <a:cs typeface="Calibri" panose="020F0502020204030204"/>
              </a:rPr>
              <a:t>Y</a:t>
            </a:r>
            <a:r>
              <a:rPr sz="1550" spc="-20" dirty="0">
                <a:latin typeface="微软雅黑" panose="020B0503020204020204" charset="-122"/>
                <a:cs typeface="微软雅黑" panose="020B0503020204020204" charset="-122"/>
              </a:rPr>
              <a:t>轴旋转</a:t>
            </a:r>
            <a:endParaRPr sz="1550">
              <a:latin typeface="微软雅黑" panose="020B0503020204020204" charset="-122"/>
              <a:cs typeface="微软雅黑" panose="020B0503020204020204" charset="-122"/>
            </a:endParaRPr>
          </a:p>
        </p:txBody>
      </p:sp>
      <p:sp>
        <p:nvSpPr>
          <p:cNvPr id="11" name="object 11"/>
          <p:cNvSpPr txBox="1"/>
          <p:nvPr/>
        </p:nvSpPr>
        <p:spPr>
          <a:xfrm>
            <a:off x="5994922" y="5845520"/>
            <a:ext cx="2128520" cy="509270"/>
          </a:xfrm>
          <a:prstGeom prst="rect">
            <a:avLst/>
          </a:prstGeom>
        </p:spPr>
        <p:txBody>
          <a:bodyPr vert="horz" wrap="square" lIns="0" tIns="16510" rIns="0" bIns="0" rtlCol="0">
            <a:spAutoFit/>
          </a:bodyPr>
          <a:lstStyle/>
          <a:p>
            <a:pPr algn="ctr">
              <a:lnSpc>
                <a:spcPct val="100000"/>
              </a:lnSpc>
              <a:spcBef>
                <a:spcPts val="130"/>
              </a:spcBef>
            </a:pPr>
            <a:r>
              <a:rPr sz="1550" b="1" spc="-20" dirty="0">
                <a:latin typeface="Calibri" panose="020F0502020204030204"/>
                <a:cs typeface="Calibri" panose="020F0502020204030204"/>
              </a:rPr>
              <a:t>roll</a:t>
            </a:r>
            <a:endParaRPr sz="1550">
              <a:latin typeface="Calibri" panose="020F0502020204030204"/>
              <a:cs typeface="Calibri" panose="020F0502020204030204"/>
            </a:endParaRPr>
          </a:p>
          <a:p>
            <a:pPr algn="ctr">
              <a:lnSpc>
                <a:spcPct val="100000"/>
              </a:lnSpc>
              <a:spcBef>
                <a:spcPts val="50"/>
              </a:spcBef>
            </a:pPr>
            <a:r>
              <a:rPr sz="1550" dirty="0">
                <a:latin typeface="微软雅黑" panose="020B0503020204020204" charset="-122"/>
                <a:cs typeface="微软雅黑" panose="020B0503020204020204" charset="-122"/>
              </a:rPr>
              <a:t>横滚，将物体绕</a:t>
            </a:r>
            <a:r>
              <a:rPr sz="1550" dirty="0">
                <a:latin typeface="Calibri" panose="020F0502020204030204"/>
                <a:cs typeface="Calibri" panose="020F0502020204030204"/>
              </a:rPr>
              <a:t>Z</a:t>
            </a:r>
            <a:r>
              <a:rPr sz="1550" spc="-20" dirty="0">
                <a:latin typeface="微软雅黑" panose="020B0503020204020204" charset="-122"/>
                <a:cs typeface="微软雅黑" panose="020B0503020204020204" charset="-122"/>
              </a:rPr>
              <a:t>轴旋转</a:t>
            </a:r>
            <a:endParaRPr sz="1550">
              <a:latin typeface="微软雅黑" panose="020B0503020204020204" charset="-122"/>
              <a:cs typeface="微软雅黑" panose="020B0503020204020204" charset="-122"/>
            </a:endParaRPr>
          </a:p>
        </p:txBody>
      </p:sp>
      <p:sp>
        <p:nvSpPr>
          <p:cNvPr id="12" name="object 12"/>
          <p:cNvSpPr txBox="1"/>
          <p:nvPr/>
        </p:nvSpPr>
        <p:spPr>
          <a:xfrm>
            <a:off x="828510" y="2934680"/>
            <a:ext cx="6470650" cy="508000"/>
          </a:xfrm>
          <a:prstGeom prst="rect">
            <a:avLst/>
          </a:prstGeom>
        </p:spPr>
        <p:txBody>
          <a:bodyPr vert="horz" wrap="square" lIns="0" tIns="12065" rIns="0" bIns="0" rtlCol="0">
            <a:spAutoFit/>
          </a:bodyPr>
          <a:lstStyle/>
          <a:p>
            <a:pPr marL="12700" marR="5080">
              <a:lnSpc>
                <a:spcPct val="102000"/>
              </a:lnSpc>
              <a:spcBef>
                <a:spcPts val="95"/>
              </a:spcBef>
            </a:pPr>
            <a:r>
              <a:rPr sz="1550" dirty="0">
                <a:latin typeface="微软雅黑" panose="020B0503020204020204" charset="-122"/>
                <a:cs typeface="微软雅黑" panose="020B0503020204020204" charset="-122"/>
              </a:rPr>
              <a:t>在机器人行业和航空领域中，</a:t>
            </a:r>
            <a:r>
              <a:rPr sz="1550" dirty="0">
                <a:latin typeface="Calibri" panose="020F0502020204030204"/>
                <a:cs typeface="Calibri" panose="020F0502020204030204"/>
              </a:rPr>
              <a:t>Pitch</a:t>
            </a:r>
            <a:r>
              <a:rPr sz="1550" dirty="0">
                <a:latin typeface="微软雅黑" panose="020B0503020204020204" charset="-122"/>
                <a:cs typeface="微软雅黑" panose="020B0503020204020204" charset="-122"/>
              </a:rPr>
              <a:t>、</a:t>
            </a:r>
            <a:r>
              <a:rPr sz="1550" spc="-40" dirty="0">
                <a:latin typeface="Calibri" panose="020F0502020204030204"/>
                <a:cs typeface="Calibri" panose="020F0502020204030204"/>
              </a:rPr>
              <a:t>Yaw</a:t>
            </a:r>
            <a:r>
              <a:rPr sz="1550" dirty="0">
                <a:latin typeface="微软雅黑" panose="020B0503020204020204" charset="-122"/>
                <a:cs typeface="微软雅黑" panose="020B0503020204020204" charset="-122"/>
              </a:rPr>
              <a:t>、</a:t>
            </a:r>
            <a:r>
              <a:rPr sz="1550" spc="-10" dirty="0">
                <a:latin typeface="Calibri" panose="020F0502020204030204"/>
                <a:cs typeface="Calibri" panose="020F0502020204030204"/>
              </a:rPr>
              <a:t>Roll</a:t>
            </a:r>
            <a:r>
              <a:rPr sz="1550" spc="-5" dirty="0">
                <a:latin typeface="微软雅黑" panose="020B0503020204020204" charset="-122"/>
                <a:cs typeface="微软雅黑" panose="020B0503020204020204" charset="-122"/>
              </a:rPr>
              <a:t>是描述物体在三维空间中姿态的三个欧拉角。这些角度反映了物体相对于基准面的定向变化。</a:t>
            </a:r>
            <a:endParaRPr sz="1550">
              <a:latin typeface="微软雅黑" panose="020B0503020204020204" charset="-122"/>
              <a:cs typeface="微软雅黑" panose="020B0503020204020204"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1" cstate="print"/>
          <a:stretch>
            <a:fillRect/>
          </a:stretch>
        </p:blipFill>
        <p:spPr>
          <a:xfrm>
            <a:off x="0" y="772668"/>
            <a:ext cx="10692384" cy="1072895"/>
          </a:xfrm>
          <a:prstGeom prst="rect">
            <a:avLst/>
          </a:prstGeom>
        </p:spPr>
      </p:pic>
      <p:sp>
        <p:nvSpPr>
          <p:cNvPr id="3" name="object 3"/>
          <p:cNvSpPr txBox="1">
            <a:spLocks noGrp="1"/>
          </p:cNvSpPr>
          <p:nvPr>
            <p:ph type="title"/>
          </p:nvPr>
        </p:nvSpPr>
        <p:spPr>
          <a:xfrm>
            <a:off x="504012" y="2197128"/>
            <a:ext cx="1316355" cy="559435"/>
          </a:xfrm>
          <a:prstGeom prst="rect">
            <a:avLst/>
          </a:prstGeom>
        </p:spPr>
        <p:txBody>
          <a:bodyPr vert="horz" wrap="square" lIns="0" tIns="12700" rIns="0" bIns="0" rtlCol="0">
            <a:spAutoFit/>
          </a:bodyPr>
          <a:lstStyle/>
          <a:p>
            <a:pPr marL="12700">
              <a:lnSpc>
                <a:spcPct val="100000"/>
              </a:lnSpc>
              <a:spcBef>
                <a:spcPts val="100"/>
              </a:spcBef>
            </a:pPr>
            <a:r>
              <a:rPr sz="3500" spc="-25" dirty="0"/>
              <a:t>2</a:t>
            </a:r>
            <a:r>
              <a:rPr sz="3500" spc="-30" dirty="0"/>
              <a:t>.轴承</a:t>
            </a:r>
            <a:endParaRPr sz="3500"/>
          </a:p>
        </p:txBody>
      </p:sp>
      <p:pic>
        <p:nvPicPr>
          <p:cNvPr id="4" name="object 4"/>
          <p:cNvPicPr/>
          <p:nvPr/>
        </p:nvPicPr>
        <p:blipFill>
          <a:blip r:embed="rId2" cstate="print"/>
          <a:stretch>
            <a:fillRect/>
          </a:stretch>
        </p:blipFill>
        <p:spPr>
          <a:xfrm>
            <a:off x="6297167" y="3467100"/>
            <a:ext cx="4113275" cy="3087623"/>
          </a:xfrm>
          <a:prstGeom prst="rect">
            <a:avLst/>
          </a:prstGeom>
        </p:spPr>
      </p:pic>
      <p:sp>
        <p:nvSpPr>
          <p:cNvPr id="5" name="object 5"/>
          <p:cNvSpPr txBox="1"/>
          <p:nvPr/>
        </p:nvSpPr>
        <p:spPr>
          <a:xfrm>
            <a:off x="3728639" y="2599412"/>
            <a:ext cx="3235325" cy="1199515"/>
          </a:xfrm>
          <a:prstGeom prst="rect">
            <a:avLst/>
          </a:prstGeom>
        </p:spPr>
        <p:txBody>
          <a:bodyPr vert="horz" wrap="square" lIns="0" tIns="13335" rIns="0" bIns="0" rtlCol="0">
            <a:spAutoFit/>
          </a:bodyPr>
          <a:lstStyle/>
          <a:p>
            <a:pPr algn="ctr">
              <a:lnSpc>
                <a:spcPct val="100000"/>
              </a:lnSpc>
              <a:spcBef>
                <a:spcPts val="105"/>
              </a:spcBef>
            </a:pPr>
            <a:r>
              <a:rPr sz="2800" b="1" spc="-10" dirty="0">
                <a:latin typeface="微软雅黑" panose="020B0503020204020204" charset="-122"/>
                <a:cs typeface="微软雅黑" panose="020B0503020204020204" charset="-122"/>
              </a:rPr>
              <a:t>为什么要放置轴承？</a:t>
            </a:r>
            <a:endParaRPr sz="2800">
              <a:latin typeface="微软雅黑" panose="020B0503020204020204" charset="-122"/>
              <a:cs typeface="微软雅黑" panose="020B0503020204020204" charset="-122"/>
            </a:endParaRPr>
          </a:p>
          <a:p>
            <a:pPr algn="ctr">
              <a:lnSpc>
                <a:spcPct val="100000"/>
              </a:lnSpc>
              <a:spcBef>
                <a:spcPts val="2930"/>
              </a:spcBef>
            </a:pPr>
            <a:r>
              <a:rPr sz="2450" b="1" dirty="0">
                <a:latin typeface="微软雅黑" panose="020B0503020204020204" charset="-122"/>
                <a:cs typeface="微软雅黑" panose="020B0503020204020204" charset="-122"/>
              </a:rPr>
              <a:t>需求</a:t>
            </a:r>
            <a:r>
              <a:rPr sz="1750" spc="-5" dirty="0">
                <a:latin typeface="微软雅黑" panose="020B0503020204020204" charset="-122"/>
                <a:cs typeface="微软雅黑" panose="020B0503020204020204" charset="-122"/>
              </a:rPr>
              <a:t>决定</a:t>
            </a:r>
            <a:r>
              <a:rPr sz="2450" b="1" spc="-25" dirty="0">
                <a:latin typeface="微软雅黑" panose="020B0503020204020204" charset="-122"/>
                <a:cs typeface="微软雅黑" panose="020B0503020204020204" charset="-122"/>
              </a:rPr>
              <a:t>设计</a:t>
            </a:r>
            <a:endParaRPr sz="2450">
              <a:latin typeface="微软雅黑" panose="020B0503020204020204" charset="-122"/>
              <a:cs typeface="微软雅黑" panose="020B0503020204020204" charset="-122"/>
            </a:endParaRPr>
          </a:p>
        </p:txBody>
      </p:sp>
      <p:sp>
        <p:nvSpPr>
          <p:cNvPr id="6" name="object 6"/>
          <p:cNvSpPr txBox="1"/>
          <p:nvPr/>
        </p:nvSpPr>
        <p:spPr>
          <a:xfrm>
            <a:off x="1768831" y="4204158"/>
            <a:ext cx="4008120" cy="1583690"/>
          </a:xfrm>
          <a:prstGeom prst="rect">
            <a:avLst/>
          </a:prstGeom>
        </p:spPr>
        <p:txBody>
          <a:bodyPr vert="horz" wrap="square" lIns="0" tIns="16510" rIns="0" bIns="0" rtlCol="0">
            <a:spAutoFit/>
          </a:bodyPr>
          <a:lstStyle/>
          <a:p>
            <a:pPr marL="12700">
              <a:lnSpc>
                <a:spcPct val="100000"/>
              </a:lnSpc>
              <a:spcBef>
                <a:spcPts val="130"/>
              </a:spcBef>
            </a:pPr>
            <a:r>
              <a:rPr sz="1550" spc="-5" dirty="0">
                <a:latin typeface="微软雅黑" panose="020B0503020204020204" charset="-122"/>
                <a:cs typeface="微软雅黑" panose="020B0503020204020204" charset="-122"/>
              </a:rPr>
              <a:t>设计轴类零件的基本需求：</a:t>
            </a:r>
            <a:endParaRPr sz="1550">
              <a:latin typeface="微软雅黑" panose="020B0503020204020204" charset="-122"/>
              <a:cs typeface="微软雅黑" panose="020B0503020204020204" charset="-122"/>
            </a:endParaRPr>
          </a:p>
          <a:p>
            <a:pPr marL="982345" indent="-248920">
              <a:lnSpc>
                <a:spcPct val="100000"/>
              </a:lnSpc>
              <a:spcBef>
                <a:spcPts val="1670"/>
              </a:spcBef>
              <a:buFont typeface="Wingdings" panose="05000000000000000000"/>
              <a:buChar char=""/>
              <a:tabLst>
                <a:tab pos="981710" algn="l"/>
              </a:tabLst>
            </a:pPr>
            <a:r>
              <a:rPr sz="1550" spc="-10" dirty="0">
                <a:latin typeface="微软雅黑" panose="020B0503020204020204" charset="-122"/>
                <a:cs typeface="微软雅黑" panose="020B0503020204020204" charset="-122"/>
              </a:rPr>
              <a:t>轴需要固定轴向位置</a:t>
            </a:r>
            <a:endParaRPr sz="1550">
              <a:latin typeface="微软雅黑" panose="020B0503020204020204" charset="-122"/>
              <a:cs typeface="微软雅黑" panose="020B0503020204020204" charset="-122"/>
            </a:endParaRPr>
          </a:p>
          <a:p>
            <a:pPr marL="982345" indent="-248920">
              <a:lnSpc>
                <a:spcPct val="100000"/>
              </a:lnSpc>
              <a:spcBef>
                <a:spcPts val="420"/>
              </a:spcBef>
              <a:buFont typeface="Wingdings" panose="05000000000000000000"/>
              <a:buChar char=""/>
              <a:tabLst>
                <a:tab pos="981710" algn="l"/>
              </a:tabLst>
            </a:pPr>
            <a:r>
              <a:rPr sz="1550" spc="-10" dirty="0">
                <a:latin typeface="微软雅黑" panose="020B0503020204020204" charset="-122"/>
                <a:cs typeface="微软雅黑" panose="020B0503020204020204" charset="-122"/>
              </a:rPr>
              <a:t>轴需要固定径向位置</a:t>
            </a:r>
            <a:endParaRPr sz="1550">
              <a:latin typeface="微软雅黑" panose="020B0503020204020204" charset="-122"/>
              <a:cs typeface="微软雅黑" panose="020B0503020204020204" charset="-122"/>
            </a:endParaRPr>
          </a:p>
          <a:p>
            <a:pPr marL="981710" marR="5080" indent="-248920">
              <a:lnSpc>
                <a:spcPct val="123000"/>
              </a:lnSpc>
              <a:buFont typeface="Wingdings" panose="05000000000000000000"/>
              <a:buChar char=""/>
              <a:tabLst>
                <a:tab pos="982980" algn="l"/>
              </a:tabLst>
            </a:pPr>
            <a:r>
              <a:rPr sz="1550" spc="-5" dirty="0">
                <a:latin typeface="微软雅黑" panose="020B0503020204020204" charset="-122"/>
                <a:cs typeface="微软雅黑" panose="020B0503020204020204" charset="-122"/>
              </a:rPr>
              <a:t>固定的同时还需要旋转，如何降低	相对转动导致的磨损？</a:t>
            </a:r>
            <a:endParaRPr sz="1550">
              <a:latin typeface="微软雅黑" panose="020B0503020204020204" charset="-122"/>
              <a:cs typeface="微软雅黑" panose="020B0503020204020204"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1" cstate="print"/>
          <a:stretch>
            <a:fillRect/>
          </a:stretch>
        </p:blipFill>
        <p:spPr>
          <a:xfrm>
            <a:off x="0" y="772668"/>
            <a:ext cx="10692384" cy="1072895"/>
          </a:xfrm>
          <a:prstGeom prst="rect">
            <a:avLst/>
          </a:prstGeom>
        </p:spPr>
      </p:pic>
      <p:sp>
        <p:nvSpPr>
          <p:cNvPr id="3" name="object 3"/>
          <p:cNvSpPr txBox="1"/>
          <p:nvPr/>
        </p:nvSpPr>
        <p:spPr>
          <a:xfrm>
            <a:off x="2318997" y="2795985"/>
            <a:ext cx="3492500" cy="747395"/>
          </a:xfrm>
          <a:prstGeom prst="rect">
            <a:avLst/>
          </a:prstGeom>
        </p:spPr>
        <p:txBody>
          <a:bodyPr vert="horz" wrap="square" lIns="0" tIns="13335" rIns="0" bIns="0" rtlCol="0">
            <a:spAutoFit/>
          </a:bodyPr>
          <a:lstStyle/>
          <a:p>
            <a:pPr marL="12700" marR="5080" algn="just">
              <a:lnSpc>
                <a:spcPct val="102000"/>
              </a:lnSpc>
              <a:spcBef>
                <a:spcPts val="105"/>
              </a:spcBef>
            </a:pPr>
            <a:r>
              <a:rPr sz="1550" dirty="0">
                <a:latin typeface="微软雅黑" panose="020B0503020204020204" charset="-122"/>
                <a:cs typeface="微软雅黑" panose="020B0503020204020204" charset="-122"/>
              </a:rPr>
              <a:t>轴承的结构</a:t>
            </a:r>
            <a:r>
              <a:rPr sz="1550" dirty="0">
                <a:latin typeface="Calibri" panose="020F0502020204030204"/>
                <a:cs typeface="Calibri" panose="020F0502020204030204"/>
              </a:rPr>
              <a:t>:</a:t>
            </a:r>
            <a:r>
              <a:rPr sz="1550" dirty="0">
                <a:latin typeface="微软雅黑" panose="020B0503020204020204" charset="-122"/>
                <a:cs typeface="微软雅黑" panose="020B0503020204020204" charset="-122"/>
              </a:rPr>
              <a:t>滚动轴承的结构一般包括</a:t>
            </a:r>
            <a:r>
              <a:rPr sz="1550" b="1" spc="-50" dirty="0">
                <a:latin typeface="微软雅黑" panose="020B0503020204020204" charset="-122"/>
                <a:cs typeface="微软雅黑" panose="020B0503020204020204" charset="-122"/>
              </a:rPr>
              <a:t>外 </a:t>
            </a:r>
            <a:r>
              <a:rPr sz="1550" b="1" spc="-10" dirty="0">
                <a:latin typeface="Calibri" panose="020F0502020204030204"/>
                <a:cs typeface="Calibri" panose="020F0502020204030204"/>
              </a:rPr>
              <a:t>(</a:t>
            </a:r>
            <a:r>
              <a:rPr sz="1550" b="1" dirty="0">
                <a:latin typeface="微软雅黑" panose="020B0503020204020204" charset="-122"/>
                <a:cs typeface="微软雅黑" panose="020B0503020204020204" charset="-122"/>
              </a:rPr>
              <a:t>上</a:t>
            </a:r>
            <a:r>
              <a:rPr sz="1550" b="1" spc="-10" dirty="0">
                <a:latin typeface="Calibri" panose="020F0502020204030204"/>
                <a:cs typeface="Calibri" panose="020F0502020204030204"/>
              </a:rPr>
              <a:t>)</a:t>
            </a:r>
            <a:r>
              <a:rPr sz="1550" b="1" dirty="0">
                <a:latin typeface="微软雅黑" panose="020B0503020204020204" charset="-122"/>
                <a:cs typeface="微软雅黑" panose="020B0503020204020204" charset="-122"/>
              </a:rPr>
              <a:t>圈</a:t>
            </a:r>
            <a:r>
              <a:rPr sz="1550" dirty="0">
                <a:latin typeface="微软雅黑" panose="020B0503020204020204" charset="-122"/>
                <a:cs typeface="微软雅黑" panose="020B0503020204020204" charset="-122"/>
              </a:rPr>
              <a:t>、</a:t>
            </a:r>
            <a:r>
              <a:rPr sz="1550" b="1" dirty="0">
                <a:latin typeface="微软雅黑" panose="020B0503020204020204" charset="-122"/>
                <a:cs typeface="微软雅黑" panose="020B0503020204020204" charset="-122"/>
              </a:rPr>
              <a:t>内</a:t>
            </a:r>
            <a:r>
              <a:rPr sz="1550" b="1" spc="-10" dirty="0">
                <a:latin typeface="Calibri" panose="020F0502020204030204"/>
                <a:cs typeface="Calibri" panose="020F0502020204030204"/>
              </a:rPr>
              <a:t>(</a:t>
            </a:r>
            <a:r>
              <a:rPr sz="1550" b="1" dirty="0">
                <a:latin typeface="微软雅黑" panose="020B0503020204020204" charset="-122"/>
                <a:cs typeface="微软雅黑" panose="020B0503020204020204" charset="-122"/>
              </a:rPr>
              <a:t>下</a:t>
            </a:r>
            <a:r>
              <a:rPr sz="1550" b="1" spc="-10" dirty="0">
                <a:latin typeface="Calibri" panose="020F0502020204030204"/>
                <a:cs typeface="Calibri" panose="020F0502020204030204"/>
              </a:rPr>
              <a:t>)</a:t>
            </a:r>
            <a:r>
              <a:rPr sz="1550" b="1" dirty="0">
                <a:latin typeface="微软雅黑" panose="020B0503020204020204" charset="-122"/>
                <a:cs typeface="微软雅黑" panose="020B0503020204020204" charset="-122"/>
              </a:rPr>
              <a:t>圈</a:t>
            </a:r>
            <a:r>
              <a:rPr sz="1550" dirty="0">
                <a:latin typeface="微软雅黑" panose="020B0503020204020204" charset="-122"/>
                <a:cs typeface="微软雅黑" panose="020B0503020204020204" charset="-122"/>
              </a:rPr>
              <a:t>、</a:t>
            </a:r>
            <a:r>
              <a:rPr sz="1550" b="1" dirty="0">
                <a:latin typeface="微软雅黑" panose="020B0503020204020204" charset="-122"/>
                <a:cs typeface="微软雅黑" panose="020B0503020204020204" charset="-122"/>
              </a:rPr>
              <a:t>滚动体</a:t>
            </a:r>
            <a:r>
              <a:rPr sz="1550" dirty="0">
                <a:latin typeface="微软雅黑" panose="020B0503020204020204" charset="-122"/>
                <a:cs typeface="微软雅黑" panose="020B0503020204020204" charset="-122"/>
              </a:rPr>
              <a:t>和</a:t>
            </a:r>
            <a:r>
              <a:rPr sz="1550" b="1" dirty="0">
                <a:latin typeface="微软雅黑" panose="020B0503020204020204" charset="-122"/>
                <a:cs typeface="微软雅黑" panose="020B0503020204020204" charset="-122"/>
              </a:rPr>
              <a:t>保持架</a:t>
            </a:r>
            <a:r>
              <a:rPr sz="1550" spc="-25" dirty="0">
                <a:latin typeface="微软雅黑" panose="020B0503020204020204" charset="-122"/>
                <a:cs typeface="微软雅黑" panose="020B0503020204020204" charset="-122"/>
              </a:rPr>
              <a:t>四部</a:t>
            </a:r>
            <a:r>
              <a:rPr sz="1550" dirty="0">
                <a:latin typeface="微软雅黑" panose="020B0503020204020204" charset="-122"/>
                <a:cs typeface="微软雅黑" panose="020B0503020204020204" charset="-122"/>
              </a:rPr>
              <a:t>分组成</a:t>
            </a:r>
            <a:r>
              <a:rPr sz="1550" dirty="0">
                <a:latin typeface="Calibri" panose="020F0502020204030204"/>
                <a:cs typeface="Calibri" panose="020F0502020204030204"/>
              </a:rPr>
              <a:t>,</a:t>
            </a:r>
            <a:r>
              <a:rPr sz="1550" spc="-5" dirty="0">
                <a:latin typeface="微软雅黑" panose="020B0503020204020204" charset="-122"/>
                <a:cs typeface="微软雅黑" panose="020B0503020204020204" charset="-122"/>
              </a:rPr>
              <a:t>其中转动体有球体和转子两种。</a:t>
            </a:r>
            <a:endParaRPr sz="1550">
              <a:latin typeface="微软雅黑" panose="020B0503020204020204" charset="-122"/>
              <a:cs typeface="微软雅黑" panose="020B0503020204020204" charset="-122"/>
            </a:endParaRPr>
          </a:p>
        </p:txBody>
      </p:sp>
      <p:pic>
        <p:nvPicPr>
          <p:cNvPr id="4" name="object 4"/>
          <p:cNvPicPr/>
          <p:nvPr/>
        </p:nvPicPr>
        <p:blipFill>
          <a:blip r:embed="rId2" cstate="print"/>
          <a:stretch>
            <a:fillRect/>
          </a:stretch>
        </p:blipFill>
        <p:spPr>
          <a:xfrm>
            <a:off x="3508247" y="4027932"/>
            <a:ext cx="6908291" cy="2634996"/>
          </a:xfrm>
          <a:prstGeom prst="rect">
            <a:avLst/>
          </a:prstGeom>
        </p:spPr>
      </p:pic>
      <p:sp>
        <p:nvSpPr>
          <p:cNvPr id="5" name="object 5"/>
          <p:cNvSpPr txBox="1"/>
          <p:nvPr/>
        </p:nvSpPr>
        <p:spPr>
          <a:xfrm>
            <a:off x="1031249" y="4106619"/>
            <a:ext cx="1859280" cy="2190750"/>
          </a:xfrm>
          <a:prstGeom prst="rect">
            <a:avLst/>
          </a:prstGeom>
        </p:spPr>
        <p:txBody>
          <a:bodyPr vert="horz" wrap="square" lIns="0" tIns="16510" rIns="0" bIns="0" rtlCol="0">
            <a:spAutoFit/>
          </a:bodyPr>
          <a:lstStyle/>
          <a:p>
            <a:pPr marL="12700">
              <a:lnSpc>
                <a:spcPct val="100000"/>
              </a:lnSpc>
              <a:spcBef>
                <a:spcPts val="130"/>
              </a:spcBef>
            </a:pPr>
            <a:r>
              <a:rPr sz="1550" spc="-10" dirty="0">
                <a:latin typeface="微软雅黑" panose="020B0503020204020204" charset="-122"/>
                <a:cs typeface="微软雅黑" panose="020B0503020204020204" charset="-122"/>
              </a:rPr>
              <a:t>轴承的分类：</a:t>
            </a:r>
            <a:endParaRPr sz="1550">
              <a:latin typeface="微软雅黑" panose="020B0503020204020204" charset="-122"/>
              <a:cs typeface="微软雅黑" panose="020B0503020204020204" charset="-122"/>
            </a:endParaRPr>
          </a:p>
          <a:p>
            <a:pPr marL="12700" marR="5080" indent="222885">
              <a:lnSpc>
                <a:spcPct val="101000"/>
              </a:lnSpc>
              <a:spcBef>
                <a:spcPts val="15"/>
              </a:spcBef>
              <a:buSzPct val="94000"/>
              <a:buFont typeface="Calibri" panose="020F0502020204030204"/>
              <a:buAutoNum type="arabicParenBoth"/>
              <a:tabLst>
                <a:tab pos="235585" algn="l"/>
              </a:tabLst>
            </a:pPr>
            <a:r>
              <a:rPr sz="1550" spc="-10" dirty="0">
                <a:latin typeface="微软雅黑" panose="020B0503020204020204" charset="-122"/>
                <a:cs typeface="微软雅黑" panose="020B0503020204020204" charset="-122"/>
              </a:rPr>
              <a:t>按滚动体分为球轴</a:t>
            </a:r>
            <a:r>
              <a:rPr sz="1550" dirty="0">
                <a:latin typeface="微软雅黑" panose="020B0503020204020204" charset="-122"/>
                <a:cs typeface="微软雅黑" panose="020B0503020204020204" charset="-122"/>
              </a:rPr>
              <a:t>承和滚子轴承</a:t>
            </a:r>
            <a:r>
              <a:rPr sz="1550" spc="-50" dirty="0">
                <a:latin typeface="Calibri" panose="020F0502020204030204"/>
                <a:cs typeface="Calibri" panose="020F0502020204030204"/>
              </a:rPr>
              <a:t>;</a:t>
            </a:r>
            <a:endParaRPr sz="1550">
              <a:latin typeface="Calibri" panose="020F0502020204030204"/>
              <a:cs typeface="Calibri" panose="020F0502020204030204"/>
            </a:endParaRPr>
          </a:p>
          <a:p>
            <a:pPr marL="12700" marR="5080" indent="222885" algn="just">
              <a:lnSpc>
                <a:spcPct val="102000"/>
              </a:lnSpc>
              <a:buSzPct val="94000"/>
              <a:buFont typeface="Calibri" panose="020F0502020204030204"/>
              <a:buAutoNum type="arabicParenBoth"/>
              <a:tabLst>
                <a:tab pos="235585" algn="l"/>
              </a:tabLst>
            </a:pPr>
            <a:r>
              <a:rPr sz="1550" spc="-10" dirty="0">
                <a:latin typeface="微软雅黑" panose="020B0503020204020204" charset="-122"/>
                <a:cs typeface="微软雅黑" panose="020B0503020204020204" charset="-122"/>
              </a:rPr>
              <a:t>按滚动体排列方式分为单列轴承和双列</a:t>
            </a:r>
            <a:r>
              <a:rPr sz="1550" dirty="0">
                <a:latin typeface="微软雅黑" panose="020B0503020204020204" charset="-122"/>
                <a:cs typeface="微软雅黑" panose="020B0503020204020204" charset="-122"/>
              </a:rPr>
              <a:t>轴承</a:t>
            </a:r>
            <a:r>
              <a:rPr sz="1550" spc="-50" dirty="0">
                <a:latin typeface="Calibri" panose="020F0502020204030204"/>
                <a:cs typeface="Calibri" panose="020F0502020204030204"/>
              </a:rPr>
              <a:t>;</a:t>
            </a:r>
            <a:endParaRPr sz="1550">
              <a:latin typeface="Calibri" panose="020F0502020204030204"/>
              <a:cs typeface="Calibri" panose="020F0502020204030204"/>
            </a:endParaRPr>
          </a:p>
          <a:p>
            <a:pPr marL="12700" marR="5080" indent="222885" algn="just">
              <a:lnSpc>
                <a:spcPct val="102000"/>
              </a:lnSpc>
              <a:spcBef>
                <a:spcPts val="5"/>
              </a:spcBef>
              <a:buSzPct val="94000"/>
              <a:buFont typeface="Calibri" panose="020F0502020204030204"/>
              <a:buAutoNum type="arabicParenBoth"/>
              <a:tabLst>
                <a:tab pos="235585" algn="l"/>
              </a:tabLst>
            </a:pPr>
            <a:r>
              <a:rPr sz="1550" spc="-10" dirty="0">
                <a:latin typeface="微软雅黑" panose="020B0503020204020204" charset="-122"/>
                <a:cs typeface="微软雅黑" panose="020B0503020204020204" charset="-122"/>
              </a:rPr>
              <a:t>按承受载荷方向分为同心轴承、推力轴承和圆锥滚子轴承。</a:t>
            </a:r>
            <a:endParaRPr sz="1550">
              <a:latin typeface="微软雅黑" panose="020B0503020204020204" charset="-122"/>
              <a:cs typeface="微软雅黑" panose="020B0503020204020204" charset="-122"/>
            </a:endParaRPr>
          </a:p>
        </p:txBody>
      </p:sp>
      <p:sp>
        <p:nvSpPr>
          <p:cNvPr id="6" name="object 6"/>
          <p:cNvSpPr txBox="1"/>
          <p:nvPr/>
        </p:nvSpPr>
        <p:spPr>
          <a:xfrm>
            <a:off x="6334811" y="2151423"/>
            <a:ext cx="3238500" cy="1707514"/>
          </a:xfrm>
          <a:prstGeom prst="rect">
            <a:avLst/>
          </a:prstGeom>
        </p:spPr>
        <p:txBody>
          <a:bodyPr vert="horz" wrap="square" lIns="0" tIns="13335" rIns="0" bIns="0" rtlCol="0">
            <a:spAutoFit/>
          </a:bodyPr>
          <a:lstStyle/>
          <a:p>
            <a:pPr marL="12700" marR="5080" algn="just">
              <a:lnSpc>
                <a:spcPct val="102000"/>
              </a:lnSpc>
              <a:spcBef>
                <a:spcPts val="105"/>
              </a:spcBef>
            </a:pPr>
            <a:r>
              <a:rPr sz="1550" spc="-5" dirty="0">
                <a:latin typeface="微软雅黑" panose="020B0503020204020204" charset="-122"/>
                <a:cs typeface="微软雅黑" panose="020B0503020204020204" charset="-122"/>
              </a:rPr>
              <a:t>注意：分清楚轴向和径向载荷，轴承的内圈与外圈轴向载荷和径向载荷决定了你要使用的轴承类型，在使用过程中，轴承的内圈和外圈的相互独立的，所以要设计轴承座去分别压住内圈的外圈，如果同一个面压住了内外两圈那么轴承就失效了。</a:t>
            </a:r>
            <a:endParaRPr sz="1550">
              <a:latin typeface="微软雅黑" panose="020B0503020204020204" charset="-122"/>
              <a:cs typeface="微软雅黑" panose="020B0503020204020204" charset="-122"/>
            </a:endParaRPr>
          </a:p>
        </p:txBody>
      </p:sp>
      <p:sp>
        <p:nvSpPr>
          <p:cNvPr id="7" name="object 7"/>
          <p:cNvSpPr txBox="1">
            <a:spLocks noGrp="1"/>
          </p:cNvSpPr>
          <p:nvPr>
            <p:ph type="title"/>
          </p:nvPr>
        </p:nvSpPr>
        <p:spPr>
          <a:xfrm>
            <a:off x="504012" y="2198648"/>
            <a:ext cx="1316355" cy="559435"/>
          </a:xfrm>
          <a:prstGeom prst="rect">
            <a:avLst/>
          </a:prstGeom>
        </p:spPr>
        <p:txBody>
          <a:bodyPr vert="horz" wrap="square" lIns="0" tIns="12700" rIns="0" bIns="0" rtlCol="0">
            <a:spAutoFit/>
          </a:bodyPr>
          <a:lstStyle/>
          <a:p>
            <a:pPr marL="12700">
              <a:lnSpc>
                <a:spcPct val="100000"/>
              </a:lnSpc>
              <a:spcBef>
                <a:spcPts val="100"/>
              </a:spcBef>
            </a:pPr>
            <a:r>
              <a:rPr sz="3500" spc="-25" dirty="0"/>
              <a:t>2</a:t>
            </a:r>
            <a:r>
              <a:rPr sz="3500" spc="-30" dirty="0"/>
              <a:t>.轴承</a:t>
            </a:r>
            <a:endParaRPr sz="35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1" cstate="print"/>
          <a:stretch>
            <a:fillRect/>
          </a:stretch>
        </p:blipFill>
        <p:spPr>
          <a:xfrm>
            <a:off x="0" y="772668"/>
            <a:ext cx="10692384" cy="1072895"/>
          </a:xfrm>
          <a:prstGeom prst="rect">
            <a:avLst/>
          </a:prstGeom>
        </p:spPr>
      </p:pic>
      <p:sp>
        <p:nvSpPr>
          <p:cNvPr id="3" name="object 3"/>
          <p:cNvSpPr txBox="1">
            <a:spLocks noGrp="1"/>
          </p:cNvSpPr>
          <p:nvPr>
            <p:ph type="title"/>
          </p:nvPr>
        </p:nvSpPr>
        <p:spPr>
          <a:xfrm>
            <a:off x="504012" y="2197128"/>
            <a:ext cx="3553460" cy="559435"/>
          </a:xfrm>
          <a:prstGeom prst="rect">
            <a:avLst/>
          </a:prstGeom>
        </p:spPr>
        <p:txBody>
          <a:bodyPr vert="horz" wrap="square" lIns="0" tIns="12700" rIns="0" bIns="0" rtlCol="0">
            <a:spAutoFit/>
          </a:bodyPr>
          <a:lstStyle/>
          <a:p>
            <a:pPr marL="12700">
              <a:lnSpc>
                <a:spcPct val="100000"/>
              </a:lnSpc>
              <a:spcBef>
                <a:spcPts val="100"/>
              </a:spcBef>
            </a:pPr>
            <a:r>
              <a:rPr sz="3500" spc="-25" dirty="0"/>
              <a:t>2</a:t>
            </a:r>
            <a:r>
              <a:rPr sz="3500" spc="-10" dirty="0"/>
              <a:t>.轴承</a:t>
            </a:r>
            <a:r>
              <a:rPr spc="-20" dirty="0"/>
              <a:t>——深沟球轴承</a:t>
            </a:r>
            <a:endParaRPr sz="3500"/>
          </a:p>
        </p:txBody>
      </p:sp>
      <p:pic>
        <p:nvPicPr>
          <p:cNvPr id="4" name="object 4"/>
          <p:cNvPicPr/>
          <p:nvPr/>
        </p:nvPicPr>
        <p:blipFill>
          <a:blip r:embed="rId2" cstate="print"/>
          <a:stretch>
            <a:fillRect/>
          </a:stretch>
        </p:blipFill>
        <p:spPr>
          <a:xfrm>
            <a:off x="4373879" y="2077212"/>
            <a:ext cx="2433827" cy="2462783"/>
          </a:xfrm>
          <a:prstGeom prst="rect">
            <a:avLst/>
          </a:prstGeom>
        </p:spPr>
      </p:pic>
      <p:pic>
        <p:nvPicPr>
          <p:cNvPr id="5" name="object 5"/>
          <p:cNvPicPr/>
          <p:nvPr/>
        </p:nvPicPr>
        <p:blipFill>
          <a:blip r:embed="rId3" cstate="print"/>
          <a:stretch>
            <a:fillRect/>
          </a:stretch>
        </p:blipFill>
        <p:spPr>
          <a:xfrm>
            <a:off x="7152132" y="2272283"/>
            <a:ext cx="2980943" cy="2462783"/>
          </a:xfrm>
          <a:prstGeom prst="rect">
            <a:avLst/>
          </a:prstGeom>
        </p:spPr>
      </p:pic>
      <p:pic>
        <p:nvPicPr>
          <p:cNvPr id="6" name="object 6"/>
          <p:cNvPicPr/>
          <p:nvPr/>
        </p:nvPicPr>
        <p:blipFill>
          <a:blip r:embed="rId4" cstate="print"/>
          <a:stretch>
            <a:fillRect/>
          </a:stretch>
        </p:blipFill>
        <p:spPr>
          <a:xfrm>
            <a:off x="4244340" y="4674108"/>
            <a:ext cx="1937003" cy="1947671"/>
          </a:xfrm>
          <a:prstGeom prst="rect">
            <a:avLst/>
          </a:prstGeom>
        </p:spPr>
      </p:pic>
      <p:sp>
        <p:nvSpPr>
          <p:cNvPr id="7" name="object 7"/>
          <p:cNvSpPr txBox="1"/>
          <p:nvPr/>
        </p:nvSpPr>
        <p:spPr>
          <a:xfrm>
            <a:off x="953552" y="3521485"/>
            <a:ext cx="1633220" cy="504825"/>
          </a:xfrm>
          <a:prstGeom prst="rect">
            <a:avLst/>
          </a:prstGeom>
        </p:spPr>
        <p:txBody>
          <a:bodyPr vert="horz" wrap="square" lIns="0" tIns="15240" rIns="0" bIns="0" rtlCol="0">
            <a:spAutoFit/>
          </a:bodyPr>
          <a:lstStyle/>
          <a:p>
            <a:pPr marL="12700" marR="5080">
              <a:lnSpc>
                <a:spcPct val="101000"/>
              </a:lnSpc>
              <a:spcBef>
                <a:spcPts val="120"/>
              </a:spcBef>
            </a:pPr>
            <a:r>
              <a:rPr sz="1550" spc="-10" dirty="0">
                <a:latin typeface="微软雅黑" panose="020B0503020204020204" charset="-122"/>
                <a:cs typeface="微软雅黑" panose="020B0503020204020204" charset="-122"/>
              </a:rPr>
              <a:t>最常用的轴承，主</a:t>
            </a:r>
            <a:r>
              <a:rPr sz="1550" dirty="0">
                <a:latin typeface="微软雅黑" panose="020B0503020204020204" charset="-122"/>
                <a:cs typeface="微软雅黑" panose="020B0503020204020204" charset="-122"/>
              </a:rPr>
              <a:t>要承受</a:t>
            </a:r>
            <a:r>
              <a:rPr sz="1550" b="1" spc="-15" dirty="0">
                <a:latin typeface="微软雅黑" panose="020B0503020204020204" charset="-122"/>
                <a:cs typeface="微软雅黑" panose="020B0503020204020204" charset="-122"/>
              </a:rPr>
              <a:t>径向载荷</a:t>
            </a:r>
            <a:endParaRPr sz="1550">
              <a:latin typeface="微软雅黑" panose="020B0503020204020204" charset="-122"/>
              <a:cs typeface="微软雅黑" panose="020B0503020204020204" charset="-122"/>
            </a:endParaRPr>
          </a:p>
        </p:txBody>
      </p:sp>
      <p:sp>
        <p:nvSpPr>
          <p:cNvPr id="8" name="object 8"/>
          <p:cNvSpPr txBox="1"/>
          <p:nvPr/>
        </p:nvSpPr>
        <p:spPr>
          <a:xfrm>
            <a:off x="7444277" y="5176501"/>
            <a:ext cx="1633220" cy="984885"/>
          </a:xfrm>
          <a:prstGeom prst="rect">
            <a:avLst/>
          </a:prstGeom>
        </p:spPr>
        <p:txBody>
          <a:bodyPr vert="horz" wrap="square" lIns="0" tIns="13970" rIns="0" bIns="0" rtlCol="0">
            <a:spAutoFit/>
          </a:bodyPr>
          <a:lstStyle/>
          <a:p>
            <a:pPr marL="12700" marR="5080" algn="just">
              <a:lnSpc>
                <a:spcPct val="101000"/>
              </a:lnSpc>
              <a:spcBef>
                <a:spcPts val="110"/>
              </a:spcBef>
            </a:pPr>
            <a:r>
              <a:rPr sz="1550" spc="-10" dirty="0">
                <a:latin typeface="微软雅黑" panose="020B0503020204020204" charset="-122"/>
                <a:cs typeface="微软雅黑" panose="020B0503020204020204" charset="-122"/>
              </a:rPr>
              <a:t>法兰深沟球轴承：自带法兰边，更方便固定，队内最常</a:t>
            </a:r>
            <a:r>
              <a:rPr sz="1550" spc="-15" dirty="0">
                <a:latin typeface="微软雅黑" panose="020B0503020204020204" charset="-122"/>
                <a:cs typeface="微软雅黑" panose="020B0503020204020204" charset="-122"/>
              </a:rPr>
              <a:t>用的轴承</a:t>
            </a:r>
            <a:endParaRPr sz="1550">
              <a:latin typeface="微软雅黑" panose="020B0503020204020204" charset="-122"/>
              <a:cs typeface="微软雅黑" panose="020B0503020204020204" charset="-122"/>
            </a:endParaRPr>
          </a:p>
        </p:txBody>
      </p:sp>
      <p:sp>
        <p:nvSpPr>
          <p:cNvPr id="9" name="object 9"/>
          <p:cNvSpPr txBox="1"/>
          <p:nvPr/>
        </p:nvSpPr>
        <p:spPr>
          <a:xfrm>
            <a:off x="1317776" y="4527322"/>
            <a:ext cx="2234565" cy="984885"/>
          </a:xfrm>
          <a:prstGeom prst="rect">
            <a:avLst/>
          </a:prstGeom>
        </p:spPr>
        <p:txBody>
          <a:bodyPr vert="horz" wrap="square" lIns="0" tIns="15240" rIns="0" bIns="0" rtlCol="0">
            <a:spAutoFit/>
          </a:bodyPr>
          <a:lstStyle/>
          <a:p>
            <a:pPr marL="12700" marR="5080">
              <a:lnSpc>
                <a:spcPct val="101000"/>
              </a:lnSpc>
              <a:spcBef>
                <a:spcPts val="120"/>
              </a:spcBef>
            </a:pPr>
            <a:r>
              <a:rPr sz="1550" spc="-5" dirty="0">
                <a:latin typeface="微软雅黑" panose="020B0503020204020204" charset="-122"/>
                <a:cs typeface="微软雅黑" panose="020B0503020204020204" charset="-122"/>
              </a:rPr>
              <a:t>缺点：精度偏低，游隙较大，无法承受过大轴向力</a:t>
            </a:r>
            <a:endParaRPr sz="1550">
              <a:latin typeface="微软雅黑" panose="020B0503020204020204" charset="-122"/>
              <a:cs typeface="微软雅黑" panose="020B0503020204020204" charset="-122"/>
            </a:endParaRPr>
          </a:p>
          <a:p>
            <a:pPr marL="12700">
              <a:lnSpc>
                <a:spcPct val="100000"/>
              </a:lnSpc>
              <a:spcBef>
                <a:spcPts val="1920"/>
              </a:spcBef>
            </a:pPr>
            <a:r>
              <a:rPr sz="1550" spc="-10" dirty="0">
                <a:latin typeface="微软雅黑" panose="020B0503020204020204" charset="-122"/>
                <a:cs typeface="微软雅黑" panose="020B0503020204020204" charset="-122"/>
              </a:rPr>
              <a:t>优点：成本低</a:t>
            </a:r>
            <a:endParaRPr sz="1550">
              <a:latin typeface="微软雅黑" panose="020B0503020204020204" charset="-122"/>
              <a:cs typeface="微软雅黑" panose="020B0503020204020204" charset="-122"/>
            </a:endParaRPr>
          </a:p>
        </p:txBody>
      </p:sp>
      <p:grpSp>
        <p:nvGrpSpPr>
          <p:cNvPr id="10" name="object 10"/>
          <p:cNvGrpSpPr/>
          <p:nvPr/>
        </p:nvGrpSpPr>
        <p:grpSpPr>
          <a:xfrm>
            <a:off x="6400037" y="5555742"/>
            <a:ext cx="982980" cy="205740"/>
            <a:chOff x="6400037" y="5555742"/>
            <a:chExt cx="982980" cy="205740"/>
          </a:xfrm>
        </p:grpSpPr>
        <p:sp>
          <p:nvSpPr>
            <p:cNvPr id="11" name="object 11"/>
            <p:cNvSpPr/>
            <p:nvPr/>
          </p:nvSpPr>
          <p:spPr>
            <a:xfrm>
              <a:off x="6405371" y="5561076"/>
              <a:ext cx="972819" cy="195580"/>
            </a:xfrm>
            <a:custGeom>
              <a:avLst/>
              <a:gdLst/>
              <a:ahLst/>
              <a:cxnLst/>
              <a:rect l="l" t="t" r="r" b="b"/>
              <a:pathLst>
                <a:path w="972820" h="195579">
                  <a:moveTo>
                    <a:pt x="874776" y="195071"/>
                  </a:moveTo>
                  <a:lnTo>
                    <a:pt x="874776" y="146303"/>
                  </a:lnTo>
                  <a:lnTo>
                    <a:pt x="0" y="146303"/>
                  </a:lnTo>
                  <a:lnTo>
                    <a:pt x="0" y="48767"/>
                  </a:lnTo>
                  <a:lnTo>
                    <a:pt x="874776" y="48767"/>
                  </a:lnTo>
                  <a:lnTo>
                    <a:pt x="874776" y="0"/>
                  </a:lnTo>
                  <a:lnTo>
                    <a:pt x="972312" y="97535"/>
                  </a:lnTo>
                  <a:lnTo>
                    <a:pt x="874776" y="195071"/>
                  </a:lnTo>
                  <a:close/>
                </a:path>
              </a:pathLst>
            </a:custGeom>
            <a:solidFill>
              <a:srgbClr val="4874CA"/>
            </a:solidFill>
          </p:spPr>
          <p:txBody>
            <a:bodyPr wrap="square" lIns="0" tIns="0" rIns="0" bIns="0" rtlCol="0"/>
            <a:lstStyle/>
            <a:p/>
          </p:txBody>
        </p:sp>
        <p:sp>
          <p:nvSpPr>
            <p:cNvPr id="12" name="object 12"/>
            <p:cNvSpPr/>
            <p:nvPr/>
          </p:nvSpPr>
          <p:spPr>
            <a:xfrm>
              <a:off x="6405371" y="5561076"/>
              <a:ext cx="972819" cy="195580"/>
            </a:xfrm>
            <a:custGeom>
              <a:avLst/>
              <a:gdLst/>
              <a:ahLst/>
              <a:cxnLst/>
              <a:rect l="l" t="t" r="r" b="b"/>
              <a:pathLst>
                <a:path w="972820" h="195579">
                  <a:moveTo>
                    <a:pt x="0" y="48767"/>
                  </a:moveTo>
                  <a:lnTo>
                    <a:pt x="874776" y="48767"/>
                  </a:lnTo>
                  <a:lnTo>
                    <a:pt x="874776" y="0"/>
                  </a:lnTo>
                  <a:lnTo>
                    <a:pt x="972312" y="97535"/>
                  </a:lnTo>
                  <a:lnTo>
                    <a:pt x="874776" y="195071"/>
                  </a:lnTo>
                  <a:lnTo>
                    <a:pt x="874776" y="146303"/>
                  </a:lnTo>
                  <a:lnTo>
                    <a:pt x="0" y="146303"/>
                  </a:lnTo>
                  <a:lnTo>
                    <a:pt x="0" y="48767"/>
                  </a:lnTo>
                  <a:close/>
                </a:path>
              </a:pathLst>
            </a:custGeom>
            <a:ln w="10668">
              <a:solidFill>
                <a:srgbClr val="182D54"/>
              </a:solidFill>
            </a:ln>
          </p:spPr>
          <p:txBody>
            <a:bodyPr wrap="square" lIns="0" tIns="0" rIns="0" bIns="0" rtlCol="0"/>
            <a:lstStyle/>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1" cstate="print"/>
          <a:stretch>
            <a:fillRect/>
          </a:stretch>
        </p:blipFill>
        <p:spPr>
          <a:xfrm>
            <a:off x="0" y="772668"/>
            <a:ext cx="10692384" cy="1072895"/>
          </a:xfrm>
          <a:prstGeom prst="rect">
            <a:avLst/>
          </a:prstGeom>
        </p:spPr>
      </p:pic>
      <p:sp>
        <p:nvSpPr>
          <p:cNvPr id="3" name="object 3"/>
          <p:cNvSpPr txBox="1">
            <a:spLocks noGrp="1"/>
          </p:cNvSpPr>
          <p:nvPr>
            <p:ph type="title"/>
          </p:nvPr>
        </p:nvSpPr>
        <p:spPr>
          <a:xfrm>
            <a:off x="503860" y="2221508"/>
            <a:ext cx="3583304" cy="519430"/>
          </a:xfrm>
          <a:prstGeom prst="rect">
            <a:avLst/>
          </a:prstGeom>
        </p:spPr>
        <p:txBody>
          <a:bodyPr vert="horz" wrap="square" lIns="0" tIns="11430" rIns="0" bIns="0" rtlCol="0">
            <a:spAutoFit/>
          </a:bodyPr>
          <a:lstStyle/>
          <a:p>
            <a:pPr marL="12700">
              <a:lnSpc>
                <a:spcPct val="100000"/>
              </a:lnSpc>
              <a:spcBef>
                <a:spcPts val="90"/>
              </a:spcBef>
            </a:pPr>
            <a:r>
              <a:rPr sz="3250" spc="-15" dirty="0"/>
              <a:t>2</a:t>
            </a:r>
            <a:r>
              <a:rPr sz="3250" spc="-30" dirty="0"/>
              <a:t>.轴承</a:t>
            </a:r>
            <a:r>
              <a:rPr sz="2250" spc="-10" dirty="0"/>
              <a:t>——圆柱滚子轴承</a:t>
            </a:r>
            <a:endParaRPr sz="2250"/>
          </a:p>
        </p:txBody>
      </p:sp>
      <p:sp>
        <p:nvSpPr>
          <p:cNvPr id="4" name="object 4"/>
          <p:cNvSpPr txBox="1"/>
          <p:nvPr/>
        </p:nvSpPr>
        <p:spPr>
          <a:xfrm>
            <a:off x="1355888" y="3996900"/>
            <a:ext cx="2235200" cy="747395"/>
          </a:xfrm>
          <a:prstGeom prst="rect">
            <a:avLst/>
          </a:prstGeom>
        </p:spPr>
        <p:txBody>
          <a:bodyPr vert="horz" wrap="square" lIns="0" tIns="16510" rIns="0" bIns="0" rtlCol="0">
            <a:spAutoFit/>
          </a:bodyPr>
          <a:lstStyle/>
          <a:p>
            <a:pPr marL="12700">
              <a:lnSpc>
                <a:spcPct val="100000"/>
              </a:lnSpc>
              <a:spcBef>
                <a:spcPts val="130"/>
              </a:spcBef>
            </a:pPr>
            <a:r>
              <a:rPr sz="1550" dirty="0">
                <a:latin typeface="微软雅黑" panose="020B0503020204020204" charset="-122"/>
                <a:cs typeface="微软雅黑" panose="020B0503020204020204" charset="-122"/>
              </a:rPr>
              <a:t>能够承受更大的</a:t>
            </a:r>
            <a:r>
              <a:rPr sz="1550" b="1" spc="-15" dirty="0">
                <a:latin typeface="微软雅黑" panose="020B0503020204020204" charset="-122"/>
                <a:cs typeface="微软雅黑" panose="020B0503020204020204" charset="-122"/>
              </a:rPr>
              <a:t>径向载荷</a:t>
            </a:r>
            <a:endParaRPr sz="1550">
              <a:latin typeface="微软雅黑" panose="020B0503020204020204" charset="-122"/>
              <a:cs typeface="微软雅黑" panose="020B0503020204020204" charset="-122"/>
            </a:endParaRPr>
          </a:p>
          <a:p>
            <a:pPr marL="12700">
              <a:lnSpc>
                <a:spcPct val="100000"/>
              </a:lnSpc>
              <a:spcBef>
                <a:spcPts val="1925"/>
              </a:spcBef>
            </a:pPr>
            <a:r>
              <a:rPr sz="1550" spc="-5" dirty="0">
                <a:latin typeface="微软雅黑" panose="020B0503020204020204" charset="-122"/>
                <a:cs typeface="微软雅黑" panose="020B0503020204020204" charset="-122"/>
              </a:rPr>
              <a:t>可以用于产生冲击的部位</a:t>
            </a:r>
            <a:endParaRPr sz="1550">
              <a:latin typeface="微软雅黑" panose="020B0503020204020204" charset="-122"/>
              <a:cs typeface="微软雅黑" panose="020B0503020204020204" charset="-122"/>
            </a:endParaRPr>
          </a:p>
        </p:txBody>
      </p:sp>
      <p:grpSp>
        <p:nvGrpSpPr>
          <p:cNvPr id="5" name="object 5"/>
          <p:cNvGrpSpPr/>
          <p:nvPr/>
        </p:nvGrpSpPr>
        <p:grpSpPr>
          <a:xfrm>
            <a:off x="4504944" y="2001011"/>
            <a:ext cx="5745480" cy="4514215"/>
            <a:chOff x="4504944" y="2001011"/>
            <a:chExt cx="5745480" cy="4514215"/>
          </a:xfrm>
        </p:grpSpPr>
        <p:pic>
          <p:nvPicPr>
            <p:cNvPr id="6" name="object 6"/>
            <p:cNvPicPr/>
            <p:nvPr/>
          </p:nvPicPr>
          <p:blipFill>
            <a:blip r:embed="rId2" cstate="print"/>
            <a:stretch>
              <a:fillRect/>
            </a:stretch>
          </p:blipFill>
          <p:spPr>
            <a:xfrm>
              <a:off x="4504944" y="2001011"/>
              <a:ext cx="3124200" cy="2855975"/>
            </a:xfrm>
            <a:prstGeom prst="rect">
              <a:avLst/>
            </a:prstGeom>
          </p:spPr>
        </p:pic>
        <p:pic>
          <p:nvPicPr>
            <p:cNvPr id="7" name="object 7"/>
            <p:cNvPicPr/>
            <p:nvPr/>
          </p:nvPicPr>
          <p:blipFill>
            <a:blip r:embed="rId3" cstate="print"/>
            <a:stretch>
              <a:fillRect/>
            </a:stretch>
          </p:blipFill>
          <p:spPr>
            <a:xfrm>
              <a:off x="7228332" y="4251959"/>
              <a:ext cx="3022091" cy="2263140"/>
            </a:xfrm>
            <a:prstGeom prst="rect">
              <a:avLst/>
            </a:prstGeom>
          </p:spPr>
        </p:pic>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1" cstate="print"/>
          <a:stretch>
            <a:fillRect/>
          </a:stretch>
        </p:blipFill>
        <p:spPr>
          <a:xfrm>
            <a:off x="0" y="772668"/>
            <a:ext cx="10692384" cy="1072895"/>
          </a:xfrm>
          <a:prstGeom prst="rect">
            <a:avLst/>
          </a:prstGeom>
        </p:spPr>
      </p:pic>
      <p:pic>
        <p:nvPicPr>
          <p:cNvPr id="3" name="object 3"/>
          <p:cNvPicPr/>
          <p:nvPr/>
        </p:nvPicPr>
        <p:blipFill>
          <a:blip r:embed="rId2" cstate="print"/>
          <a:stretch>
            <a:fillRect/>
          </a:stretch>
        </p:blipFill>
        <p:spPr>
          <a:xfrm>
            <a:off x="6181344" y="2086355"/>
            <a:ext cx="3142487" cy="2090928"/>
          </a:xfrm>
          <a:prstGeom prst="rect">
            <a:avLst/>
          </a:prstGeom>
        </p:spPr>
      </p:pic>
      <p:sp>
        <p:nvSpPr>
          <p:cNvPr id="4" name="object 4"/>
          <p:cNvSpPr txBox="1">
            <a:spLocks noGrp="1"/>
          </p:cNvSpPr>
          <p:nvPr>
            <p:ph type="title"/>
          </p:nvPr>
        </p:nvSpPr>
        <p:spPr>
          <a:xfrm>
            <a:off x="504012" y="2198648"/>
            <a:ext cx="3553460" cy="1591310"/>
          </a:xfrm>
          <a:prstGeom prst="rect">
            <a:avLst/>
          </a:prstGeom>
        </p:spPr>
        <p:txBody>
          <a:bodyPr vert="horz" wrap="square" lIns="0" tIns="12700" rIns="0" bIns="0" rtlCol="0">
            <a:spAutoFit/>
          </a:bodyPr>
          <a:lstStyle/>
          <a:p>
            <a:pPr marL="12700">
              <a:lnSpc>
                <a:spcPct val="100000"/>
              </a:lnSpc>
              <a:spcBef>
                <a:spcPts val="100"/>
              </a:spcBef>
            </a:pPr>
            <a:r>
              <a:rPr sz="3500" spc="-25" dirty="0"/>
              <a:t>2</a:t>
            </a:r>
            <a:r>
              <a:rPr sz="3500" spc="-10" dirty="0"/>
              <a:t>.轴承</a:t>
            </a:r>
            <a:r>
              <a:rPr spc="-20" dirty="0"/>
              <a:t>——推力球轴承</a:t>
            </a:r>
            <a:endParaRPr sz="3500"/>
          </a:p>
          <a:p>
            <a:pPr marL="405765" marR="127635">
              <a:lnSpc>
                <a:spcPct val="203000"/>
              </a:lnSpc>
              <a:spcBef>
                <a:spcPts val="560"/>
              </a:spcBef>
            </a:pPr>
            <a:r>
              <a:rPr sz="1550" b="0" spc="-5" dirty="0">
                <a:solidFill>
                  <a:srgbClr val="000000"/>
                </a:solidFill>
                <a:latin typeface="微软雅黑" panose="020B0503020204020204" charset="-122"/>
                <a:cs typeface="微软雅黑" panose="020B0503020204020204" charset="-122"/>
              </a:rPr>
              <a:t>也叫止推轴承，只能承受轴向载荷使用时一定要压紧，否则失效</a:t>
            </a:r>
            <a:endParaRPr sz="1550">
              <a:latin typeface="微软雅黑" panose="020B0503020204020204" charset="-122"/>
              <a:cs typeface="微软雅黑" panose="020B0503020204020204" charset="-122"/>
            </a:endParaRPr>
          </a:p>
        </p:txBody>
      </p:sp>
      <p:sp>
        <p:nvSpPr>
          <p:cNvPr id="5" name="object 5"/>
          <p:cNvSpPr txBox="1"/>
          <p:nvPr/>
        </p:nvSpPr>
        <p:spPr>
          <a:xfrm>
            <a:off x="897170" y="4059372"/>
            <a:ext cx="3738879" cy="2333625"/>
          </a:xfrm>
          <a:prstGeom prst="rect">
            <a:avLst/>
          </a:prstGeom>
        </p:spPr>
        <p:txBody>
          <a:bodyPr vert="horz" wrap="square" lIns="0" tIns="15240" rIns="0" bIns="0" rtlCol="0">
            <a:spAutoFit/>
          </a:bodyPr>
          <a:lstStyle/>
          <a:p>
            <a:pPr marL="12700" marR="306070">
              <a:lnSpc>
                <a:spcPct val="101000"/>
              </a:lnSpc>
              <a:spcBef>
                <a:spcPts val="120"/>
              </a:spcBef>
            </a:pPr>
            <a:r>
              <a:rPr sz="1550" spc="-5" dirty="0">
                <a:latin typeface="微软雅黑" panose="020B0503020204020204" charset="-122"/>
                <a:cs typeface="微软雅黑" panose="020B0503020204020204" charset="-122"/>
              </a:rPr>
              <a:t>本身分为三部分，可以只取中间带滚珠的部分夹在两板中间使用，但不建议</a:t>
            </a:r>
            <a:endParaRPr sz="1550">
              <a:latin typeface="微软雅黑" panose="020B0503020204020204" charset="-122"/>
              <a:cs typeface="微软雅黑" panose="020B0503020204020204" charset="-122"/>
            </a:endParaRPr>
          </a:p>
          <a:p>
            <a:pPr>
              <a:lnSpc>
                <a:spcPct val="100000"/>
              </a:lnSpc>
              <a:spcBef>
                <a:spcPts val="215"/>
              </a:spcBef>
            </a:pPr>
            <a:endParaRPr sz="1550">
              <a:latin typeface="微软雅黑" panose="020B0503020204020204" charset="-122"/>
              <a:cs typeface="微软雅黑" panose="020B0503020204020204" charset="-122"/>
            </a:endParaRPr>
          </a:p>
          <a:p>
            <a:pPr marL="12700">
              <a:lnSpc>
                <a:spcPct val="100000"/>
              </a:lnSpc>
            </a:pPr>
            <a:r>
              <a:rPr sz="1550" spc="-5" dirty="0">
                <a:latin typeface="微软雅黑" panose="020B0503020204020204" charset="-122"/>
                <a:cs typeface="微软雅黑" panose="020B0503020204020204" charset="-122"/>
              </a:rPr>
              <a:t>推力球轴承安装的注意事项：</a:t>
            </a:r>
            <a:endParaRPr sz="1550">
              <a:latin typeface="微软雅黑" panose="020B0503020204020204" charset="-122"/>
              <a:cs typeface="微软雅黑" panose="020B0503020204020204" charset="-122"/>
            </a:endParaRPr>
          </a:p>
          <a:p>
            <a:pPr marL="12700" marR="143510">
              <a:lnSpc>
                <a:spcPct val="101000"/>
              </a:lnSpc>
              <a:spcBef>
                <a:spcPts val="10"/>
              </a:spcBef>
            </a:pPr>
            <a:r>
              <a:rPr sz="1550" dirty="0">
                <a:latin typeface="Calibri" panose="020F0502020204030204"/>
                <a:cs typeface="Calibri" panose="020F0502020204030204"/>
              </a:rPr>
              <a:t>1</a:t>
            </a:r>
            <a:r>
              <a:rPr sz="1550" dirty="0">
                <a:latin typeface="微软雅黑" panose="020B0503020204020204" charset="-122"/>
                <a:cs typeface="微软雅黑" panose="020B0503020204020204" charset="-122"/>
              </a:rPr>
              <a:t>、分清轴承的紧环和松环</a:t>
            </a:r>
            <a:r>
              <a:rPr sz="1550" spc="-10" dirty="0">
                <a:latin typeface="Calibri" panose="020F0502020204030204"/>
                <a:cs typeface="Calibri" panose="020F0502020204030204"/>
              </a:rPr>
              <a:t>(</a:t>
            </a:r>
            <a:r>
              <a:rPr sz="1550" spc="-10" dirty="0">
                <a:latin typeface="微软雅黑" panose="020B0503020204020204" charset="-122"/>
                <a:cs typeface="微软雅黑" panose="020B0503020204020204" charset="-122"/>
              </a:rPr>
              <a:t>根据轴承内圈</a:t>
            </a:r>
            <a:r>
              <a:rPr sz="1550" dirty="0">
                <a:latin typeface="微软雅黑" panose="020B0503020204020204" charset="-122"/>
                <a:cs typeface="微软雅黑" panose="020B0503020204020204" charset="-122"/>
              </a:rPr>
              <a:t>大小判断，孔径一般相差</a:t>
            </a:r>
            <a:r>
              <a:rPr sz="1550" spc="-10" dirty="0">
                <a:latin typeface="Calibri" panose="020F0502020204030204"/>
                <a:cs typeface="Calibri" panose="020F0502020204030204"/>
              </a:rPr>
              <a:t>0.1~0.3mm)</a:t>
            </a:r>
            <a:endParaRPr sz="1550">
              <a:latin typeface="Calibri" panose="020F0502020204030204"/>
              <a:cs typeface="Calibri" panose="020F0502020204030204"/>
            </a:endParaRPr>
          </a:p>
          <a:p>
            <a:pPr marL="12700">
              <a:lnSpc>
                <a:spcPct val="100000"/>
              </a:lnSpc>
              <a:spcBef>
                <a:spcPts val="35"/>
              </a:spcBef>
            </a:pPr>
            <a:r>
              <a:rPr sz="1550" dirty="0">
                <a:latin typeface="Calibri" panose="020F0502020204030204"/>
                <a:cs typeface="Calibri" panose="020F0502020204030204"/>
              </a:rPr>
              <a:t>2</a:t>
            </a:r>
            <a:r>
              <a:rPr sz="1550" spc="-5" dirty="0">
                <a:latin typeface="微软雅黑" panose="020B0503020204020204" charset="-122"/>
                <a:cs typeface="微软雅黑" panose="020B0503020204020204" charset="-122"/>
              </a:rPr>
              <a:t>、保证在使用时轴承要时刻被压住</a:t>
            </a:r>
            <a:endParaRPr sz="1550">
              <a:latin typeface="微软雅黑" panose="020B0503020204020204" charset="-122"/>
              <a:cs typeface="微软雅黑" panose="020B0503020204020204" charset="-122"/>
            </a:endParaRPr>
          </a:p>
          <a:p>
            <a:pPr marL="12700" marR="5080">
              <a:lnSpc>
                <a:spcPct val="102000"/>
              </a:lnSpc>
              <a:spcBef>
                <a:spcPts val="5"/>
              </a:spcBef>
            </a:pPr>
            <a:r>
              <a:rPr sz="1550" dirty="0">
                <a:latin typeface="Calibri" panose="020F0502020204030204"/>
                <a:cs typeface="Calibri" panose="020F0502020204030204"/>
              </a:rPr>
              <a:t>3</a:t>
            </a:r>
            <a:r>
              <a:rPr sz="1550" spc="-5" dirty="0">
                <a:latin typeface="微软雅黑" panose="020B0503020204020204" charset="-122"/>
                <a:cs typeface="微软雅黑" panose="020B0503020204020204" charset="-122"/>
              </a:rPr>
              <a:t>、无论什么情况，轴承的松环始终应靠在</a:t>
            </a:r>
            <a:r>
              <a:rPr sz="1550" spc="-10" dirty="0">
                <a:latin typeface="微软雅黑" panose="020B0503020204020204" charset="-122"/>
                <a:cs typeface="微软雅黑" panose="020B0503020204020204" charset="-122"/>
              </a:rPr>
              <a:t>静止件的端面上</a:t>
            </a:r>
            <a:endParaRPr sz="1550">
              <a:latin typeface="微软雅黑" panose="020B0503020204020204" charset="-122"/>
              <a:cs typeface="微软雅黑" panose="020B0503020204020204" charset="-122"/>
            </a:endParaRPr>
          </a:p>
        </p:txBody>
      </p:sp>
      <p:pic>
        <p:nvPicPr>
          <p:cNvPr id="6" name="object 6"/>
          <p:cNvPicPr/>
          <p:nvPr/>
        </p:nvPicPr>
        <p:blipFill>
          <a:blip r:embed="rId3" cstate="print"/>
          <a:stretch>
            <a:fillRect/>
          </a:stretch>
        </p:blipFill>
        <p:spPr>
          <a:xfrm>
            <a:off x="4855464" y="4427220"/>
            <a:ext cx="2901696" cy="2014728"/>
          </a:xfrm>
          <a:prstGeom prst="rect">
            <a:avLst/>
          </a:prstGeom>
        </p:spPr>
      </p:pic>
      <p:pic>
        <p:nvPicPr>
          <p:cNvPr id="7" name="object 7"/>
          <p:cNvPicPr/>
          <p:nvPr/>
        </p:nvPicPr>
        <p:blipFill>
          <a:blip r:embed="rId4" cstate="print"/>
          <a:stretch>
            <a:fillRect/>
          </a:stretch>
        </p:blipFill>
        <p:spPr>
          <a:xfrm>
            <a:off x="7834883" y="4427220"/>
            <a:ext cx="2685287" cy="2023871"/>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1" cstate="print"/>
          <a:stretch>
            <a:fillRect/>
          </a:stretch>
        </p:blipFill>
        <p:spPr>
          <a:xfrm>
            <a:off x="0" y="772668"/>
            <a:ext cx="10692384" cy="1072895"/>
          </a:xfrm>
          <a:prstGeom prst="rect">
            <a:avLst/>
          </a:prstGeom>
        </p:spPr>
      </p:pic>
      <p:sp>
        <p:nvSpPr>
          <p:cNvPr id="3" name="object 3"/>
          <p:cNvSpPr txBox="1"/>
          <p:nvPr/>
        </p:nvSpPr>
        <p:spPr>
          <a:xfrm>
            <a:off x="993138" y="3661654"/>
            <a:ext cx="2637155" cy="1911350"/>
          </a:xfrm>
          <a:prstGeom prst="rect">
            <a:avLst/>
          </a:prstGeom>
        </p:spPr>
        <p:txBody>
          <a:bodyPr vert="horz" wrap="square" lIns="0" tIns="16510" rIns="0" bIns="0" rtlCol="0">
            <a:spAutoFit/>
          </a:bodyPr>
          <a:lstStyle/>
          <a:p>
            <a:pPr marL="12700">
              <a:lnSpc>
                <a:spcPct val="100000"/>
              </a:lnSpc>
              <a:spcBef>
                <a:spcPts val="130"/>
              </a:spcBef>
            </a:pPr>
            <a:r>
              <a:rPr sz="1550" spc="-10" dirty="0">
                <a:latin typeface="微软雅黑" panose="020B0503020204020204" charset="-122"/>
                <a:cs typeface="微软雅黑" panose="020B0503020204020204" charset="-122"/>
              </a:rPr>
              <a:t>只能承受轴向载荷</a:t>
            </a:r>
            <a:endParaRPr sz="1550">
              <a:latin typeface="微软雅黑" panose="020B0503020204020204" charset="-122"/>
              <a:cs typeface="微软雅黑" panose="020B0503020204020204" charset="-122"/>
            </a:endParaRPr>
          </a:p>
          <a:p>
            <a:pPr marL="12700">
              <a:lnSpc>
                <a:spcPct val="100000"/>
              </a:lnSpc>
              <a:spcBef>
                <a:spcPts val="40"/>
              </a:spcBef>
            </a:pPr>
            <a:r>
              <a:rPr sz="1550" spc="-5" dirty="0">
                <a:latin typeface="微软雅黑" panose="020B0503020204020204" charset="-122"/>
                <a:cs typeface="微软雅黑" panose="020B0503020204020204" charset="-122"/>
              </a:rPr>
              <a:t>使用时一定要压紧，否则失效</a:t>
            </a:r>
            <a:endParaRPr sz="1550">
              <a:latin typeface="微软雅黑" panose="020B0503020204020204" charset="-122"/>
              <a:cs typeface="微软雅黑" panose="020B0503020204020204" charset="-122"/>
            </a:endParaRPr>
          </a:p>
          <a:p>
            <a:pPr marL="12700">
              <a:lnSpc>
                <a:spcPct val="100000"/>
              </a:lnSpc>
              <a:spcBef>
                <a:spcPts val="1920"/>
              </a:spcBef>
            </a:pPr>
            <a:r>
              <a:rPr sz="1550" spc="-10" dirty="0">
                <a:latin typeface="微软雅黑" panose="020B0503020204020204" charset="-122"/>
                <a:cs typeface="微软雅黑" panose="020B0503020204020204" charset="-122"/>
              </a:rPr>
              <a:t>比推力球更薄</a:t>
            </a:r>
            <a:endParaRPr sz="1550">
              <a:latin typeface="微软雅黑" panose="020B0503020204020204" charset="-122"/>
              <a:cs typeface="微软雅黑" panose="020B0503020204020204" charset="-122"/>
            </a:endParaRPr>
          </a:p>
          <a:p>
            <a:pPr marL="12700" marR="407035" algn="just">
              <a:lnSpc>
                <a:spcPct val="101000"/>
              </a:lnSpc>
              <a:spcBef>
                <a:spcPts val="1635"/>
              </a:spcBef>
            </a:pPr>
            <a:r>
              <a:rPr sz="1550" spc="-5" dirty="0">
                <a:latin typeface="微软雅黑" panose="020B0503020204020204" charset="-122"/>
                <a:cs typeface="微软雅黑" panose="020B0503020204020204" charset="-122"/>
              </a:rPr>
              <a:t>本身分为三部分，可以只取中间带滚柱的部分夹在两板中间使用，但不建议</a:t>
            </a:r>
            <a:endParaRPr sz="1550">
              <a:latin typeface="微软雅黑" panose="020B0503020204020204" charset="-122"/>
              <a:cs typeface="微软雅黑" panose="020B0503020204020204" charset="-122"/>
            </a:endParaRPr>
          </a:p>
        </p:txBody>
      </p:sp>
      <p:sp>
        <p:nvSpPr>
          <p:cNvPr id="4" name="object 4"/>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z="3500" spc="-25" dirty="0"/>
              <a:t>2</a:t>
            </a:r>
            <a:r>
              <a:rPr sz="3500" spc="-10" dirty="0"/>
              <a:t>.轴承</a:t>
            </a:r>
            <a:r>
              <a:rPr spc="-15" dirty="0"/>
              <a:t>——推力滚子轴承</a:t>
            </a:r>
            <a:endParaRPr sz="3500"/>
          </a:p>
        </p:txBody>
      </p:sp>
      <p:pic>
        <p:nvPicPr>
          <p:cNvPr id="5" name="object 5"/>
          <p:cNvPicPr/>
          <p:nvPr/>
        </p:nvPicPr>
        <p:blipFill>
          <a:blip r:embed="rId2" cstate="print"/>
          <a:stretch>
            <a:fillRect/>
          </a:stretch>
        </p:blipFill>
        <p:spPr>
          <a:xfrm>
            <a:off x="4501896" y="3127248"/>
            <a:ext cx="2526791" cy="2334767"/>
          </a:xfrm>
          <a:prstGeom prst="rect">
            <a:avLst/>
          </a:prstGeom>
        </p:spPr>
      </p:pic>
      <p:pic>
        <p:nvPicPr>
          <p:cNvPr id="6" name="object 6"/>
          <p:cNvPicPr/>
          <p:nvPr/>
        </p:nvPicPr>
        <p:blipFill>
          <a:blip r:embed="rId3" cstate="print"/>
          <a:stretch>
            <a:fillRect/>
          </a:stretch>
        </p:blipFill>
        <p:spPr>
          <a:xfrm>
            <a:off x="8912352" y="2225040"/>
            <a:ext cx="1708404" cy="3502151"/>
          </a:xfrm>
          <a:prstGeom prst="rect">
            <a:avLst/>
          </a:prstGeom>
        </p:spPr>
      </p:pic>
      <p:pic>
        <p:nvPicPr>
          <p:cNvPr id="7" name="object 7"/>
          <p:cNvPicPr/>
          <p:nvPr/>
        </p:nvPicPr>
        <p:blipFill>
          <a:blip r:embed="rId4" cstate="print"/>
          <a:stretch>
            <a:fillRect/>
          </a:stretch>
        </p:blipFill>
        <p:spPr>
          <a:xfrm>
            <a:off x="7242047" y="2225040"/>
            <a:ext cx="1624583" cy="3502151"/>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1" cstate="print"/>
          <a:stretch>
            <a:fillRect/>
          </a:stretch>
        </p:blipFill>
        <p:spPr>
          <a:xfrm>
            <a:off x="0" y="772668"/>
            <a:ext cx="10692384" cy="1072895"/>
          </a:xfrm>
          <a:prstGeom prst="rect">
            <a:avLst/>
          </a:prstGeom>
        </p:spPr>
      </p:pic>
      <p:sp>
        <p:nvSpPr>
          <p:cNvPr id="3" name="object 3"/>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z="3500" spc="-25" dirty="0"/>
              <a:t>2</a:t>
            </a:r>
            <a:r>
              <a:rPr sz="3500" spc="-10" dirty="0"/>
              <a:t>.轴承</a:t>
            </a:r>
            <a:r>
              <a:rPr spc="-15" dirty="0"/>
              <a:t>——角接触球轴承</a:t>
            </a:r>
            <a:endParaRPr sz="3500"/>
          </a:p>
        </p:txBody>
      </p:sp>
      <p:pic>
        <p:nvPicPr>
          <p:cNvPr id="4" name="object 4"/>
          <p:cNvPicPr/>
          <p:nvPr/>
        </p:nvPicPr>
        <p:blipFill>
          <a:blip r:embed="rId2" cstate="print"/>
          <a:stretch>
            <a:fillRect/>
          </a:stretch>
        </p:blipFill>
        <p:spPr>
          <a:xfrm>
            <a:off x="4485132" y="2231136"/>
            <a:ext cx="3241548" cy="2295144"/>
          </a:xfrm>
          <a:prstGeom prst="rect">
            <a:avLst/>
          </a:prstGeom>
        </p:spPr>
      </p:pic>
      <p:pic>
        <p:nvPicPr>
          <p:cNvPr id="5" name="object 5"/>
          <p:cNvPicPr/>
          <p:nvPr/>
        </p:nvPicPr>
        <p:blipFill>
          <a:blip r:embed="rId3" cstate="print"/>
          <a:stretch>
            <a:fillRect/>
          </a:stretch>
        </p:blipFill>
        <p:spPr>
          <a:xfrm>
            <a:off x="225552" y="5361432"/>
            <a:ext cx="2106167" cy="1280159"/>
          </a:xfrm>
          <a:prstGeom prst="rect">
            <a:avLst/>
          </a:prstGeom>
        </p:spPr>
      </p:pic>
      <p:pic>
        <p:nvPicPr>
          <p:cNvPr id="6" name="object 6"/>
          <p:cNvPicPr/>
          <p:nvPr/>
        </p:nvPicPr>
        <p:blipFill>
          <a:blip r:embed="rId4" cstate="print"/>
          <a:stretch>
            <a:fillRect/>
          </a:stretch>
        </p:blipFill>
        <p:spPr>
          <a:xfrm>
            <a:off x="2545080" y="5361432"/>
            <a:ext cx="1586483" cy="1280159"/>
          </a:xfrm>
          <a:prstGeom prst="rect">
            <a:avLst/>
          </a:prstGeom>
        </p:spPr>
      </p:pic>
      <p:pic>
        <p:nvPicPr>
          <p:cNvPr id="7" name="object 7"/>
          <p:cNvPicPr/>
          <p:nvPr/>
        </p:nvPicPr>
        <p:blipFill>
          <a:blip r:embed="rId5" cstate="print"/>
          <a:stretch>
            <a:fillRect/>
          </a:stretch>
        </p:blipFill>
        <p:spPr>
          <a:xfrm>
            <a:off x="4343400" y="5361432"/>
            <a:ext cx="3288791" cy="1280159"/>
          </a:xfrm>
          <a:prstGeom prst="rect">
            <a:avLst/>
          </a:prstGeom>
        </p:spPr>
      </p:pic>
      <p:sp>
        <p:nvSpPr>
          <p:cNvPr id="8" name="object 8"/>
          <p:cNvSpPr txBox="1"/>
          <p:nvPr/>
        </p:nvSpPr>
        <p:spPr>
          <a:xfrm>
            <a:off x="686769" y="3138892"/>
            <a:ext cx="3438525" cy="2096135"/>
          </a:xfrm>
          <a:prstGeom prst="rect">
            <a:avLst/>
          </a:prstGeom>
        </p:spPr>
        <p:txBody>
          <a:bodyPr vert="horz" wrap="square" lIns="0" tIns="13970" rIns="0" bIns="0" rtlCol="0">
            <a:spAutoFit/>
          </a:bodyPr>
          <a:lstStyle/>
          <a:p>
            <a:pPr marL="12700" marR="5080">
              <a:lnSpc>
                <a:spcPct val="101000"/>
              </a:lnSpc>
              <a:spcBef>
                <a:spcPts val="110"/>
              </a:spcBef>
            </a:pPr>
            <a:r>
              <a:rPr sz="1550" dirty="0">
                <a:latin typeface="微软雅黑" panose="020B0503020204020204" charset="-122"/>
                <a:cs typeface="微软雅黑" panose="020B0503020204020204" charset="-122"/>
              </a:rPr>
              <a:t>可以同时承受径向载荷和</a:t>
            </a:r>
            <a:r>
              <a:rPr sz="1550" b="1" spc="-10" dirty="0">
                <a:latin typeface="微软雅黑" panose="020B0503020204020204" charset="-122"/>
                <a:cs typeface="微软雅黑" panose="020B0503020204020204" charset="-122"/>
              </a:rPr>
              <a:t>单方向轴向载</a:t>
            </a:r>
            <a:r>
              <a:rPr sz="1550" b="1" dirty="0">
                <a:latin typeface="微软雅黑" panose="020B0503020204020204" charset="-122"/>
                <a:cs typeface="微软雅黑" panose="020B0503020204020204" charset="-122"/>
              </a:rPr>
              <a:t>荷</a:t>
            </a:r>
            <a:r>
              <a:rPr sz="1550" dirty="0">
                <a:latin typeface="微软雅黑" panose="020B0503020204020204" charset="-122"/>
                <a:cs typeface="微软雅黑" panose="020B0503020204020204" charset="-122"/>
              </a:rPr>
              <a:t>，承受轴向载荷的能力与接触角</a:t>
            </a:r>
            <a:r>
              <a:rPr sz="1550" dirty="0">
                <a:latin typeface="Calibri" panose="020F0502020204030204"/>
                <a:cs typeface="Calibri" panose="020F0502020204030204"/>
              </a:rPr>
              <a:t>α</a:t>
            </a:r>
            <a:r>
              <a:rPr sz="1550" spc="-50" dirty="0">
                <a:latin typeface="微软雅黑" panose="020B0503020204020204" charset="-122"/>
                <a:cs typeface="微软雅黑" panose="020B0503020204020204" charset="-122"/>
              </a:rPr>
              <a:t>有</a:t>
            </a:r>
            <a:r>
              <a:rPr sz="1550" spc="-5" dirty="0">
                <a:latin typeface="微软雅黑" panose="020B0503020204020204" charset="-122"/>
                <a:cs typeface="微软雅黑" panose="020B0503020204020204" charset="-122"/>
              </a:rPr>
              <a:t>关，接触角越大，可承受的轴向载荷越大，接触角越小越有利于高速旋转</a:t>
            </a:r>
            <a:endParaRPr sz="1550">
              <a:latin typeface="微软雅黑" panose="020B0503020204020204" charset="-122"/>
              <a:cs typeface="微软雅黑" panose="020B0503020204020204" charset="-122"/>
            </a:endParaRPr>
          </a:p>
          <a:p>
            <a:pPr marL="360045">
              <a:lnSpc>
                <a:spcPct val="100000"/>
              </a:lnSpc>
              <a:spcBef>
                <a:spcPts val="1535"/>
              </a:spcBef>
            </a:pPr>
            <a:r>
              <a:rPr sz="1550" dirty="0">
                <a:latin typeface="Calibri" panose="020F0502020204030204"/>
                <a:cs typeface="Calibri" panose="020F0502020204030204"/>
              </a:rPr>
              <a:t>15</a:t>
            </a:r>
            <a:r>
              <a:rPr sz="1550" dirty="0">
                <a:latin typeface="微软雅黑" panose="020B0503020204020204" charset="-122"/>
                <a:cs typeface="微软雅黑" panose="020B0503020204020204" charset="-122"/>
              </a:rPr>
              <a:t>°</a:t>
            </a:r>
            <a:r>
              <a:rPr sz="1550" dirty="0">
                <a:latin typeface="Calibri" panose="020F0502020204030204"/>
                <a:cs typeface="Calibri" panose="020F0502020204030204"/>
              </a:rPr>
              <a:t>(C)</a:t>
            </a:r>
            <a:r>
              <a:rPr sz="1550" dirty="0">
                <a:latin typeface="微软雅黑" panose="020B0503020204020204" charset="-122"/>
                <a:cs typeface="微软雅黑" panose="020B0503020204020204" charset="-122"/>
              </a:rPr>
              <a:t>、</a:t>
            </a:r>
            <a:r>
              <a:rPr sz="1550" dirty="0">
                <a:latin typeface="Calibri" panose="020F0502020204030204"/>
                <a:cs typeface="Calibri" panose="020F0502020204030204"/>
              </a:rPr>
              <a:t>25</a:t>
            </a:r>
            <a:r>
              <a:rPr sz="1550" dirty="0">
                <a:latin typeface="微软雅黑" panose="020B0503020204020204" charset="-122"/>
                <a:cs typeface="微软雅黑" panose="020B0503020204020204" charset="-122"/>
              </a:rPr>
              <a:t>°</a:t>
            </a:r>
            <a:r>
              <a:rPr sz="1550" dirty="0">
                <a:latin typeface="Calibri" panose="020F0502020204030204"/>
                <a:cs typeface="Calibri" panose="020F0502020204030204"/>
              </a:rPr>
              <a:t>(A)</a:t>
            </a:r>
            <a:r>
              <a:rPr sz="1550" dirty="0">
                <a:latin typeface="微软雅黑" panose="020B0503020204020204" charset="-122"/>
                <a:cs typeface="微软雅黑" panose="020B0503020204020204" charset="-122"/>
              </a:rPr>
              <a:t>和</a:t>
            </a:r>
            <a:r>
              <a:rPr sz="1550" spc="-10" dirty="0">
                <a:latin typeface="Calibri" panose="020F0502020204030204"/>
                <a:cs typeface="Calibri" panose="020F0502020204030204"/>
              </a:rPr>
              <a:t>40</a:t>
            </a:r>
            <a:r>
              <a:rPr sz="1550" spc="-10" dirty="0">
                <a:latin typeface="微软雅黑" panose="020B0503020204020204" charset="-122"/>
                <a:cs typeface="微软雅黑" panose="020B0503020204020204" charset="-122"/>
              </a:rPr>
              <a:t>°</a:t>
            </a:r>
            <a:r>
              <a:rPr sz="1550" spc="-10" dirty="0">
                <a:latin typeface="Calibri" panose="020F0502020204030204"/>
                <a:cs typeface="Calibri" panose="020F0502020204030204"/>
              </a:rPr>
              <a:t>(B)</a:t>
            </a:r>
            <a:endParaRPr sz="1550">
              <a:latin typeface="Calibri" panose="020F0502020204030204"/>
              <a:cs typeface="Calibri" panose="020F0502020204030204"/>
            </a:endParaRPr>
          </a:p>
          <a:p>
            <a:pPr marL="12700" marR="405765">
              <a:lnSpc>
                <a:spcPct val="101000"/>
              </a:lnSpc>
              <a:spcBef>
                <a:spcPts val="1605"/>
              </a:spcBef>
            </a:pPr>
            <a:r>
              <a:rPr sz="1550" spc="-5" dirty="0">
                <a:latin typeface="微软雅黑" panose="020B0503020204020204" charset="-122"/>
                <a:cs typeface="微软雅黑" panose="020B0503020204020204" charset="-122"/>
              </a:rPr>
              <a:t>如果要承受双向轴向载荷，需成对</a:t>
            </a:r>
            <a:r>
              <a:rPr sz="1550" spc="-50" dirty="0">
                <a:latin typeface="微软雅黑" panose="020B0503020204020204" charset="-122"/>
                <a:cs typeface="微软雅黑" panose="020B0503020204020204" charset="-122"/>
              </a:rPr>
              <a:t> </a:t>
            </a:r>
            <a:r>
              <a:rPr sz="1550" spc="-5" dirty="0">
                <a:latin typeface="微软雅黑" panose="020B0503020204020204" charset="-122"/>
                <a:cs typeface="微软雅黑" panose="020B0503020204020204" charset="-122"/>
              </a:rPr>
              <a:t>“背对背”或“面对面”安装</a:t>
            </a:r>
            <a:endParaRPr sz="1550">
              <a:latin typeface="微软雅黑" panose="020B0503020204020204" charset="-122"/>
              <a:cs typeface="微软雅黑" panose="020B0503020204020204" charset="-122"/>
            </a:endParaRPr>
          </a:p>
        </p:txBody>
      </p:sp>
      <p:pic>
        <p:nvPicPr>
          <p:cNvPr id="9" name="object 9"/>
          <p:cNvPicPr/>
          <p:nvPr/>
        </p:nvPicPr>
        <p:blipFill>
          <a:blip r:embed="rId6" cstate="print"/>
          <a:stretch>
            <a:fillRect/>
          </a:stretch>
        </p:blipFill>
        <p:spPr>
          <a:xfrm>
            <a:off x="7967471" y="3886200"/>
            <a:ext cx="2555748" cy="2551175"/>
          </a:xfrm>
          <a:prstGeom prst="rect">
            <a:avLst/>
          </a:prstGeom>
        </p:spPr>
      </p:pic>
      <p:sp>
        <p:nvSpPr>
          <p:cNvPr id="10" name="object 10"/>
          <p:cNvSpPr txBox="1"/>
          <p:nvPr/>
        </p:nvSpPr>
        <p:spPr>
          <a:xfrm>
            <a:off x="7884657" y="2259598"/>
            <a:ext cx="2770505" cy="1522730"/>
          </a:xfrm>
          <a:prstGeom prst="rect">
            <a:avLst/>
          </a:prstGeom>
        </p:spPr>
        <p:txBody>
          <a:bodyPr vert="horz" wrap="square" lIns="0" tIns="12065" rIns="0" bIns="0" rtlCol="0">
            <a:spAutoFit/>
          </a:bodyPr>
          <a:lstStyle/>
          <a:p>
            <a:pPr marL="262255" marR="5080" indent="-250190">
              <a:lnSpc>
                <a:spcPct val="100000"/>
              </a:lnSpc>
              <a:spcBef>
                <a:spcPts val="95"/>
              </a:spcBef>
              <a:buFont typeface="Wingdings" panose="05000000000000000000"/>
              <a:buChar char=""/>
              <a:tabLst>
                <a:tab pos="262255" algn="l"/>
              </a:tabLst>
            </a:pPr>
            <a:r>
              <a:rPr sz="1400" dirty="0">
                <a:latin typeface="微软雅黑" panose="020B0503020204020204" charset="-122"/>
                <a:cs typeface="微软雅黑" panose="020B0503020204020204" charset="-122"/>
              </a:rPr>
              <a:t>背对背安装</a:t>
            </a:r>
            <a:r>
              <a:rPr sz="1400" spc="-10" dirty="0">
                <a:latin typeface="Calibri" panose="020F0502020204030204"/>
                <a:cs typeface="Calibri" panose="020F0502020204030204"/>
              </a:rPr>
              <a:t>:</a:t>
            </a:r>
            <a:r>
              <a:rPr sz="1400" spc="-10" dirty="0">
                <a:latin typeface="微软雅黑" panose="020B0503020204020204" charset="-122"/>
                <a:cs typeface="微软雅黑" panose="020B0503020204020204" charset="-122"/>
              </a:rPr>
              <a:t>适用于承受较大的</a:t>
            </a:r>
            <a:r>
              <a:rPr sz="1400" spc="-5" dirty="0">
                <a:latin typeface="微软雅黑" panose="020B0503020204020204" charset="-122"/>
                <a:cs typeface="微软雅黑" panose="020B0503020204020204" charset="-122"/>
              </a:rPr>
              <a:t>轴向载荷和冲击载荷。接触角可</a:t>
            </a:r>
            <a:r>
              <a:rPr sz="1400" spc="-10" dirty="0">
                <a:latin typeface="微软雅黑" panose="020B0503020204020204" charset="-122"/>
                <a:cs typeface="微软雅黑" panose="020B0503020204020204" charset="-122"/>
              </a:rPr>
              <a:t>以自动调整，适应不同工况。</a:t>
            </a:r>
            <a:endParaRPr sz="1400">
              <a:latin typeface="微软雅黑" panose="020B0503020204020204" charset="-122"/>
              <a:cs typeface="微软雅黑" panose="020B0503020204020204" charset="-122"/>
            </a:endParaRPr>
          </a:p>
          <a:p>
            <a:pPr marL="262255" indent="-250190">
              <a:lnSpc>
                <a:spcPct val="100000"/>
              </a:lnSpc>
              <a:buFont typeface="Wingdings" panose="05000000000000000000"/>
              <a:buChar char=""/>
              <a:tabLst>
                <a:tab pos="262255" algn="l"/>
              </a:tabLst>
            </a:pPr>
            <a:r>
              <a:rPr sz="1400" dirty="0">
                <a:latin typeface="微软雅黑" panose="020B0503020204020204" charset="-122"/>
                <a:cs typeface="微软雅黑" panose="020B0503020204020204" charset="-122"/>
              </a:rPr>
              <a:t>面对面安装</a:t>
            </a:r>
            <a:r>
              <a:rPr sz="1400" spc="-10" dirty="0">
                <a:latin typeface="Calibri" panose="020F0502020204030204"/>
                <a:cs typeface="Calibri" panose="020F0502020204030204"/>
              </a:rPr>
              <a:t>:</a:t>
            </a:r>
            <a:r>
              <a:rPr sz="1400" spc="-10" dirty="0">
                <a:latin typeface="微软雅黑" panose="020B0503020204020204" charset="-122"/>
                <a:cs typeface="微软雅黑" panose="020B0503020204020204" charset="-122"/>
              </a:rPr>
              <a:t>适用于承受较小的</a:t>
            </a:r>
            <a:endParaRPr sz="1400">
              <a:latin typeface="微软雅黑" panose="020B0503020204020204" charset="-122"/>
              <a:cs typeface="微软雅黑" panose="020B0503020204020204" charset="-122"/>
            </a:endParaRPr>
          </a:p>
          <a:p>
            <a:pPr marL="262255" marR="182245" algn="just">
              <a:lnSpc>
                <a:spcPct val="100000"/>
              </a:lnSpc>
              <a:spcBef>
                <a:spcPts val="30"/>
              </a:spcBef>
            </a:pPr>
            <a:r>
              <a:rPr sz="1400" spc="-5" dirty="0">
                <a:latin typeface="微软雅黑" panose="020B0503020204020204" charset="-122"/>
                <a:cs typeface="微软雅黑" panose="020B0503020204020204" charset="-122"/>
              </a:rPr>
              <a:t>轴向载荷和冲击载荷。轴承内部游隙较大，但需要更精确的</a:t>
            </a:r>
            <a:r>
              <a:rPr sz="1400" spc="-10" dirty="0">
                <a:latin typeface="微软雅黑" panose="020B0503020204020204" charset="-122"/>
                <a:cs typeface="微软雅黑" panose="020B0503020204020204" charset="-122"/>
              </a:rPr>
              <a:t>轴向定位和调整</a:t>
            </a:r>
            <a:endParaRPr sz="1400">
              <a:latin typeface="微软雅黑" panose="020B0503020204020204" charset="-122"/>
              <a:cs typeface="微软雅黑" panose="020B0503020204020204"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1" cstate="print"/>
          <a:stretch>
            <a:fillRect/>
          </a:stretch>
        </p:blipFill>
        <p:spPr>
          <a:xfrm>
            <a:off x="0" y="772668"/>
            <a:ext cx="10692384" cy="1072895"/>
          </a:xfrm>
          <a:prstGeom prst="rect">
            <a:avLst/>
          </a:prstGeom>
        </p:spPr>
      </p:pic>
      <p:sp>
        <p:nvSpPr>
          <p:cNvPr id="3" name="object 3"/>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z="3500" spc="-25" dirty="0"/>
              <a:t>2</a:t>
            </a:r>
            <a:r>
              <a:rPr sz="3500" spc="-10" dirty="0"/>
              <a:t>.轴承</a:t>
            </a:r>
            <a:r>
              <a:rPr spc="-15" dirty="0"/>
              <a:t>——角接触球轴承</a:t>
            </a:r>
            <a:endParaRPr sz="3500"/>
          </a:p>
        </p:txBody>
      </p:sp>
      <p:pic>
        <p:nvPicPr>
          <p:cNvPr id="4" name="object 4"/>
          <p:cNvPicPr/>
          <p:nvPr/>
        </p:nvPicPr>
        <p:blipFill>
          <a:blip r:embed="rId2" cstate="print"/>
          <a:stretch>
            <a:fillRect/>
          </a:stretch>
        </p:blipFill>
        <p:spPr>
          <a:xfrm>
            <a:off x="6937247" y="2452116"/>
            <a:ext cx="3637787" cy="3886200"/>
          </a:xfrm>
          <a:prstGeom prst="rect">
            <a:avLst/>
          </a:prstGeom>
        </p:spPr>
      </p:pic>
      <p:pic>
        <p:nvPicPr>
          <p:cNvPr id="5" name="object 5"/>
          <p:cNvPicPr/>
          <p:nvPr/>
        </p:nvPicPr>
        <p:blipFill>
          <a:blip r:embed="rId3" cstate="print"/>
          <a:stretch>
            <a:fillRect/>
          </a:stretch>
        </p:blipFill>
        <p:spPr>
          <a:xfrm>
            <a:off x="123444" y="3497580"/>
            <a:ext cx="3201923" cy="2589275"/>
          </a:xfrm>
          <a:prstGeom prst="rect">
            <a:avLst/>
          </a:prstGeom>
        </p:spPr>
      </p:pic>
      <p:pic>
        <p:nvPicPr>
          <p:cNvPr id="6" name="object 6"/>
          <p:cNvPicPr/>
          <p:nvPr/>
        </p:nvPicPr>
        <p:blipFill>
          <a:blip r:embed="rId4" cstate="print"/>
          <a:stretch>
            <a:fillRect/>
          </a:stretch>
        </p:blipFill>
        <p:spPr>
          <a:xfrm>
            <a:off x="3409188" y="3497580"/>
            <a:ext cx="3457956" cy="258927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1" cstate="print"/>
          <a:stretch>
            <a:fillRect/>
          </a:stretch>
        </p:blipFill>
        <p:spPr>
          <a:xfrm>
            <a:off x="0" y="772668"/>
            <a:ext cx="10692384" cy="1072895"/>
          </a:xfrm>
          <a:prstGeom prst="rect">
            <a:avLst/>
          </a:prstGeom>
        </p:spPr>
      </p:pic>
      <p:sp>
        <p:nvSpPr>
          <p:cNvPr id="3" name="object 3"/>
          <p:cNvSpPr txBox="1"/>
          <p:nvPr/>
        </p:nvSpPr>
        <p:spPr>
          <a:xfrm>
            <a:off x="686769" y="3137419"/>
            <a:ext cx="3438525" cy="1225550"/>
          </a:xfrm>
          <a:prstGeom prst="rect">
            <a:avLst/>
          </a:prstGeom>
        </p:spPr>
        <p:txBody>
          <a:bodyPr vert="horz" wrap="square" lIns="0" tIns="13335" rIns="0" bIns="0" rtlCol="0">
            <a:spAutoFit/>
          </a:bodyPr>
          <a:lstStyle/>
          <a:p>
            <a:pPr marL="12700" marR="5080">
              <a:lnSpc>
                <a:spcPct val="101000"/>
              </a:lnSpc>
              <a:spcBef>
                <a:spcPts val="105"/>
              </a:spcBef>
            </a:pPr>
            <a:r>
              <a:rPr sz="1550" dirty="0">
                <a:latin typeface="微软雅黑" panose="020B0503020204020204" charset="-122"/>
                <a:cs typeface="微软雅黑" panose="020B0503020204020204" charset="-122"/>
              </a:rPr>
              <a:t>可以同时承受径向载荷和</a:t>
            </a:r>
            <a:r>
              <a:rPr sz="1550" b="1" spc="-10" dirty="0">
                <a:latin typeface="微软雅黑" panose="020B0503020204020204" charset="-122"/>
                <a:cs typeface="微软雅黑" panose="020B0503020204020204" charset="-122"/>
              </a:rPr>
              <a:t>单方向轴向载</a:t>
            </a:r>
            <a:r>
              <a:rPr sz="1550" b="1" dirty="0">
                <a:latin typeface="微软雅黑" panose="020B0503020204020204" charset="-122"/>
                <a:cs typeface="微软雅黑" panose="020B0503020204020204" charset="-122"/>
              </a:rPr>
              <a:t>荷</a:t>
            </a:r>
            <a:r>
              <a:rPr sz="1550" spc="-5" dirty="0">
                <a:latin typeface="微软雅黑" panose="020B0503020204020204" charset="-122"/>
                <a:cs typeface="微软雅黑" panose="020B0503020204020204" charset="-122"/>
              </a:rPr>
              <a:t>，内圈和滚子可与外圈分离，承受轴</a:t>
            </a:r>
            <a:r>
              <a:rPr sz="1550" dirty="0">
                <a:latin typeface="微软雅黑" panose="020B0503020204020204" charset="-122"/>
                <a:cs typeface="微软雅黑" panose="020B0503020204020204" charset="-122"/>
              </a:rPr>
              <a:t>向载荷的能力与接触角</a:t>
            </a:r>
            <a:r>
              <a:rPr sz="1550" dirty="0">
                <a:latin typeface="Calibri" panose="020F0502020204030204"/>
                <a:cs typeface="Calibri" panose="020F0502020204030204"/>
              </a:rPr>
              <a:t>α</a:t>
            </a:r>
            <a:r>
              <a:rPr sz="1550" spc="-10" dirty="0">
                <a:latin typeface="微软雅黑" panose="020B0503020204020204" charset="-122"/>
                <a:cs typeface="微软雅黑" panose="020B0503020204020204" charset="-122"/>
              </a:rPr>
              <a:t>有关，接触角</a:t>
            </a:r>
            <a:r>
              <a:rPr sz="1550" spc="-5" dirty="0">
                <a:latin typeface="微软雅黑" panose="020B0503020204020204" charset="-122"/>
                <a:cs typeface="微软雅黑" panose="020B0503020204020204" charset="-122"/>
              </a:rPr>
              <a:t>越大，可承受的轴向载荷越大，接触角越小越有利于高速旋转</a:t>
            </a:r>
            <a:endParaRPr sz="1550">
              <a:latin typeface="微软雅黑" panose="020B0503020204020204" charset="-122"/>
              <a:cs typeface="微软雅黑" panose="020B0503020204020204" charset="-122"/>
            </a:endParaRPr>
          </a:p>
        </p:txBody>
      </p:sp>
      <p:sp>
        <p:nvSpPr>
          <p:cNvPr id="4" name="object 4"/>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z="3500" spc="-25" dirty="0"/>
              <a:t>2</a:t>
            </a:r>
            <a:r>
              <a:rPr sz="3500" spc="-10" dirty="0"/>
              <a:t>.轴承</a:t>
            </a:r>
            <a:r>
              <a:rPr spc="-15" dirty="0"/>
              <a:t>——圆锥滚子轴承</a:t>
            </a:r>
            <a:endParaRPr sz="3500"/>
          </a:p>
        </p:txBody>
      </p:sp>
      <p:sp>
        <p:nvSpPr>
          <p:cNvPr id="5" name="object 5"/>
          <p:cNvSpPr txBox="1"/>
          <p:nvPr/>
        </p:nvSpPr>
        <p:spPr>
          <a:xfrm>
            <a:off x="686769" y="5004310"/>
            <a:ext cx="3037205" cy="504825"/>
          </a:xfrm>
          <a:prstGeom prst="rect">
            <a:avLst/>
          </a:prstGeom>
        </p:spPr>
        <p:txBody>
          <a:bodyPr vert="horz" wrap="square" lIns="0" tIns="15240" rIns="0" bIns="0" rtlCol="0">
            <a:spAutoFit/>
          </a:bodyPr>
          <a:lstStyle/>
          <a:p>
            <a:pPr marL="12700" marR="5080">
              <a:lnSpc>
                <a:spcPct val="101000"/>
              </a:lnSpc>
              <a:spcBef>
                <a:spcPts val="120"/>
              </a:spcBef>
            </a:pPr>
            <a:r>
              <a:rPr sz="1550" spc="-5" dirty="0">
                <a:latin typeface="微软雅黑" panose="020B0503020204020204" charset="-122"/>
                <a:cs typeface="微软雅黑" panose="020B0503020204020204" charset="-122"/>
              </a:rPr>
              <a:t>如果要承受双向轴向载荷，需成对</a:t>
            </a:r>
            <a:r>
              <a:rPr sz="1550" spc="-50" dirty="0">
                <a:latin typeface="微软雅黑" panose="020B0503020204020204" charset="-122"/>
                <a:cs typeface="微软雅黑" panose="020B0503020204020204" charset="-122"/>
              </a:rPr>
              <a:t> </a:t>
            </a:r>
            <a:r>
              <a:rPr sz="1550" spc="-5" dirty="0">
                <a:latin typeface="微软雅黑" panose="020B0503020204020204" charset="-122"/>
                <a:cs typeface="微软雅黑" panose="020B0503020204020204" charset="-122"/>
              </a:rPr>
              <a:t>“背对背”或“面对面”安装</a:t>
            </a:r>
            <a:endParaRPr sz="1550">
              <a:latin typeface="微软雅黑" panose="020B0503020204020204" charset="-122"/>
              <a:cs typeface="微软雅黑" panose="020B0503020204020204" charset="-122"/>
            </a:endParaRPr>
          </a:p>
        </p:txBody>
      </p:sp>
      <p:pic>
        <p:nvPicPr>
          <p:cNvPr id="6" name="object 6"/>
          <p:cNvPicPr/>
          <p:nvPr/>
        </p:nvPicPr>
        <p:blipFill>
          <a:blip r:embed="rId2" cstate="print"/>
          <a:stretch>
            <a:fillRect/>
          </a:stretch>
        </p:blipFill>
        <p:spPr>
          <a:xfrm>
            <a:off x="4584191" y="2191512"/>
            <a:ext cx="2980943" cy="2795016"/>
          </a:xfrm>
          <a:prstGeom prst="rect">
            <a:avLst/>
          </a:prstGeom>
        </p:spPr>
      </p:pic>
      <p:sp>
        <p:nvSpPr>
          <p:cNvPr id="7" name="object 7"/>
          <p:cNvSpPr txBox="1"/>
          <p:nvPr/>
        </p:nvSpPr>
        <p:spPr>
          <a:xfrm>
            <a:off x="4572998" y="5287791"/>
            <a:ext cx="5040630" cy="984885"/>
          </a:xfrm>
          <a:prstGeom prst="rect">
            <a:avLst/>
          </a:prstGeom>
        </p:spPr>
        <p:txBody>
          <a:bodyPr vert="horz" wrap="square" lIns="0" tIns="13970" rIns="0" bIns="0" rtlCol="0">
            <a:spAutoFit/>
          </a:bodyPr>
          <a:lstStyle/>
          <a:p>
            <a:pPr marL="12700" marR="5080" algn="just">
              <a:lnSpc>
                <a:spcPct val="101000"/>
              </a:lnSpc>
              <a:spcBef>
                <a:spcPts val="110"/>
              </a:spcBef>
            </a:pPr>
            <a:r>
              <a:rPr sz="1550" spc="-5" dirty="0">
                <a:solidFill>
                  <a:srgbClr val="333333"/>
                </a:solidFill>
                <a:latin typeface="微软雅黑" panose="020B0503020204020204" charset="-122"/>
                <a:cs typeface="微软雅黑" panose="020B0503020204020204" charset="-122"/>
              </a:rPr>
              <a:t>圆锥滚子轴承主要用于承受以径向载荷为主的径向与轴向联合载荷。与角接触球轴承相比、承载能力大，极限转速低。圆锥滚子轴承能够承受一个方向的轴向载荷，能够限制轴或外壳一个方向的轴向位移。</a:t>
            </a:r>
            <a:endParaRPr sz="1550">
              <a:latin typeface="微软雅黑" panose="020B0503020204020204" charset="-122"/>
              <a:cs typeface="微软雅黑" panose="020B0503020204020204" charset="-122"/>
            </a:endParaRPr>
          </a:p>
        </p:txBody>
      </p:sp>
      <p:pic>
        <p:nvPicPr>
          <p:cNvPr id="8" name="object 8"/>
          <p:cNvPicPr/>
          <p:nvPr/>
        </p:nvPicPr>
        <p:blipFill>
          <a:blip r:embed="rId3" cstate="print"/>
          <a:stretch>
            <a:fillRect/>
          </a:stretch>
        </p:blipFill>
        <p:spPr>
          <a:xfrm>
            <a:off x="7714488" y="2191512"/>
            <a:ext cx="2795016" cy="2795016"/>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1" cstate="print"/>
          <a:stretch>
            <a:fillRect/>
          </a:stretch>
        </p:blipFill>
        <p:spPr>
          <a:xfrm>
            <a:off x="0" y="772668"/>
            <a:ext cx="10692384" cy="1072895"/>
          </a:xfrm>
          <a:prstGeom prst="rect">
            <a:avLst/>
          </a:prstGeom>
        </p:spPr>
      </p:pic>
      <p:sp>
        <p:nvSpPr>
          <p:cNvPr id="3" name="object 3"/>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z="3500" spc="-25" dirty="0"/>
              <a:t>2</a:t>
            </a:r>
            <a:r>
              <a:rPr sz="3500" spc="-10" dirty="0"/>
              <a:t>.轴承</a:t>
            </a:r>
            <a:r>
              <a:rPr spc="-15" dirty="0"/>
              <a:t>——交叉滚子轴承</a:t>
            </a:r>
            <a:endParaRPr sz="3500"/>
          </a:p>
        </p:txBody>
      </p:sp>
      <p:sp>
        <p:nvSpPr>
          <p:cNvPr id="4" name="object 4"/>
          <p:cNvSpPr txBox="1"/>
          <p:nvPr/>
        </p:nvSpPr>
        <p:spPr>
          <a:xfrm>
            <a:off x="926049" y="3798778"/>
            <a:ext cx="4085590" cy="1946275"/>
          </a:xfrm>
          <a:prstGeom prst="rect">
            <a:avLst/>
          </a:prstGeom>
        </p:spPr>
        <p:txBody>
          <a:bodyPr vert="horz" wrap="square" lIns="0" tIns="14604" rIns="0" bIns="0" rtlCol="0">
            <a:spAutoFit/>
          </a:bodyPr>
          <a:lstStyle/>
          <a:p>
            <a:pPr marL="12700" marR="5080" algn="just">
              <a:lnSpc>
                <a:spcPct val="101000"/>
              </a:lnSpc>
              <a:spcBef>
                <a:spcPts val="115"/>
              </a:spcBef>
            </a:pPr>
            <a:r>
              <a:rPr sz="1550" spc="-5" dirty="0">
                <a:latin typeface="微软雅黑" panose="020B0503020204020204" charset="-122"/>
                <a:cs typeface="微软雅黑" panose="020B0503020204020204" charset="-122"/>
              </a:rPr>
              <a:t>高精度高载荷的轴承，可以同时承受轴向和径向载荷，可以做到又大又薄，也可以做成带安装孔的转盘式轴承。一般在底盘和云台连接处</a:t>
            </a:r>
            <a:endParaRPr sz="1550">
              <a:latin typeface="微软雅黑" panose="020B0503020204020204" charset="-122"/>
              <a:cs typeface="微软雅黑" panose="020B0503020204020204" charset="-122"/>
            </a:endParaRPr>
          </a:p>
          <a:p>
            <a:pPr marL="12700">
              <a:lnSpc>
                <a:spcPct val="100000"/>
              </a:lnSpc>
              <a:spcBef>
                <a:spcPts val="35"/>
              </a:spcBef>
            </a:pPr>
            <a:r>
              <a:rPr sz="1550" dirty="0">
                <a:latin typeface="微软雅黑" panose="020B0503020204020204" charset="-122"/>
                <a:cs typeface="微软雅黑" panose="020B0503020204020204" charset="-122"/>
              </a:rPr>
              <a:t>（</a:t>
            </a:r>
            <a:r>
              <a:rPr sz="1550" dirty="0">
                <a:latin typeface="Calibri" panose="020F0502020204030204"/>
                <a:cs typeface="Calibri" panose="020F0502020204030204"/>
              </a:rPr>
              <a:t>yaw</a:t>
            </a:r>
            <a:r>
              <a:rPr sz="1550" dirty="0">
                <a:latin typeface="微软雅黑" panose="020B0503020204020204" charset="-122"/>
                <a:cs typeface="微软雅黑" panose="020B0503020204020204" charset="-122"/>
              </a:rPr>
              <a:t>轴）</a:t>
            </a:r>
            <a:r>
              <a:rPr sz="1550" spc="-20" dirty="0">
                <a:latin typeface="微软雅黑" panose="020B0503020204020204" charset="-122"/>
                <a:cs typeface="微软雅黑" panose="020B0503020204020204" charset="-122"/>
              </a:rPr>
              <a:t>使用。</a:t>
            </a:r>
            <a:endParaRPr sz="1550">
              <a:latin typeface="微软雅黑" panose="020B0503020204020204" charset="-122"/>
              <a:cs typeface="微软雅黑" panose="020B0503020204020204" charset="-122"/>
            </a:endParaRPr>
          </a:p>
          <a:p>
            <a:pPr>
              <a:lnSpc>
                <a:spcPct val="100000"/>
              </a:lnSpc>
              <a:spcBef>
                <a:spcPts val="995"/>
              </a:spcBef>
            </a:pPr>
            <a:endParaRPr sz="1550">
              <a:latin typeface="微软雅黑" panose="020B0503020204020204" charset="-122"/>
              <a:cs typeface="微软雅黑" panose="020B0503020204020204" charset="-122"/>
            </a:endParaRPr>
          </a:p>
          <a:p>
            <a:pPr marL="12700" marR="50800">
              <a:lnSpc>
                <a:spcPct val="100000"/>
              </a:lnSpc>
            </a:pPr>
            <a:r>
              <a:rPr sz="1550" dirty="0">
                <a:latin typeface="微软雅黑" panose="020B0503020204020204" charset="-122"/>
                <a:cs typeface="微软雅黑" panose="020B0503020204020204" charset="-122"/>
              </a:rPr>
              <a:t>缺点：成本高，重（</a:t>
            </a:r>
            <a:r>
              <a:rPr sz="1550" spc="-5" dirty="0">
                <a:latin typeface="微软雅黑" panose="020B0503020204020204" charset="-122"/>
                <a:cs typeface="微软雅黑" panose="020B0503020204020204" charset="-122"/>
              </a:rPr>
              <a:t>可以用薄壁交滚，但是价</a:t>
            </a:r>
            <a:r>
              <a:rPr sz="1550" dirty="0">
                <a:latin typeface="微软雅黑" panose="020B0503020204020204" charset="-122"/>
                <a:cs typeface="微软雅黑" panose="020B0503020204020204" charset="-122"/>
              </a:rPr>
              <a:t>格十分高昂）</a:t>
            </a:r>
            <a:r>
              <a:rPr sz="1550" spc="-15" dirty="0">
                <a:latin typeface="微软雅黑" panose="020B0503020204020204" charset="-122"/>
                <a:cs typeface="微软雅黑" panose="020B0503020204020204" charset="-122"/>
              </a:rPr>
              <a:t>，阻尼大</a:t>
            </a:r>
            <a:endParaRPr sz="1550">
              <a:latin typeface="微软雅黑" panose="020B0503020204020204" charset="-122"/>
              <a:cs typeface="微软雅黑" panose="020B0503020204020204" charset="-122"/>
            </a:endParaRPr>
          </a:p>
        </p:txBody>
      </p:sp>
      <p:pic>
        <p:nvPicPr>
          <p:cNvPr id="5" name="object 5"/>
          <p:cNvPicPr/>
          <p:nvPr/>
        </p:nvPicPr>
        <p:blipFill>
          <a:blip r:embed="rId2" cstate="print"/>
          <a:stretch>
            <a:fillRect/>
          </a:stretch>
        </p:blipFill>
        <p:spPr>
          <a:xfrm>
            <a:off x="5209032" y="2020824"/>
            <a:ext cx="2759964" cy="2442972"/>
          </a:xfrm>
          <a:prstGeom prst="rect">
            <a:avLst/>
          </a:prstGeom>
        </p:spPr>
      </p:pic>
      <p:pic>
        <p:nvPicPr>
          <p:cNvPr id="6" name="object 6"/>
          <p:cNvPicPr/>
          <p:nvPr/>
        </p:nvPicPr>
        <p:blipFill>
          <a:blip r:embed="rId3" cstate="print"/>
          <a:stretch>
            <a:fillRect/>
          </a:stretch>
        </p:blipFill>
        <p:spPr>
          <a:xfrm>
            <a:off x="6388607" y="4520184"/>
            <a:ext cx="3616451" cy="2221991"/>
          </a:xfrm>
          <a:prstGeom prst="rect">
            <a:avLst/>
          </a:prstGeom>
        </p:spPr>
      </p:pic>
      <p:pic>
        <p:nvPicPr>
          <p:cNvPr id="7" name="object 7"/>
          <p:cNvPicPr/>
          <p:nvPr/>
        </p:nvPicPr>
        <p:blipFill>
          <a:blip r:embed="rId4" cstate="print"/>
          <a:stretch>
            <a:fillRect/>
          </a:stretch>
        </p:blipFill>
        <p:spPr>
          <a:xfrm>
            <a:off x="8281416" y="2214372"/>
            <a:ext cx="2144267" cy="2156459"/>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1" cstate="print"/>
          <a:stretch>
            <a:fillRect/>
          </a:stretch>
        </p:blipFill>
        <p:spPr>
          <a:xfrm>
            <a:off x="0" y="772668"/>
            <a:ext cx="10692384" cy="1072895"/>
          </a:xfrm>
          <a:prstGeom prst="rect">
            <a:avLst/>
          </a:prstGeom>
        </p:spPr>
      </p:pic>
      <p:sp>
        <p:nvSpPr>
          <p:cNvPr id="3" name="object 3"/>
          <p:cNvSpPr txBox="1">
            <a:spLocks noGrp="1"/>
          </p:cNvSpPr>
          <p:nvPr>
            <p:ph type="title"/>
          </p:nvPr>
        </p:nvSpPr>
        <p:spPr>
          <a:xfrm>
            <a:off x="504012" y="2198648"/>
            <a:ext cx="3150235" cy="559435"/>
          </a:xfrm>
          <a:prstGeom prst="rect">
            <a:avLst/>
          </a:prstGeom>
        </p:spPr>
        <p:txBody>
          <a:bodyPr vert="horz" wrap="square" lIns="0" tIns="12700" rIns="0" bIns="0" rtlCol="0">
            <a:spAutoFit/>
          </a:bodyPr>
          <a:lstStyle/>
          <a:p>
            <a:pPr marL="12700">
              <a:lnSpc>
                <a:spcPct val="100000"/>
              </a:lnSpc>
              <a:spcBef>
                <a:spcPts val="100"/>
              </a:spcBef>
            </a:pPr>
            <a:r>
              <a:rPr sz="3500" spc="-25" dirty="0"/>
              <a:t>2</a:t>
            </a:r>
            <a:r>
              <a:rPr sz="3500" spc="-10" dirty="0"/>
              <a:t>.轴承</a:t>
            </a:r>
            <a:r>
              <a:rPr spc="-10" dirty="0"/>
              <a:t>——</a:t>
            </a:r>
            <a:r>
              <a:rPr spc="-15" dirty="0"/>
              <a:t>V</a:t>
            </a:r>
            <a:r>
              <a:rPr spc="-20" dirty="0"/>
              <a:t>型轴承</a:t>
            </a:r>
            <a:endParaRPr sz="3500"/>
          </a:p>
        </p:txBody>
      </p:sp>
      <p:sp>
        <p:nvSpPr>
          <p:cNvPr id="4" name="object 4"/>
          <p:cNvSpPr txBox="1"/>
          <p:nvPr/>
        </p:nvSpPr>
        <p:spPr>
          <a:xfrm>
            <a:off x="1168373" y="3068858"/>
            <a:ext cx="3831590" cy="1228725"/>
          </a:xfrm>
          <a:prstGeom prst="rect">
            <a:avLst/>
          </a:prstGeom>
        </p:spPr>
        <p:txBody>
          <a:bodyPr vert="horz" wrap="square" lIns="0" tIns="13335" rIns="0" bIns="0" rtlCol="0">
            <a:spAutoFit/>
          </a:bodyPr>
          <a:lstStyle/>
          <a:p>
            <a:pPr marL="12700" marR="5080">
              <a:lnSpc>
                <a:spcPct val="102000"/>
              </a:lnSpc>
              <a:spcBef>
                <a:spcPts val="105"/>
              </a:spcBef>
            </a:pPr>
            <a:r>
              <a:rPr sz="1550" spc="30" dirty="0">
                <a:latin typeface="微软雅黑" panose="020B0503020204020204" charset="-122"/>
                <a:cs typeface="微软雅黑" panose="020B0503020204020204" charset="-122"/>
              </a:rPr>
              <a:t>也叫</a:t>
            </a:r>
            <a:r>
              <a:rPr sz="1550" spc="10" dirty="0">
                <a:latin typeface="Calibri" panose="020F0502020204030204"/>
                <a:cs typeface="Calibri" panose="020F0502020204030204"/>
              </a:rPr>
              <a:t>U</a:t>
            </a:r>
            <a:r>
              <a:rPr sz="1550" spc="10" dirty="0">
                <a:latin typeface="微软雅黑" panose="020B0503020204020204" charset="-122"/>
                <a:cs typeface="微软雅黑" panose="020B0503020204020204" charset="-122"/>
              </a:rPr>
              <a:t>型轴承，特点是截面类似“</a:t>
            </a:r>
            <a:r>
              <a:rPr sz="1550" spc="10" dirty="0">
                <a:latin typeface="Calibri" panose="020F0502020204030204"/>
                <a:cs typeface="Calibri" panose="020F0502020204030204"/>
              </a:rPr>
              <a:t>U</a:t>
            </a:r>
            <a:r>
              <a:rPr sz="1550" spc="15" dirty="0">
                <a:latin typeface="微软雅黑" panose="020B0503020204020204" charset="-122"/>
                <a:cs typeface="微软雅黑" panose="020B0503020204020204" charset="-122"/>
              </a:rPr>
              <a:t>”，一</a:t>
            </a:r>
            <a:r>
              <a:rPr sz="1550" spc="10" dirty="0">
                <a:latin typeface="微软雅黑" panose="020B0503020204020204" charset="-122"/>
                <a:cs typeface="微软雅黑" panose="020B0503020204020204" charset="-122"/>
              </a:rPr>
              <a:t>般用作小弹丸枪管里接触摩擦轮时的定心，</a:t>
            </a:r>
            <a:r>
              <a:rPr sz="1550" spc="25" dirty="0">
                <a:latin typeface="微软雅黑" panose="020B0503020204020204" charset="-122"/>
                <a:cs typeface="微软雅黑" panose="020B0503020204020204" charset="-122"/>
              </a:rPr>
              <a:t>可形成“四点定位”</a:t>
            </a:r>
            <a:endParaRPr sz="1550">
              <a:latin typeface="微软雅黑" panose="020B0503020204020204" charset="-122"/>
              <a:cs typeface="微软雅黑" panose="020B0503020204020204" charset="-122"/>
            </a:endParaRPr>
          </a:p>
          <a:p>
            <a:pPr marL="12700">
              <a:lnSpc>
                <a:spcPct val="100000"/>
              </a:lnSpc>
              <a:spcBef>
                <a:spcPts val="1930"/>
              </a:spcBef>
            </a:pPr>
            <a:r>
              <a:rPr sz="1550" spc="-5" dirty="0">
                <a:latin typeface="微软雅黑" panose="020B0503020204020204" charset="-122"/>
                <a:cs typeface="微软雅黑" panose="020B0503020204020204" charset="-122"/>
              </a:rPr>
              <a:t>缺点：游隙较大，寿命较短</a:t>
            </a:r>
            <a:endParaRPr sz="1550">
              <a:latin typeface="微软雅黑" panose="020B0503020204020204" charset="-122"/>
              <a:cs typeface="微软雅黑" panose="020B0503020204020204" charset="-122"/>
            </a:endParaRPr>
          </a:p>
        </p:txBody>
      </p:sp>
      <p:pic>
        <p:nvPicPr>
          <p:cNvPr id="5" name="object 5"/>
          <p:cNvPicPr/>
          <p:nvPr/>
        </p:nvPicPr>
        <p:blipFill>
          <a:blip r:embed="rId2" cstate="print"/>
          <a:stretch>
            <a:fillRect/>
          </a:stretch>
        </p:blipFill>
        <p:spPr>
          <a:xfrm>
            <a:off x="894587" y="4552188"/>
            <a:ext cx="1996439" cy="1996440"/>
          </a:xfrm>
          <a:prstGeom prst="rect">
            <a:avLst/>
          </a:prstGeom>
        </p:spPr>
      </p:pic>
      <p:pic>
        <p:nvPicPr>
          <p:cNvPr id="6" name="object 6"/>
          <p:cNvPicPr/>
          <p:nvPr/>
        </p:nvPicPr>
        <p:blipFill>
          <a:blip r:embed="rId3" cstate="print"/>
          <a:stretch>
            <a:fillRect/>
          </a:stretch>
        </p:blipFill>
        <p:spPr>
          <a:xfrm>
            <a:off x="3532632" y="4558284"/>
            <a:ext cx="1996439" cy="1996439"/>
          </a:xfrm>
          <a:prstGeom prst="rect">
            <a:avLst/>
          </a:prstGeom>
        </p:spPr>
      </p:pic>
      <p:pic>
        <p:nvPicPr>
          <p:cNvPr id="7" name="object 7"/>
          <p:cNvPicPr/>
          <p:nvPr/>
        </p:nvPicPr>
        <p:blipFill>
          <a:blip r:embed="rId4" cstate="print"/>
          <a:stretch>
            <a:fillRect/>
          </a:stretch>
        </p:blipFill>
        <p:spPr>
          <a:xfrm>
            <a:off x="6164579" y="2186940"/>
            <a:ext cx="4181855" cy="4322063"/>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1" cstate="print"/>
          <a:stretch>
            <a:fillRect/>
          </a:stretch>
        </p:blipFill>
        <p:spPr>
          <a:xfrm>
            <a:off x="0" y="772668"/>
            <a:ext cx="10692384" cy="1072895"/>
          </a:xfrm>
          <a:prstGeom prst="rect">
            <a:avLst/>
          </a:prstGeom>
        </p:spPr>
      </p:pic>
      <p:sp>
        <p:nvSpPr>
          <p:cNvPr id="3" name="object 3"/>
          <p:cNvSpPr txBox="1">
            <a:spLocks noGrp="1"/>
          </p:cNvSpPr>
          <p:nvPr>
            <p:ph type="title"/>
          </p:nvPr>
        </p:nvSpPr>
        <p:spPr>
          <a:xfrm>
            <a:off x="504012" y="2197128"/>
            <a:ext cx="3241040" cy="559435"/>
          </a:xfrm>
          <a:prstGeom prst="rect">
            <a:avLst/>
          </a:prstGeom>
        </p:spPr>
        <p:txBody>
          <a:bodyPr vert="horz" wrap="square" lIns="0" tIns="12700" rIns="0" bIns="0" rtlCol="0">
            <a:spAutoFit/>
          </a:bodyPr>
          <a:lstStyle/>
          <a:p>
            <a:pPr marL="12700">
              <a:lnSpc>
                <a:spcPct val="100000"/>
              </a:lnSpc>
              <a:spcBef>
                <a:spcPts val="100"/>
              </a:spcBef>
            </a:pPr>
            <a:r>
              <a:rPr sz="3500" spc="-25" dirty="0"/>
              <a:t>2</a:t>
            </a:r>
            <a:r>
              <a:rPr sz="3500" spc="-10" dirty="0"/>
              <a:t>.轴承</a:t>
            </a:r>
            <a:r>
              <a:rPr spc="-20" dirty="0"/>
              <a:t>——关节轴承</a:t>
            </a:r>
            <a:endParaRPr sz="3500"/>
          </a:p>
        </p:txBody>
      </p:sp>
      <p:sp>
        <p:nvSpPr>
          <p:cNvPr id="4" name="object 4"/>
          <p:cNvSpPr txBox="1"/>
          <p:nvPr/>
        </p:nvSpPr>
        <p:spPr>
          <a:xfrm>
            <a:off x="444543" y="3794259"/>
            <a:ext cx="3638550" cy="988060"/>
          </a:xfrm>
          <a:prstGeom prst="rect">
            <a:avLst/>
          </a:prstGeom>
        </p:spPr>
        <p:txBody>
          <a:bodyPr vert="horz" wrap="square" lIns="0" tIns="16510" rIns="0" bIns="0" rtlCol="0">
            <a:spAutoFit/>
          </a:bodyPr>
          <a:lstStyle/>
          <a:p>
            <a:pPr marL="12700">
              <a:lnSpc>
                <a:spcPct val="100000"/>
              </a:lnSpc>
              <a:spcBef>
                <a:spcPts val="130"/>
              </a:spcBef>
            </a:pPr>
            <a:r>
              <a:rPr sz="1550" spc="-5" dirty="0">
                <a:latin typeface="微软雅黑" panose="020B0503020204020204" charset="-122"/>
                <a:cs typeface="微软雅黑" panose="020B0503020204020204" charset="-122"/>
              </a:rPr>
              <a:t>也叫鱼眼轴承，特点是可以多自由度旋转</a:t>
            </a:r>
            <a:endParaRPr sz="1550">
              <a:latin typeface="微软雅黑" panose="020B0503020204020204" charset="-122"/>
              <a:cs typeface="微软雅黑" panose="020B0503020204020204" charset="-122"/>
            </a:endParaRPr>
          </a:p>
          <a:p>
            <a:pPr marL="12700" marR="5080">
              <a:lnSpc>
                <a:spcPct val="100000"/>
              </a:lnSpc>
              <a:spcBef>
                <a:spcPts val="1960"/>
              </a:spcBef>
            </a:pPr>
            <a:r>
              <a:rPr sz="1550" spc="-5" dirty="0">
                <a:latin typeface="微软雅黑" panose="020B0503020204020204" charset="-122"/>
                <a:cs typeface="微软雅黑" panose="020B0503020204020204" charset="-122"/>
              </a:rPr>
              <a:t>主要用于同心度要求不高，工作表面压力较大而又做慢速摆动和回转运动的支撑</a:t>
            </a:r>
            <a:endParaRPr sz="1550">
              <a:latin typeface="微软雅黑" panose="020B0503020204020204" charset="-122"/>
              <a:cs typeface="微软雅黑" panose="020B0503020204020204" charset="-122"/>
            </a:endParaRPr>
          </a:p>
        </p:txBody>
      </p:sp>
      <p:pic>
        <p:nvPicPr>
          <p:cNvPr id="5" name="object 5"/>
          <p:cNvPicPr/>
          <p:nvPr/>
        </p:nvPicPr>
        <p:blipFill>
          <a:blip r:embed="rId2" cstate="print"/>
          <a:stretch>
            <a:fillRect/>
          </a:stretch>
        </p:blipFill>
        <p:spPr>
          <a:xfrm>
            <a:off x="5419344" y="1901952"/>
            <a:ext cx="2302763" cy="2302763"/>
          </a:xfrm>
          <a:prstGeom prst="rect">
            <a:avLst/>
          </a:prstGeom>
        </p:spPr>
      </p:pic>
      <p:pic>
        <p:nvPicPr>
          <p:cNvPr id="6" name="object 6"/>
          <p:cNvPicPr/>
          <p:nvPr/>
        </p:nvPicPr>
        <p:blipFill>
          <a:blip r:embed="rId3" cstate="print"/>
          <a:stretch>
            <a:fillRect/>
          </a:stretch>
        </p:blipFill>
        <p:spPr>
          <a:xfrm>
            <a:off x="4244340" y="4306823"/>
            <a:ext cx="3176015" cy="2378963"/>
          </a:xfrm>
          <a:prstGeom prst="rect">
            <a:avLst/>
          </a:prstGeom>
        </p:spPr>
      </p:pic>
      <p:sp>
        <p:nvSpPr>
          <p:cNvPr id="7" name="object 7"/>
          <p:cNvSpPr txBox="1"/>
          <p:nvPr/>
        </p:nvSpPr>
        <p:spPr>
          <a:xfrm>
            <a:off x="8130016" y="2268740"/>
            <a:ext cx="2252345" cy="1731645"/>
          </a:xfrm>
          <a:prstGeom prst="rect">
            <a:avLst/>
          </a:prstGeom>
        </p:spPr>
        <p:txBody>
          <a:bodyPr vert="horz" wrap="square" lIns="0" tIns="13970" rIns="0" bIns="0" rtlCol="0">
            <a:spAutoFit/>
          </a:bodyPr>
          <a:lstStyle/>
          <a:p>
            <a:pPr marL="12700" marR="5080">
              <a:lnSpc>
                <a:spcPct val="100000"/>
              </a:lnSpc>
              <a:spcBef>
                <a:spcPts val="110"/>
              </a:spcBef>
            </a:pPr>
            <a:r>
              <a:rPr sz="1400" spc="-5" dirty="0">
                <a:latin typeface="微软雅黑" panose="020B0503020204020204" charset="-122"/>
                <a:cs typeface="微软雅黑" panose="020B0503020204020204" charset="-122"/>
              </a:rPr>
              <a:t>【关节轴承如何选用？九种典型关节轴承结构及应用特点，</a:t>
            </a:r>
            <a:r>
              <a:rPr sz="1400" spc="-10" dirty="0">
                <a:latin typeface="Calibri" panose="020F0502020204030204"/>
                <a:cs typeface="Calibri" panose="020F0502020204030204"/>
              </a:rPr>
              <a:t>3D</a:t>
            </a:r>
            <a:r>
              <a:rPr sz="1400" spc="-10" dirty="0">
                <a:latin typeface="微软雅黑" panose="020B0503020204020204" charset="-122"/>
                <a:cs typeface="微软雅黑" panose="020B0503020204020204" charset="-122"/>
              </a:rPr>
              <a:t>动画直观演示】</a:t>
            </a:r>
            <a:r>
              <a:rPr sz="1400" spc="-50" dirty="0">
                <a:latin typeface="微软雅黑" panose="020B0503020204020204" charset="-122"/>
                <a:cs typeface="微软雅黑" panose="020B0503020204020204" charset="-122"/>
              </a:rPr>
              <a:t> </a:t>
            </a:r>
            <a:r>
              <a:rPr sz="1400" spc="-10" dirty="0">
                <a:latin typeface="Calibri" panose="020F0502020204030204"/>
                <a:cs typeface="Calibri" panose="020F0502020204030204"/>
              </a:rPr>
              <a:t>https://</a:t>
            </a:r>
            <a:r>
              <a:rPr sz="1400" spc="-10" dirty="0">
                <a:latin typeface="Calibri" panose="020F0502020204030204"/>
                <a:cs typeface="Calibri" panose="020F0502020204030204"/>
                <a:hlinkClick r:id="rId4"/>
              </a:rPr>
              <a:t>www.bilibili.com/video</a:t>
            </a:r>
            <a:endParaRPr sz="1400">
              <a:latin typeface="Calibri" panose="020F0502020204030204"/>
              <a:cs typeface="Calibri" panose="020F0502020204030204"/>
            </a:endParaRPr>
          </a:p>
          <a:p>
            <a:pPr marL="12700" marR="20955" algn="just">
              <a:lnSpc>
                <a:spcPct val="100000"/>
              </a:lnSpc>
              <a:spcBef>
                <a:spcPts val="15"/>
              </a:spcBef>
            </a:pPr>
            <a:r>
              <a:rPr sz="1400" spc="-10" dirty="0">
                <a:latin typeface="Calibri" panose="020F0502020204030204"/>
                <a:cs typeface="Calibri" panose="020F0502020204030204"/>
              </a:rPr>
              <a:t>/BV1vP41187M4/?share_sour ce=copy_web&amp;vd_source=230 d4e2a953803e80721ff5782d7 </a:t>
            </a:r>
            <a:r>
              <a:rPr sz="1400" spc="-20" dirty="0">
                <a:latin typeface="Calibri" panose="020F0502020204030204"/>
                <a:cs typeface="Calibri" panose="020F0502020204030204"/>
              </a:rPr>
              <a:t>0109</a:t>
            </a:r>
            <a:endParaRPr sz="1400">
              <a:latin typeface="Calibri" panose="020F0502020204030204"/>
              <a:cs typeface="Calibri" panose="020F0502020204030204"/>
            </a:endParaRPr>
          </a:p>
        </p:txBody>
      </p:sp>
      <p:pic>
        <p:nvPicPr>
          <p:cNvPr id="8" name="object 8"/>
          <p:cNvPicPr/>
          <p:nvPr/>
        </p:nvPicPr>
        <p:blipFill>
          <a:blip r:embed="rId5" cstate="print"/>
          <a:stretch>
            <a:fillRect/>
          </a:stretch>
        </p:blipFill>
        <p:spPr>
          <a:xfrm>
            <a:off x="7505700" y="4529327"/>
            <a:ext cx="3061715" cy="2045208"/>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1" cstate="print"/>
          <a:stretch>
            <a:fillRect/>
          </a:stretch>
        </p:blipFill>
        <p:spPr>
          <a:xfrm>
            <a:off x="0" y="772668"/>
            <a:ext cx="10692384" cy="1072895"/>
          </a:xfrm>
          <a:prstGeom prst="rect">
            <a:avLst/>
          </a:prstGeom>
        </p:spPr>
      </p:pic>
      <p:sp>
        <p:nvSpPr>
          <p:cNvPr id="3" name="object 3"/>
          <p:cNvSpPr txBox="1">
            <a:spLocks noGrp="1"/>
          </p:cNvSpPr>
          <p:nvPr>
            <p:ph type="title"/>
          </p:nvPr>
        </p:nvSpPr>
        <p:spPr>
          <a:xfrm>
            <a:off x="504012" y="2197128"/>
            <a:ext cx="3241040" cy="559435"/>
          </a:xfrm>
          <a:prstGeom prst="rect">
            <a:avLst/>
          </a:prstGeom>
        </p:spPr>
        <p:txBody>
          <a:bodyPr vert="horz" wrap="square" lIns="0" tIns="12700" rIns="0" bIns="0" rtlCol="0">
            <a:spAutoFit/>
          </a:bodyPr>
          <a:lstStyle/>
          <a:p>
            <a:pPr marL="12700">
              <a:lnSpc>
                <a:spcPct val="100000"/>
              </a:lnSpc>
              <a:spcBef>
                <a:spcPts val="100"/>
              </a:spcBef>
            </a:pPr>
            <a:r>
              <a:rPr sz="3500" spc="-25" dirty="0"/>
              <a:t>2</a:t>
            </a:r>
            <a:r>
              <a:rPr sz="3500" spc="-10" dirty="0"/>
              <a:t>.轴承</a:t>
            </a:r>
            <a:r>
              <a:rPr spc="-20" dirty="0"/>
              <a:t>——牛眼轴承</a:t>
            </a:r>
            <a:endParaRPr sz="3500"/>
          </a:p>
        </p:txBody>
      </p:sp>
      <p:sp>
        <p:nvSpPr>
          <p:cNvPr id="4" name="object 4"/>
          <p:cNvSpPr txBox="1"/>
          <p:nvPr/>
        </p:nvSpPr>
        <p:spPr>
          <a:xfrm>
            <a:off x="950507" y="4236179"/>
            <a:ext cx="2837815" cy="744220"/>
          </a:xfrm>
          <a:prstGeom prst="rect">
            <a:avLst/>
          </a:prstGeom>
        </p:spPr>
        <p:txBody>
          <a:bodyPr vert="horz" wrap="square" lIns="0" tIns="14604" rIns="0" bIns="0" rtlCol="0">
            <a:spAutoFit/>
          </a:bodyPr>
          <a:lstStyle/>
          <a:p>
            <a:pPr marL="12700" marR="5080" algn="just">
              <a:lnSpc>
                <a:spcPct val="101000"/>
              </a:lnSpc>
              <a:spcBef>
                <a:spcPts val="115"/>
              </a:spcBef>
            </a:pPr>
            <a:r>
              <a:rPr sz="1550" spc="-5" dirty="0">
                <a:latin typeface="微软雅黑" panose="020B0503020204020204" charset="-122"/>
                <a:cs typeface="微软雅黑" panose="020B0503020204020204" charset="-122"/>
              </a:rPr>
              <a:t>也叫万向球轴承，可以当作重量较轻的小车轮子使用，也可以用于制作一个滚动输送平台</a:t>
            </a:r>
            <a:endParaRPr sz="1550">
              <a:latin typeface="微软雅黑" panose="020B0503020204020204" charset="-122"/>
              <a:cs typeface="微软雅黑" panose="020B0503020204020204" charset="-122"/>
            </a:endParaRPr>
          </a:p>
        </p:txBody>
      </p:sp>
      <p:grpSp>
        <p:nvGrpSpPr>
          <p:cNvPr id="5" name="object 5"/>
          <p:cNvGrpSpPr/>
          <p:nvPr/>
        </p:nvGrpSpPr>
        <p:grpSpPr>
          <a:xfrm>
            <a:off x="4439411" y="1908048"/>
            <a:ext cx="6134100" cy="4775200"/>
            <a:chOff x="4439411" y="1908048"/>
            <a:chExt cx="6134100" cy="4775200"/>
          </a:xfrm>
        </p:grpSpPr>
        <p:pic>
          <p:nvPicPr>
            <p:cNvPr id="6" name="object 6"/>
            <p:cNvPicPr/>
            <p:nvPr/>
          </p:nvPicPr>
          <p:blipFill>
            <a:blip r:embed="rId2" cstate="print"/>
            <a:stretch>
              <a:fillRect/>
            </a:stretch>
          </p:blipFill>
          <p:spPr>
            <a:xfrm>
              <a:off x="4439411" y="1908048"/>
              <a:ext cx="3966972" cy="2814827"/>
            </a:xfrm>
            <a:prstGeom prst="rect">
              <a:avLst/>
            </a:prstGeom>
          </p:spPr>
        </p:pic>
        <p:pic>
          <p:nvPicPr>
            <p:cNvPr id="7" name="object 7"/>
            <p:cNvPicPr/>
            <p:nvPr/>
          </p:nvPicPr>
          <p:blipFill>
            <a:blip r:embed="rId3" cstate="print"/>
            <a:stretch>
              <a:fillRect/>
            </a:stretch>
          </p:blipFill>
          <p:spPr>
            <a:xfrm>
              <a:off x="8292084" y="4151375"/>
              <a:ext cx="2281427" cy="2525267"/>
            </a:xfrm>
            <a:prstGeom prst="rect">
              <a:avLst/>
            </a:prstGeom>
          </p:spPr>
        </p:pic>
        <p:pic>
          <p:nvPicPr>
            <p:cNvPr id="8" name="object 8"/>
            <p:cNvPicPr/>
            <p:nvPr/>
          </p:nvPicPr>
          <p:blipFill>
            <a:blip r:embed="rId4" cstate="print"/>
            <a:stretch>
              <a:fillRect/>
            </a:stretch>
          </p:blipFill>
          <p:spPr>
            <a:xfrm>
              <a:off x="5733287" y="4623816"/>
              <a:ext cx="2057400" cy="2058923"/>
            </a:xfrm>
            <a:prstGeom prst="rect">
              <a:avLst/>
            </a:prstGeom>
          </p:spPr>
        </p:pic>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1" cstate="print"/>
          <a:stretch>
            <a:fillRect/>
          </a:stretch>
        </p:blipFill>
        <p:spPr>
          <a:xfrm>
            <a:off x="0" y="772668"/>
            <a:ext cx="10692384" cy="1072895"/>
          </a:xfrm>
          <a:prstGeom prst="rect">
            <a:avLst/>
          </a:prstGeom>
        </p:spPr>
      </p:pic>
      <p:sp>
        <p:nvSpPr>
          <p:cNvPr id="3" name="object 3"/>
          <p:cNvSpPr txBox="1">
            <a:spLocks noGrp="1"/>
          </p:cNvSpPr>
          <p:nvPr>
            <p:ph type="title"/>
          </p:nvPr>
        </p:nvSpPr>
        <p:spPr>
          <a:xfrm>
            <a:off x="504012" y="2197128"/>
            <a:ext cx="3241040" cy="559435"/>
          </a:xfrm>
          <a:prstGeom prst="rect">
            <a:avLst/>
          </a:prstGeom>
        </p:spPr>
        <p:txBody>
          <a:bodyPr vert="horz" wrap="square" lIns="0" tIns="12700" rIns="0" bIns="0" rtlCol="0">
            <a:spAutoFit/>
          </a:bodyPr>
          <a:lstStyle/>
          <a:p>
            <a:pPr marL="12700">
              <a:lnSpc>
                <a:spcPct val="100000"/>
              </a:lnSpc>
              <a:spcBef>
                <a:spcPts val="100"/>
              </a:spcBef>
            </a:pPr>
            <a:r>
              <a:rPr sz="3500" spc="-25" dirty="0"/>
              <a:t>2</a:t>
            </a:r>
            <a:r>
              <a:rPr sz="3500" spc="-10" dirty="0"/>
              <a:t>.轴承</a:t>
            </a:r>
            <a:r>
              <a:rPr spc="-20" dirty="0"/>
              <a:t>——直线轴承</a:t>
            </a:r>
            <a:endParaRPr sz="3500"/>
          </a:p>
        </p:txBody>
      </p:sp>
      <p:sp>
        <p:nvSpPr>
          <p:cNvPr id="4" name="object 4"/>
          <p:cNvSpPr txBox="1"/>
          <p:nvPr/>
        </p:nvSpPr>
        <p:spPr>
          <a:xfrm>
            <a:off x="854442" y="2884388"/>
            <a:ext cx="4234180" cy="1469390"/>
          </a:xfrm>
          <a:prstGeom prst="rect">
            <a:avLst/>
          </a:prstGeom>
        </p:spPr>
        <p:txBody>
          <a:bodyPr vert="horz" wrap="square" lIns="0" tIns="16510" rIns="0" bIns="0" rtlCol="0">
            <a:spAutoFit/>
          </a:bodyPr>
          <a:lstStyle/>
          <a:p>
            <a:pPr marL="12700">
              <a:lnSpc>
                <a:spcPct val="100000"/>
              </a:lnSpc>
              <a:spcBef>
                <a:spcPts val="130"/>
              </a:spcBef>
            </a:pPr>
            <a:r>
              <a:rPr sz="1550" dirty="0">
                <a:latin typeface="微软雅黑" panose="020B0503020204020204" charset="-122"/>
                <a:cs typeface="微软雅黑" panose="020B0503020204020204" charset="-122"/>
              </a:rPr>
              <a:t>直线轴承主要是由外圆套</a:t>
            </a:r>
            <a:r>
              <a:rPr sz="1550" dirty="0">
                <a:latin typeface="Calibri" panose="020F0502020204030204"/>
                <a:cs typeface="Calibri" panose="020F0502020204030204"/>
              </a:rPr>
              <a:t>(</a:t>
            </a:r>
            <a:r>
              <a:rPr sz="1550" dirty="0">
                <a:latin typeface="微软雅黑" panose="020B0503020204020204" charset="-122"/>
                <a:cs typeface="微软雅黑" panose="020B0503020204020204" charset="-122"/>
              </a:rPr>
              <a:t>或内圆套</a:t>
            </a:r>
            <a:r>
              <a:rPr sz="1550" spc="-10" dirty="0">
                <a:latin typeface="Calibri" panose="020F0502020204030204"/>
                <a:cs typeface="Calibri" panose="020F0502020204030204"/>
              </a:rPr>
              <a:t>)</a:t>
            </a:r>
            <a:r>
              <a:rPr sz="1550" spc="-15" dirty="0">
                <a:latin typeface="微软雅黑" panose="020B0503020204020204" charset="-122"/>
                <a:cs typeface="微软雅黑" panose="020B0503020204020204" charset="-122"/>
              </a:rPr>
              <a:t>、钢球保</a:t>
            </a:r>
            <a:endParaRPr sz="1550">
              <a:latin typeface="微软雅黑" panose="020B0503020204020204" charset="-122"/>
              <a:cs typeface="微软雅黑" panose="020B0503020204020204" charset="-122"/>
            </a:endParaRPr>
          </a:p>
          <a:p>
            <a:pPr marL="12700" marR="5080">
              <a:lnSpc>
                <a:spcPct val="101000"/>
              </a:lnSpc>
              <a:spcBef>
                <a:spcPts val="45"/>
              </a:spcBef>
            </a:pPr>
            <a:r>
              <a:rPr sz="1550" spc="10" dirty="0">
                <a:latin typeface="微软雅黑" panose="020B0503020204020204" charset="-122"/>
                <a:cs typeface="微软雅黑" panose="020B0503020204020204" charset="-122"/>
              </a:rPr>
              <a:t>持器组成，主要是依靠钢球在套圈内滚动作用，</a:t>
            </a:r>
            <a:r>
              <a:rPr sz="1550" spc="20" dirty="0">
                <a:latin typeface="微软雅黑" panose="020B0503020204020204" charset="-122"/>
                <a:cs typeface="微软雅黑" panose="020B0503020204020204" charset="-122"/>
              </a:rPr>
              <a:t>承受轴问和经问荷载的。但是</a:t>
            </a:r>
            <a:r>
              <a:rPr sz="1550" b="1" spc="15" dirty="0">
                <a:latin typeface="微软雅黑" panose="020B0503020204020204" charset="-122"/>
                <a:cs typeface="微软雅黑" panose="020B0503020204020204" charset="-122"/>
              </a:rPr>
              <a:t>不具备较高的精度</a:t>
            </a:r>
            <a:r>
              <a:rPr sz="1550" b="1" spc="30" dirty="0">
                <a:latin typeface="微软雅黑" panose="020B0503020204020204" charset="-122"/>
                <a:cs typeface="微软雅黑" panose="020B0503020204020204" charset="-122"/>
              </a:rPr>
              <a:t>和承载能力</a:t>
            </a:r>
            <a:endParaRPr sz="1550">
              <a:latin typeface="微软雅黑" panose="020B0503020204020204" charset="-122"/>
              <a:cs typeface="微软雅黑" panose="020B0503020204020204" charset="-122"/>
            </a:endParaRPr>
          </a:p>
          <a:p>
            <a:pPr marL="12700">
              <a:lnSpc>
                <a:spcPct val="100000"/>
              </a:lnSpc>
              <a:spcBef>
                <a:spcPts val="1930"/>
              </a:spcBef>
            </a:pPr>
            <a:r>
              <a:rPr sz="1550" dirty="0">
                <a:latin typeface="微软雅黑" panose="020B0503020204020204" charset="-122"/>
                <a:cs typeface="微软雅黑" panose="020B0503020204020204" charset="-122"/>
              </a:rPr>
              <a:t>安装方便，只需要两个光轴固定座</a:t>
            </a:r>
            <a:r>
              <a:rPr sz="1550" spc="-10" dirty="0">
                <a:latin typeface="Calibri" panose="020F0502020204030204"/>
                <a:cs typeface="Calibri" panose="020F0502020204030204"/>
              </a:rPr>
              <a:t>+</a:t>
            </a:r>
            <a:r>
              <a:rPr sz="1550" spc="-15" dirty="0">
                <a:latin typeface="微软雅黑" panose="020B0503020204020204" charset="-122"/>
                <a:cs typeface="微软雅黑" panose="020B0503020204020204" charset="-122"/>
              </a:rPr>
              <a:t>光轴即可</a:t>
            </a:r>
            <a:endParaRPr sz="1550">
              <a:latin typeface="微软雅黑" panose="020B0503020204020204" charset="-122"/>
              <a:cs typeface="微软雅黑" panose="020B0503020204020204" charset="-122"/>
            </a:endParaRPr>
          </a:p>
        </p:txBody>
      </p:sp>
      <p:pic>
        <p:nvPicPr>
          <p:cNvPr id="5" name="object 5"/>
          <p:cNvPicPr/>
          <p:nvPr/>
        </p:nvPicPr>
        <p:blipFill>
          <a:blip r:embed="rId2" cstate="print"/>
          <a:stretch>
            <a:fillRect/>
          </a:stretch>
        </p:blipFill>
        <p:spPr>
          <a:xfrm>
            <a:off x="5878067" y="1964436"/>
            <a:ext cx="1877567" cy="1674875"/>
          </a:xfrm>
          <a:prstGeom prst="rect">
            <a:avLst/>
          </a:prstGeom>
        </p:spPr>
      </p:pic>
      <p:pic>
        <p:nvPicPr>
          <p:cNvPr id="6" name="object 6"/>
          <p:cNvPicPr/>
          <p:nvPr/>
        </p:nvPicPr>
        <p:blipFill>
          <a:blip r:embed="rId3" cstate="print"/>
          <a:stretch>
            <a:fillRect/>
          </a:stretch>
        </p:blipFill>
        <p:spPr>
          <a:xfrm>
            <a:off x="6560819" y="3922776"/>
            <a:ext cx="3784091" cy="2776727"/>
          </a:xfrm>
          <a:prstGeom prst="rect">
            <a:avLst/>
          </a:prstGeom>
        </p:spPr>
      </p:pic>
      <p:pic>
        <p:nvPicPr>
          <p:cNvPr id="7" name="object 7"/>
          <p:cNvPicPr/>
          <p:nvPr/>
        </p:nvPicPr>
        <p:blipFill>
          <a:blip r:embed="rId4" cstate="print"/>
          <a:stretch>
            <a:fillRect/>
          </a:stretch>
        </p:blipFill>
        <p:spPr>
          <a:xfrm>
            <a:off x="8034528" y="1964436"/>
            <a:ext cx="2255519" cy="1717547"/>
          </a:xfrm>
          <a:prstGeom prst="rect">
            <a:avLst/>
          </a:prstGeom>
        </p:spPr>
      </p:pic>
      <p:pic>
        <p:nvPicPr>
          <p:cNvPr id="8" name="object 8"/>
          <p:cNvPicPr/>
          <p:nvPr/>
        </p:nvPicPr>
        <p:blipFill>
          <a:blip r:embed="rId5" cstate="print"/>
          <a:stretch>
            <a:fillRect/>
          </a:stretch>
        </p:blipFill>
        <p:spPr>
          <a:xfrm>
            <a:off x="2921507" y="4465320"/>
            <a:ext cx="3436619" cy="226314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772668"/>
            <a:ext cx="10692765" cy="5500370"/>
            <a:chOff x="0" y="772668"/>
            <a:chExt cx="10692765" cy="5500370"/>
          </a:xfrm>
        </p:grpSpPr>
        <p:pic>
          <p:nvPicPr>
            <p:cNvPr id="3" name="object 3"/>
            <p:cNvPicPr/>
            <p:nvPr/>
          </p:nvPicPr>
          <p:blipFill>
            <a:blip r:embed="rId1" cstate="print"/>
            <a:stretch>
              <a:fillRect/>
            </a:stretch>
          </p:blipFill>
          <p:spPr>
            <a:xfrm>
              <a:off x="0" y="772668"/>
              <a:ext cx="10692384" cy="1072895"/>
            </a:xfrm>
            <a:prstGeom prst="rect">
              <a:avLst/>
            </a:prstGeom>
          </p:spPr>
        </p:pic>
        <p:pic>
          <p:nvPicPr>
            <p:cNvPr id="4" name="object 4"/>
            <p:cNvPicPr/>
            <p:nvPr/>
          </p:nvPicPr>
          <p:blipFill>
            <a:blip r:embed="rId2" cstate="print"/>
            <a:stretch>
              <a:fillRect/>
            </a:stretch>
          </p:blipFill>
          <p:spPr>
            <a:xfrm>
              <a:off x="8293607" y="1879092"/>
              <a:ext cx="2292095" cy="2266187"/>
            </a:xfrm>
            <a:prstGeom prst="rect">
              <a:avLst/>
            </a:prstGeom>
          </p:spPr>
        </p:pic>
        <p:pic>
          <p:nvPicPr>
            <p:cNvPr id="5" name="object 5"/>
            <p:cNvPicPr/>
            <p:nvPr/>
          </p:nvPicPr>
          <p:blipFill>
            <a:blip r:embed="rId3" cstate="print"/>
            <a:stretch>
              <a:fillRect/>
            </a:stretch>
          </p:blipFill>
          <p:spPr>
            <a:xfrm>
              <a:off x="5782055" y="4066032"/>
              <a:ext cx="2462783" cy="2206751"/>
            </a:xfrm>
            <a:prstGeom prst="rect">
              <a:avLst/>
            </a:prstGeom>
          </p:spPr>
        </p:pic>
      </p:grpSp>
      <p:sp>
        <p:nvSpPr>
          <p:cNvPr id="6" name="object 6"/>
          <p:cNvSpPr txBox="1">
            <a:spLocks noGrp="1"/>
          </p:cNvSpPr>
          <p:nvPr>
            <p:ph type="title"/>
          </p:nvPr>
        </p:nvSpPr>
        <p:spPr>
          <a:xfrm>
            <a:off x="504012" y="2197128"/>
            <a:ext cx="3241040" cy="559435"/>
          </a:xfrm>
          <a:prstGeom prst="rect">
            <a:avLst/>
          </a:prstGeom>
        </p:spPr>
        <p:txBody>
          <a:bodyPr vert="horz" wrap="square" lIns="0" tIns="12700" rIns="0" bIns="0" rtlCol="0">
            <a:spAutoFit/>
          </a:bodyPr>
          <a:lstStyle/>
          <a:p>
            <a:pPr marL="12700">
              <a:lnSpc>
                <a:spcPct val="100000"/>
              </a:lnSpc>
              <a:spcBef>
                <a:spcPts val="100"/>
              </a:spcBef>
            </a:pPr>
            <a:r>
              <a:rPr sz="3500" spc="-25" dirty="0"/>
              <a:t>2</a:t>
            </a:r>
            <a:r>
              <a:rPr sz="3500" spc="-10" dirty="0"/>
              <a:t>.轴承</a:t>
            </a:r>
            <a:r>
              <a:rPr spc="-20" dirty="0"/>
              <a:t>——滑动轴承</a:t>
            </a:r>
            <a:endParaRPr sz="3500"/>
          </a:p>
        </p:txBody>
      </p:sp>
      <p:sp>
        <p:nvSpPr>
          <p:cNvPr id="7" name="object 7"/>
          <p:cNvSpPr txBox="1"/>
          <p:nvPr/>
        </p:nvSpPr>
        <p:spPr>
          <a:xfrm>
            <a:off x="287479" y="3379744"/>
            <a:ext cx="5040630" cy="2187575"/>
          </a:xfrm>
          <a:prstGeom prst="rect">
            <a:avLst/>
          </a:prstGeom>
        </p:spPr>
        <p:txBody>
          <a:bodyPr vert="horz" wrap="square" lIns="0" tIns="13335" rIns="0" bIns="0" rtlCol="0">
            <a:spAutoFit/>
          </a:bodyPr>
          <a:lstStyle/>
          <a:p>
            <a:pPr marL="12700" marR="5080" algn="just">
              <a:lnSpc>
                <a:spcPct val="102000"/>
              </a:lnSpc>
              <a:spcBef>
                <a:spcPts val="105"/>
              </a:spcBef>
            </a:pPr>
            <a:r>
              <a:rPr sz="1550" spc="-5" dirty="0">
                <a:latin typeface="微软雅黑" panose="020B0503020204020204" charset="-122"/>
                <a:cs typeface="微软雅黑" panose="020B0503020204020204" charset="-122"/>
              </a:rPr>
              <a:t>滑动轴承工作平稳、可靠、无噪声。在液体润滑条件下，滑动表面被润滑油分开而不发生直接接触，还可以大大减小摩擦损失和表面磨损，油膜还具有一定的吸振能力。但起动摩擦阻力较大。轴被轴承支承的部分称为轴颈，与轴颈相配的零件称为轴瓦。为了改善轴瓦表面的摩擦性质而在其内表面上浇铸的减摩材料层称为轴承衬。轴瓦和轴承衬的材料统称为滑动轴承材料。滑动轴承应用场合一般在</a:t>
            </a:r>
            <a:r>
              <a:rPr sz="1550" b="1" dirty="0">
                <a:latin typeface="微软雅黑" panose="020B0503020204020204" charset="-122"/>
                <a:cs typeface="微软雅黑" panose="020B0503020204020204" charset="-122"/>
              </a:rPr>
              <a:t>低速重载</a:t>
            </a:r>
            <a:r>
              <a:rPr sz="1550" spc="-5" dirty="0">
                <a:latin typeface="微软雅黑" panose="020B0503020204020204" charset="-122"/>
                <a:cs typeface="微软雅黑" panose="020B0503020204020204" charset="-122"/>
              </a:rPr>
              <a:t>工况条件下，或者是维护保养及加注润滑油困难</a:t>
            </a:r>
            <a:r>
              <a:rPr sz="1550" spc="-10" dirty="0">
                <a:latin typeface="微软雅黑" panose="020B0503020204020204" charset="-122"/>
                <a:cs typeface="微软雅黑" panose="020B0503020204020204" charset="-122"/>
              </a:rPr>
              <a:t>的运转部位</a:t>
            </a:r>
            <a:endParaRPr sz="1550">
              <a:latin typeface="微软雅黑" panose="020B0503020204020204" charset="-122"/>
              <a:cs typeface="微软雅黑" panose="020B0503020204020204" charset="-122"/>
            </a:endParaRPr>
          </a:p>
        </p:txBody>
      </p:sp>
      <p:sp>
        <p:nvSpPr>
          <p:cNvPr id="8" name="object 8"/>
          <p:cNvSpPr txBox="1"/>
          <p:nvPr/>
        </p:nvSpPr>
        <p:spPr>
          <a:xfrm>
            <a:off x="6395711" y="6374359"/>
            <a:ext cx="1232535" cy="267335"/>
          </a:xfrm>
          <a:prstGeom prst="rect">
            <a:avLst/>
          </a:prstGeom>
        </p:spPr>
        <p:txBody>
          <a:bodyPr vert="horz" wrap="square" lIns="0" tIns="16510" rIns="0" bIns="0" rtlCol="0">
            <a:spAutoFit/>
          </a:bodyPr>
          <a:lstStyle/>
          <a:p>
            <a:pPr marL="12700">
              <a:lnSpc>
                <a:spcPct val="100000"/>
              </a:lnSpc>
              <a:spcBef>
                <a:spcPts val="130"/>
              </a:spcBef>
            </a:pPr>
            <a:r>
              <a:rPr sz="1550" spc="-10" dirty="0">
                <a:latin typeface="微软雅黑" panose="020B0503020204020204" charset="-122"/>
                <a:cs typeface="微软雅黑" panose="020B0503020204020204" charset="-122"/>
              </a:rPr>
              <a:t>粉末冶金铜套</a:t>
            </a:r>
            <a:endParaRPr sz="1550">
              <a:latin typeface="微软雅黑" panose="020B0503020204020204" charset="-122"/>
              <a:cs typeface="微软雅黑" panose="020B0503020204020204" charset="-122"/>
            </a:endParaRPr>
          </a:p>
        </p:txBody>
      </p:sp>
      <p:sp>
        <p:nvSpPr>
          <p:cNvPr id="9" name="object 9"/>
          <p:cNvSpPr txBox="1"/>
          <p:nvPr/>
        </p:nvSpPr>
        <p:spPr>
          <a:xfrm>
            <a:off x="9023021" y="4240796"/>
            <a:ext cx="830580" cy="267335"/>
          </a:xfrm>
          <a:prstGeom prst="rect">
            <a:avLst/>
          </a:prstGeom>
        </p:spPr>
        <p:txBody>
          <a:bodyPr vert="horz" wrap="square" lIns="0" tIns="16510" rIns="0" bIns="0" rtlCol="0">
            <a:spAutoFit/>
          </a:bodyPr>
          <a:lstStyle/>
          <a:p>
            <a:pPr marL="12700">
              <a:lnSpc>
                <a:spcPct val="100000"/>
              </a:lnSpc>
              <a:spcBef>
                <a:spcPts val="130"/>
              </a:spcBef>
            </a:pPr>
            <a:r>
              <a:rPr sz="1550" spc="-15" dirty="0">
                <a:latin typeface="微软雅黑" panose="020B0503020204020204" charset="-122"/>
                <a:cs typeface="微软雅黑" panose="020B0503020204020204" charset="-122"/>
              </a:rPr>
              <a:t>无油衬套</a:t>
            </a:r>
            <a:endParaRPr sz="1550">
              <a:latin typeface="微软雅黑" panose="020B0503020204020204" charset="-122"/>
              <a:cs typeface="微软雅黑" panose="020B0503020204020204"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1509" y="2088918"/>
            <a:ext cx="4396105" cy="559435"/>
          </a:xfrm>
          <a:prstGeom prst="rect">
            <a:avLst/>
          </a:prstGeom>
        </p:spPr>
        <p:txBody>
          <a:bodyPr vert="horz" wrap="square" lIns="0" tIns="12700" rIns="0" bIns="0" rtlCol="0">
            <a:spAutoFit/>
          </a:bodyPr>
          <a:lstStyle/>
          <a:p>
            <a:pPr marL="12700">
              <a:lnSpc>
                <a:spcPct val="100000"/>
              </a:lnSpc>
              <a:spcBef>
                <a:spcPts val="100"/>
              </a:spcBef>
            </a:pPr>
            <a:r>
              <a:rPr sz="3500" dirty="0"/>
              <a:t>3</a:t>
            </a:r>
            <a:r>
              <a:rPr sz="3500" spc="-10" dirty="0"/>
              <a:t>. 轴系固定件</a:t>
            </a:r>
            <a:r>
              <a:rPr spc="-20" dirty="0"/>
              <a:t>——联轴器</a:t>
            </a:r>
            <a:endParaRPr sz="3500"/>
          </a:p>
        </p:txBody>
      </p:sp>
      <p:pic>
        <p:nvPicPr>
          <p:cNvPr id="3" name="object 3"/>
          <p:cNvPicPr/>
          <p:nvPr/>
        </p:nvPicPr>
        <p:blipFill>
          <a:blip r:embed="rId1" cstate="print"/>
          <a:stretch>
            <a:fillRect/>
          </a:stretch>
        </p:blipFill>
        <p:spPr>
          <a:xfrm>
            <a:off x="0" y="772668"/>
            <a:ext cx="10692384" cy="1071372"/>
          </a:xfrm>
          <a:prstGeom prst="rect">
            <a:avLst/>
          </a:prstGeom>
        </p:spPr>
      </p:pic>
      <p:pic>
        <p:nvPicPr>
          <p:cNvPr id="4" name="object 4"/>
          <p:cNvPicPr/>
          <p:nvPr/>
        </p:nvPicPr>
        <p:blipFill>
          <a:blip r:embed="rId2" cstate="print"/>
          <a:stretch>
            <a:fillRect/>
          </a:stretch>
        </p:blipFill>
        <p:spPr>
          <a:xfrm>
            <a:off x="124968" y="3003803"/>
            <a:ext cx="1965959" cy="1705355"/>
          </a:xfrm>
          <a:prstGeom prst="rect">
            <a:avLst/>
          </a:prstGeom>
        </p:spPr>
      </p:pic>
      <p:sp>
        <p:nvSpPr>
          <p:cNvPr id="5" name="object 5"/>
          <p:cNvSpPr txBox="1"/>
          <p:nvPr/>
        </p:nvSpPr>
        <p:spPr>
          <a:xfrm>
            <a:off x="286006" y="4877794"/>
            <a:ext cx="1633220" cy="1800225"/>
          </a:xfrm>
          <a:prstGeom prst="rect">
            <a:avLst/>
          </a:prstGeom>
        </p:spPr>
        <p:txBody>
          <a:bodyPr vert="horz" wrap="square" lIns="0" tIns="16510" rIns="0" bIns="0" rtlCol="0">
            <a:spAutoFit/>
          </a:bodyPr>
          <a:lstStyle/>
          <a:p>
            <a:pPr marL="10795" algn="ctr">
              <a:lnSpc>
                <a:spcPct val="100000"/>
              </a:lnSpc>
              <a:spcBef>
                <a:spcPts val="130"/>
              </a:spcBef>
            </a:pPr>
            <a:r>
              <a:rPr sz="1550" b="1" spc="-10" dirty="0">
                <a:latin typeface="微软雅黑" panose="020B0503020204020204" charset="-122"/>
                <a:cs typeface="微软雅黑" panose="020B0503020204020204" charset="-122"/>
              </a:rPr>
              <a:t>梅花联轴器</a:t>
            </a:r>
            <a:endParaRPr sz="1550">
              <a:latin typeface="微软雅黑" panose="020B0503020204020204" charset="-122"/>
              <a:cs typeface="微软雅黑" panose="020B0503020204020204" charset="-122"/>
            </a:endParaRPr>
          </a:p>
          <a:p>
            <a:pPr marL="10795" algn="ctr">
              <a:lnSpc>
                <a:spcPct val="100000"/>
              </a:lnSpc>
              <a:spcBef>
                <a:spcPts val="40"/>
              </a:spcBef>
            </a:pPr>
            <a:r>
              <a:rPr sz="1550" b="1" dirty="0">
                <a:latin typeface="微软雅黑" panose="020B0503020204020204" charset="-122"/>
                <a:cs typeface="微软雅黑" panose="020B0503020204020204" charset="-122"/>
              </a:rPr>
              <a:t>（弹性联轴器</a:t>
            </a:r>
            <a:r>
              <a:rPr sz="1550" b="1" spc="-50" dirty="0">
                <a:latin typeface="微软雅黑" panose="020B0503020204020204" charset="-122"/>
                <a:cs typeface="微软雅黑" panose="020B0503020204020204" charset="-122"/>
              </a:rPr>
              <a:t>）</a:t>
            </a:r>
            <a:endParaRPr sz="1550">
              <a:latin typeface="微软雅黑" panose="020B0503020204020204" charset="-122"/>
              <a:cs typeface="微软雅黑" panose="020B0503020204020204" charset="-122"/>
            </a:endParaRPr>
          </a:p>
          <a:p>
            <a:pPr marL="12700" marR="5080" algn="just">
              <a:lnSpc>
                <a:spcPct val="101000"/>
              </a:lnSpc>
              <a:spcBef>
                <a:spcPts val="740"/>
              </a:spcBef>
            </a:pPr>
            <a:r>
              <a:rPr sz="1550" spc="-10" dirty="0">
                <a:latin typeface="微软雅黑" panose="020B0503020204020204" charset="-122"/>
                <a:cs typeface="微软雅黑" panose="020B0503020204020204" charset="-122"/>
              </a:rPr>
              <a:t>特点：由两个爪形轴套和梅花状弹性体组成能够实现轴向、径向、角向的补偿、减振和缓冲</a:t>
            </a:r>
            <a:endParaRPr sz="1550">
              <a:latin typeface="微软雅黑" panose="020B0503020204020204" charset="-122"/>
              <a:cs typeface="微软雅黑" panose="020B0503020204020204" charset="-122"/>
            </a:endParaRPr>
          </a:p>
        </p:txBody>
      </p:sp>
      <p:pic>
        <p:nvPicPr>
          <p:cNvPr id="6" name="object 6"/>
          <p:cNvPicPr/>
          <p:nvPr/>
        </p:nvPicPr>
        <p:blipFill>
          <a:blip r:embed="rId3" cstate="print"/>
          <a:stretch>
            <a:fillRect/>
          </a:stretch>
        </p:blipFill>
        <p:spPr>
          <a:xfrm>
            <a:off x="2292095" y="3051048"/>
            <a:ext cx="1676400" cy="1621535"/>
          </a:xfrm>
          <a:prstGeom prst="rect">
            <a:avLst/>
          </a:prstGeom>
        </p:spPr>
      </p:pic>
      <p:sp>
        <p:nvSpPr>
          <p:cNvPr id="7" name="object 7"/>
          <p:cNvSpPr txBox="1"/>
          <p:nvPr/>
        </p:nvSpPr>
        <p:spPr>
          <a:xfrm>
            <a:off x="2565938" y="4998220"/>
            <a:ext cx="1031240" cy="267335"/>
          </a:xfrm>
          <a:prstGeom prst="rect">
            <a:avLst/>
          </a:prstGeom>
        </p:spPr>
        <p:txBody>
          <a:bodyPr vert="horz" wrap="square" lIns="0" tIns="16510" rIns="0" bIns="0" rtlCol="0">
            <a:spAutoFit/>
          </a:bodyPr>
          <a:lstStyle/>
          <a:p>
            <a:pPr marL="12700">
              <a:lnSpc>
                <a:spcPct val="100000"/>
              </a:lnSpc>
              <a:spcBef>
                <a:spcPts val="130"/>
              </a:spcBef>
            </a:pPr>
            <a:r>
              <a:rPr sz="1550" b="1" spc="-10" dirty="0">
                <a:latin typeface="微软雅黑" panose="020B0503020204020204" charset="-122"/>
                <a:cs typeface="微软雅黑" panose="020B0503020204020204" charset="-122"/>
              </a:rPr>
              <a:t>刚性联轴器</a:t>
            </a:r>
            <a:endParaRPr sz="1550">
              <a:latin typeface="微软雅黑" panose="020B0503020204020204" charset="-122"/>
              <a:cs typeface="微软雅黑" panose="020B0503020204020204" charset="-122"/>
            </a:endParaRPr>
          </a:p>
        </p:txBody>
      </p:sp>
      <p:sp>
        <p:nvSpPr>
          <p:cNvPr id="8" name="object 8"/>
          <p:cNvSpPr txBox="1"/>
          <p:nvPr/>
        </p:nvSpPr>
        <p:spPr>
          <a:xfrm>
            <a:off x="2419581" y="5495049"/>
            <a:ext cx="1289050" cy="744220"/>
          </a:xfrm>
          <a:prstGeom prst="rect">
            <a:avLst/>
          </a:prstGeom>
        </p:spPr>
        <p:txBody>
          <a:bodyPr vert="horz" wrap="square" lIns="0" tIns="14604" rIns="0" bIns="0" rtlCol="0">
            <a:spAutoFit/>
          </a:bodyPr>
          <a:lstStyle/>
          <a:p>
            <a:pPr marL="12700" marR="5080" algn="just">
              <a:lnSpc>
                <a:spcPct val="101000"/>
              </a:lnSpc>
              <a:spcBef>
                <a:spcPts val="115"/>
              </a:spcBef>
            </a:pPr>
            <a:r>
              <a:rPr sz="1550" spc="-10" dirty="0">
                <a:latin typeface="微软雅黑" panose="020B0503020204020204" charset="-122"/>
                <a:cs typeface="微软雅黑" panose="020B0503020204020204" charset="-122"/>
              </a:rPr>
              <a:t>特点：没有弹</a:t>
            </a:r>
            <a:r>
              <a:rPr sz="1550" dirty="0">
                <a:latin typeface="微软雅黑" panose="020B0503020204020204" charset="-122"/>
                <a:cs typeface="微软雅黑" panose="020B0503020204020204" charset="-122"/>
              </a:rPr>
              <a:t>性</a:t>
            </a:r>
            <a:r>
              <a:rPr sz="1550" dirty="0">
                <a:latin typeface="Arial MT"/>
                <a:cs typeface="Arial MT"/>
              </a:rPr>
              <a:t>/</a:t>
            </a:r>
            <a:r>
              <a:rPr sz="1550" spc="-10" dirty="0">
                <a:latin typeface="微软雅黑" panose="020B0503020204020204" charset="-122"/>
                <a:cs typeface="微软雅黑" panose="020B0503020204020204" charset="-122"/>
              </a:rPr>
              <a:t>柔性，传动</a:t>
            </a:r>
            <a:r>
              <a:rPr sz="1550" spc="-25" dirty="0">
                <a:latin typeface="微软雅黑" panose="020B0503020204020204" charset="-122"/>
                <a:cs typeface="微软雅黑" panose="020B0503020204020204" charset="-122"/>
              </a:rPr>
              <a:t>准确</a:t>
            </a:r>
            <a:endParaRPr sz="1550">
              <a:latin typeface="微软雅黑" panose="020B0503020204020204" charset="-122"/>
              <a:cs typeface="微软雅黑" panose="020B0503020204020204" charset="-122"/>
            </a:endParaRPr>
          </a:p>
        </p:txBody>
      </p:sp>
      <p:pic>
        <p:nvPicPr>
          <p:cNvPr id="9" name="object 9"/>
          <p:cNvPicPr/>
          <p:nvPr/>
        </p:nvPicPr>
        <p:blipFill>
          <a:blip r:embed="rId4" cstate="print"/>
          <a:stretch>
            <a:fillRect/>
          </a:stretch>
        </p:blipFill>
        <p:spPr>
          <a:xfrm>
            <a:off x="4157472" y="3058667"/>
            <a:ext cx="2378963" cy="1650491"/>
          </a:xfrm>
          <a:prstGeom prst="rect">
            <a:avLst/>
          </a:prstGeom>
        </p:spPr>
      </p:pic>
      <p:sp>
        <p:nvSpPr>
          <p:cNvPr id="10" name="object 10"/>
          <p:cNvSpPr txBox="1"/>
          <p:nvPr/>
        </p:nvSpPr>
        <p:spPr>
          <a:xfrm>
            <a:off x="4601974" y="4877794"/>
            <a:ext cx="1585595" cy="1771650"/>
          </a:xfrm>
          <a:prstGeom prst="rect">
            <a:avLst/>
          </a:prstGeom>
        </p:spPr>
        <p:txBody>
          <a:bodyPr vert="horz" wrap="square" lIns="0" tIns="16510" rIns="0" bIns="0" rtlCol="0">
            <a:spAutoFit/>
          </a:bodyPr>
          <a:lstStyle/>
          <a:p>
            <a:pPr marL="239395">
              <a:lnSpc>
                <a:spcPct val="100000"/>
              </a:lnSpc>
              <a:spcBef>
                <a:spcPts val="130"/>
              </a:spcBef>
            </a:pPr>
            <a:r>
              <a:rPr sz="1550" b="1" spc="-10" dirty="0">
                <a:latin typeface="微软雅黑" panose="020B0503020204020204" charset="-122"/>
                <a:cs typeface="微软雅黑" panose="020B0503020204020204" charset="-122"/>
              </a:rPr>
              <a:t>绕线联轴器</a:t>
            </a:r>
            <a:endParaRPr sz="1550">
              <a:latin typeface="微软雅黑" panose="020B0503020204020204" charset="-122"/>
              <a:cs typeface="微软雅黑" panose="020B0503020204020204" charset="-122"/>
            </a:endParaRPr>
          </a:p>
          <a:p>
            <a:pPr marL="108585">
              <a:lnSpc>
                <a:spcPct val="100000"/>
              </a:lnSpc>
              <a:spcBef>
                <a:spcPts val="40"/>
              </a:spcBef>
            </a:pPr>
            <a:r>
              <a:rPr sz="1550" b="1" dirty="0">
                <a:latin typeface="微软雅黑" panose="020B0503020204020204" charset="-122"/>
                <a:cs typeface="微软雅黑" panose="020B0503020204020204" charset="-122"/>
              </a:rPr>
              <a:t>（弹性联轴器</a:t>
            </a:r>
            <a:r>
              <a:rPr sz="1550" b="1" spc="-50" dirty="0">
                <a:latin typeface="Calibri" panose="020F0502020204030204"/>
                <a:cs typeface="Calibri" panose="020F0502020204030204"/>
              </a:rPr>
              <a:t>)</a:t>
            </a:r>
            <a:endParaRPr sz="1550">
              <a:latin typeface="Calibri" panose="020F0502020204030204"/>
              <a:cs typeface="Calibri" panose="020F0502020204030204"/>
            </a:endParaRPr>
          </a:p>
          <a:p>
            <a:pPr marL="12700" marR="5080">
              <a:lnSpc>
                <a:spcPct val="101000"/>
              </a:lnSpc>
              <a:spcBef>
                <a:spcPts val="510"/>
              </a:spcBef>
            </a:pPr>
            <a:r>
              <a:rPr sz="1550" spc="-10" dirty="0">
                <a:latin typeface="微软雅黑" panose="020B0503020204020204" charset="-122"/>
                <a:cs typeface="微软雅黑" panose="020B0503020204020204" charset="-122"/>
              </a:rPr>
              <a:t>中间是一个类似弹簧的结构，可</a:t>
            </a:r>
            <a:r>
              <a:rPr sz="1550" dirty="0">
                <a:latin typeface="微软雅黑" panose="020B0503020204020204" charset="-122"/>
                <a:cs typeface="微软雅黑" panose="020B0503020204020204" charset="-122"/>
              </a:rPr>
              <a:t>拉伸</a:t>
            </a:r>
            <a:r>
              <a:rPr sz="1550" dirty="0">
                <a:latin typeface="Calibri" panose="020F0502020204030204"/>
                <a:cs typeface="Calibri" panose="020F0502020204030204"/>
              </a:rPr>
              <a:t>/</a:t>
            </a:r>
            <a:r>
              <a:rPr sz="1550" dirty="0">
                <a:latin typeface="微软雅黑" panose="020B0503020204020204" charset="-122"/>
                <a:cs typeface="微软雅黑" panose="020B0503020204020204" charset="-122"/>
              </a:rPr>
              <a:t>压缩</a:t>
            </a:r>
            <a:r>
              <a:rPr sz="1550" dirty="0">
                <a:latin typeface="Calibri" panose="020F0502020204030204"/>
                <a:cs typeface="Calibri" panose="020F0502020204030204"/>
              </a:rPr>
              <a:t>/</a:t>
            </a:r>
            <a:r>
              <a:rPr sz="1550" spc="-20" dirty="0">
                <a:latin typeface="微软雅黑" panose="020B0503020204020204" charset="-122"/>
                <a:cs typeface="微软雅黑" panose="020B0503020204020204" charset="-122"/>
              </a:rPr>
              <a:t>弯曲，</a:t>
            </a:r>
            <a:r>
              <a:rPr sz="1550" spc="-10" dirty="0">
                <a:latin typeface="微软雅黑" panose="020B0503020204020204" charset="-122"/>
                <a:cs typeface="微软雅黑" panose="020B0503020204020204" charset="-122"/>
              </a:rPr>
              <a:t>能够补偿两轴轻</a:t>
            </a:r>
            <a:r>
              <a:rPr sz="1550" spc="-15" dirty="0">
                <a:latin typeface="微软雅黑" panose="020B0503020204020204" charset="-122"/>
                <a:cs typeface="微软雅黑" panose="020B0503020204020204" charset="-122"/>
              </a:rPr>
              <a:t>微不同轴</a:t>
            </a:r>
            <a:endParaRPr sz="1550">
              <a:latin typeface="微软雅黑" panose="020B0503020204020204" charset="-122"/>
              <a:cs typeface="微软雅黑" panose="020B0503020204020204" charset="-122"/>
            </a:endParaRPr>
          </a:p>
        </p:txBody>
      </p:sp>
      <p:pic>
        <p:nvPicPr>
          <p:cNvPr id="11" name="object 11"/>
          <p:cNvPicPr/>
          <p:nvPr/>
        </p:nvPicPr>
        <p:blipFill>
          <a:blip r:embed="rId5" cstate="print"/>
          <a:stretch>
            <a:fillRect/>
          </a:stretch>
        </p:blipFill>
        <p:spPr>
          <a:xfrm>
            <a:off x="6819900" y="3000756"/>
            <a:ext cx="1851659" cy="1731263"/>
          </a:xfrm>
          <a:prstGeom prst="rect">
            <a:avLst/>
          </a:prstGeom>
        </p:spPr>
      </p:pic>
      <p:sp>
        <p:nvSpPr>
          <p:cNvPr id="12" name="object 12"/>
          <p:cNvSpPr txBox="1"/>
          <p:nvPr/>
        </p:nvSpPr>
        <p:spPr>
          <a:xfrm>
            <a:off x="7066290" y="5021107"/>
            <a:ext cx="1293495" cy="1652270"/>
          </a:xfrm>
          <a:prstGeom prst="rect">
            <a:avLst/>
          </a:prstGeom>
        </p:spPr>
        <p:txBody>
          <a:bodyPr vert="horz" wrap="square" lIns="0" tIns="16510" rIns="0" bIns="0" rtlCol="0">
            <a:spAutoFit/>
          </a:bodyPr>
          <a:lstStyle/>
          <a:p>
            <a:pPr marL="131445">
              <a:lnSpc>
                <a:spcPct val="100000"/>
              </a:lnSpc>
              <a:spcBef>
                <a:spcPts val="130"/>
              </a:spcBef>
            </a:pPr>
            <a:r>
              <a:rPr sz="1550" b="1" spc="-10" dirty="0">
                <a:latin typeface="微软雅黑" panose="020B0503020204020204" charset="-122"/>
                <a:cs typeface="微软雅黑" panose="020B0503020204020204" charset="-122"/>
              </a:rPr>
              <a:t>法兰联轴器</a:t>
            </a:r>
            <a:endParaRPr sz="1550">
              <a:latin typeface="微软雅黑" panose="020B0503020204020204" charset="-122"/>
              <a:cs typeface="微软雅黑" panose="020B0503020204020204" charset="-122"/>
            </a:endParaRPr>
          </a:p>
          <a:p>
            <a:pPr marL="12700" marR="5080">
              <a:lnSpc>
                <a:spcPct val="101000"/>
              </a:lnSpc>
              <a:spcBef>
                <a:spcPts val="1475"/>
              </a:spcBef>
            </a:pPr>
            <a:r>
              <a:rPr sz="1550" spc="-10" dirty="0">
                <a:latin typeface="微软雅黑" panose="020B0503020204020204" charset="-122"/>
                <a:cs typeface="微软雅黑" panose="020B0503020204020204" charset="-122"/>
              </a:rPr>
              <a:t>有法兰盘，方便固定在其他面上，一般用</a:t>
            </a:r>
            <a:r>
              <a:rPr sz="1550" dirty="0">
                <a:latin typeface="微软雅黑" panose="020B0503020204020204" charset="-122"/>
                <a:cs typeface="微软雅黑" panose="020B0503020204020204" charset="-122"/>
              </a:rPr>
              <a:t>于“轴</a:t>
            </a:r>
            <a:r>
              <a:rPr sz="1550" spc="-10" dirty="0">
                <a:latin typeface="Calibri" panose="020F0502020204030204"/>
                <a:cs typeface="Calibri" panose="020F0502020204030204"/>
              </a:rPr>
              <a:t>-</a:t>
            </a:r>
            <a:r>
              <a:rPr sz="1550" spc="-20" dirty="0">
                <a:latin typeface="微软雅黑" panose="020B0503020204020204" charset="-122"/>
                <a:cs typeface="微软雅黑" panose="020B0503020204020204" charset="-122"/>
              </a:rPr>
              <a:t>面”的</a:t>
            </a:r>
            <a:r>
              <a:rPr sz="1550" spc="-25" dirty="0">
                <a:latin typeface="微软雅黑" panose="020B0503020204020204" charset="-122"/>
                <a:cs typeface="微软雅黑" panose="020B0503020204020204" charset="-122"/>
              </a:rPr>
              <a:t>连接</a:t>
            </a:r>
            <a:endParaRPr sz="1550">
              <a:latin typeface="微软雅黑" panose="020B0503020204020204" charset="-122"/>
              <a:cs typeface="微软雅黑" panose="020B0503020204020204" charset="-122"/>
            </a:endParaRPr>
          </a:p>
        </p:txBody>
      </p:sp>
      <p:sp>
        <p:nvSpPr>
          <p:cNvPr id="13" name="object 13"/>
          <p:cNvSpPr txBox="1"/>
          <p:nvPr/>
        </p:nvSpPr>
        <p:spPr>
          <a:xfrm>
            <a:off x="9199829" y="4998220"/>
            <a:ext cx="1031240" cy="267335"/>
          </a:xfrm>
          <a:prstGeom prst="rect">
            <a:avLst/>
          </a:prstGeom>
        </p:spPr>
        <p:txBody>
          <a:bodyPr vert="horz" wrap="square" lIns="0" tIns="16510" rIns="0" bIns="0" rtlCol="0">
            <a:spAutoFit/>
          </a:bodyPr>
          <a:lstStyle/>
          <a:p>
            <a:pPr marL="12700">
              <a:lnSpc>
                <a:spcPct val="100000"/>
              </a:lnSpc>
              <a:spcBef>
                <a:spcPts val="130"/>
              </a:spcBef>
            </a:pPr>
            <a:r>
              <a:rPr sz="1550" b="1" spc="-10" dirty="0">
                <a:latin typeface="微软雅黑" panose="020B0503020204020204" charset="-122"/>
                <a:cs typeface="微软雅黑" panose="020B0503020204020204" charset="-122"/>
              </a:rPr>
              <a:t>夹紧联轴器</a:t>
            </a:r>
            <a:endParaRPr sz="1550">
              <a:latin typeface="微软雅黑" panose="020B0503020204020204" charset="-122"/>
              <a:cs typeface="微软雅黑" panose="020B0503020204020204" charset="-122"/>
            </a:endParaRPr>
          </a:p>
        </p:txBody>
      </p:sp>
      <p:sp>
        <p:nvSpPr>
          <p:cNvPr id="14" name="object 14"/>
          <p:cNvSpPr txBox="1"/>
          <p:nvPr/>
        </p:nvSpPr>
        <p:spPr>
          <a:xfrm>
            <a:off x="9179999" y="5495049"/>
            <a:ext cx="1031240" cy="744220"/>
          </a:xfrm>
          <a:prstGeom prst="rect">
            <a:avLst/>
          </a:prstGeom>
        </p:spPr>
        <p:txBody>
          <a:bodyPr vert="horz" wrap="square" lIns="0" tIns="14604" rIns="0" bIns="0" rtlCol="0">
            <a:spAutoFit/>
          </a:bodyPr>
          <a:lstStyle/>
          <a:p>
            <a:pPr marL="12700" marR="5080" algn="just">
              <a:lnSpc>
                <a:spcPct val="101000"/>
              </a:lnSpc>
              <a:spcBef>
                <a:spcPts val="115"/>
              </a:spcBef>
            </a:pPr>
            <a:r>
              <a:rPr sz="1550" spc="-10" dirty="0">
                <a:latin typeface="微软雅黑" panose="020B0503020204020204" charset="-122"/>
                <a:cs typeface="微软雅黑" panose="020B0503020204020204" charset="-122"/>
              </a:rPr>
              <a:t>通过锁紧两个零件夹住</a:t>
            </a:r>
            <a:r>
              <a:rPr sz="1550" spc="-20" dirty="0">
                <a:latin typeface="微软雅黑" panose="020B0503020204020204" charset="-122"/>
                <a:cs typeface="微软雅黑" panose="020B0503020204020204" charset="-122"/>
              </a:rPr>
              <a:t>输出轴</a:t>
            </a:r>
            <a:endParaRPr sz="1550">
              <a:latin typeface="微软雅黑" panose="020B0503020204020204" charset="-122"/>
              <a:cs typeface="微软雅黑" panose="020B0503020204020204" charset="-122"/>
            </a:endParaRPr>
          </a:p>
        </p:txBody>
      </p:sp>
      <p:pic>
        <p:nvPicPr>
          <p:cNvPr id="15" name="object 15"/>
          <p:cNvPicPr/>
          <p:nvPr/>
        </p:nvPicPr>
        <p:blipFill>
          <a:blip r:embed="rId6" cstate="print"/>
          <a:stretch>
            <a:fillRect/>
          </a:stretch>
        </p:blipFill>
        <p:spPr>
          <a:xfrm>
            <a:off x="8854440" y="3058667"/>
            <a:ext cx="1743455" cy="1632203"/>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3030" y="2088918"/>
            <a:ext cx="4396105" cy="559435"/>
          </a:xfrm>
          <a:prstGeom prst="rect">
            <a:avLst/>
          </a:prstGeom>
        </p:spPr>
        <p:txBody>
          <a:bodyPr vert="horz" wrap="square" lIns="0" tIns="12700" rIns="0" bIns="0" rtlCol="0">
            <a:spAutoFit/>
          </a:bodyPr>
          <a:lstStyle/>
          <a:p>
            <a:pPr marL="12700">
              <a:lnSpc>
                <a:spcPct val="100000"/>
              </a:lnSpc>
              <a:spcBef>
                <a:spcPts val="100"/>
              </a:spcBef>
            </a:pPr>
            <a:r>
              <a:rPr sz="3500" dirty="0"/>
              <a:t>3</a:t>
            </a:r>
            <a:r>
              <a:rPr sz="3500" spc="-10" dirty="0"/>
              <a:t>. 轴系固定件</a:t>
            </a:r>
            <a:r>
              <a:rPr spc="-20" dirty="0"/>
              <a:t>——联轴器</a:t>
            </a:r>
            <a:endParaRPr sz="3500"/>
          </a:p>
        </p:txBody>
      </p:sp>
      <p:pic>
        <p:nvPicPr>
          <p:cNvPr id="3" name="object 3"/>
          <p:cNvPicPr/>
          <p:nvPr/>
        </p:nvPicPr>
        <p:blipFill>
          <a:blip r:embed="rId1" cstate="print"/>
          <a:stretch>
            <a:fillRect/>
          </a:stretch>
        </p:blipFill>
        <p:spPr>
          <a:xfrm>
            <a:off x="0" y="772668"/>
            <a:ext cx="10692384" cy="1071372"/>
          </a:xfrm>
          <a:prstGeom prst="rect">
            <a:avLst/>
          </a:prstGeom>
        </p:spPr>
      </p:pic>
      <p:sp>
        <p:nvSpPr>
          <p:cNvPr id="4" name="object 4"/>
          <p:cNvSpPr txBox="1"/>
          <p:nvPr/>
        </p:nvSpPr>
        <p:spPr>
          <a:xfrm>
            <a:off x="1348226" y="2820443"/>
            <a:ext cx="7439025" cy="984885"/>
          </a:xfrm>
          <a:prstGeom prst="rect">
            <a:avLst/>
          </a:prstGeom>
        </p:spPr>
        <p:txBody>
          <a:bodyPr vert="horz" wrap="square" lIns="0" tIns="13970" rIns="0" bIns="0" rtlCol="0">
            <a:spAutoFit/>
          </a:bodyPr>
          <a:lstStyle/>
          <a:p>
            <a:pPr marL="12700" marR="5080">
              <a:lnSpc>
                <a:spcPct val="101000"/>
              </a:lnSpc>
              <a:spcBef>
                <a:spcPts val="110"/>
              </a:spcBef>
            </a:pPr>
            <a:r>
              <a:rPr sz="1550" spc="30" dirty="0">
                <a:latin typeface="微软雅黑" panose="020B0503020204020204" charset="-122"/>
                <a:cs typeface="微软雅黑" panose="020B0503020204020204" charset="-122"/>
              </a:rPr>
              <a:t>无弹性元件的</a:t>
            </a:r>
            <a:r>
              <a:rPr sz="1550" b="1" spc="15" dirty="0">
                <a:latin typeface="微软雅黑" panose="020B0503020204020204" charset="-122"/>
                <a:cs typeface="微软雅黑" panose="020B0503020204020204" charset="-122"/>
              </a:rPr>
              <a:t>挠性联轴器</a:t>
            </a:r>
            <a:r>
              <a:rPr sz="1550" spc="10" dirty="0">
                <a:latin typeface="微软雅黑" panose="020B0503020204020204" charset="-122"/>
                <a:cs typeface="微软雅黑" panose="020B0503020204020204" charset="-122"/>
              </a:rPr>
              <a:t>通过特殊的结构设计来补偿各种轴间相对位移，补偿能力很强。但其结构较为复杂，且在比赛中往往用不到大角度下的传动，因此使用较少。这类联轴器在使用时需要注意，两轴的转速并不会时刻保持一致，在前一级匀速转动的情况下因为联轴器结构的原因可能会造成后一级转动的不均匀</a:t>
            </a:r>
            <a:endParaRPr sz="1550">
              <a:latin typeface="微软雅黑" panose="020B0503020204020204" charset="-122"/>
              <a:cs typeface="微软雅黑" panose="020B0503020204020204" charset="-122"/>
            </a:endParaRPr>
          </a:p>
        </p:txBody>
      </p:sp>
      <p:pic>
        <p:nvPicPr>
          <p:cNvPr id="5" name="object 5"/>
          <p:cNvPicPr/>
          <p:nvPr/>
        </p:nvPicPr>
        <p:blipFill>
          <a:blip r:embed="rId2" cstate="print"/>
          <a:stretch>
            <a:fillRect/>
          </a:stretch>
        </p:blipFill>
        <p:spPr>
          <a:xfrm>
            <a:off x="455676" y="4037076"/>
            <a:ext cx="2956559" cy="1943099"/>
          </a:xfrm>
          <a:prstGeom prst="rect">
            <a:avLst/>
          </a:prstGeom>
        </p:spPr>
      </p:pic>
      <p:sp>
        <p:nvSpPr>
          <p:cNvPr id="6" name="object 6"/>
          <p:cNvSpPr txBox="1"/>
          <p:nvPr/>
        </p:nvSpPr>
        <p:spPr>
          <a:xfrm>
            <a:off x="3524529" y="4432829"/>
            <a:ext cx="1232535" cy="1225550"/>
          </a:xfrm>
          <a:prstGeom prst="rect">
            <a:avLst/>
          </a:prstGeom>
        </p:spPr>
        <p:txBody>
          <a:bodyPr vert="horz" wrap="square" lIns="0" tIns="13335" rIns="0" bIns="0" rtlCol="0">
            <a:spAutoFit/>
          </a:bodyPr>
          <a:lstStyle/>
          <a:p>
            <a:pPr marL="12700" marR="5080" algn="just">
              <a:lnSpc>
                <a:spcPct val="101000"/>
              </a:lnSpc>
              <a:spcBef>
                <a:spcPts val="105"/>
              </a:spcBef>
            </a:pPr>
            <a:r>
              <a:rPr sz="1550" spc="-10" dirty="0">
                <a:latin typeface="微软雅黑" panose="020B0503020204020204" charset="-122"/>
                <a:cs typeface="微软雅黑" panose="020B0503020204020204" charset="-122"/>
              </a:rPr>
              <a:t>十字轴万向节联轴器，可实现不同轴的两轴传动，但承载能力较低</a:t>
            </a:r>
            <a:endParaRPr sz="1550">
              <a:latin typeface="微软雅黑" panose="020B0503020204020204" charset="-122"/>
              <a:cs typeface="微软雅黑" panose="020B0503020204020204" charset="-122"/>
            </a:endParaRPr>
          </a:p>
        </p:txBody>
      </p:sp>
      <p:pic>
        <p:nvPicPr>
          <p:cNvPr id="7" name="object 7"/>
          <p:cNvPicPr/>
          <p:nvPr/>
        </p:nvPicPr>
        <p:blipFill>
          <a:blip r:embed="rId3" cstate="print"/>
          <a:stretch>
            <a:fillRect/>
          </a:stretch>
        </p:blipFill>
        <p:spPr>
          <a:xfrm>
            <a:off x="4835652" y="4162044"/>
            <a:ext cx="3070859" cy="1943099"/>
          </a:xfrm>
          <a:prstGeom prst="rect">
            <a:avLst/>
          </a:prstGeom>
        </p:spPr>
      </p:pic>
      <p:pic>
        <p:nvPicPr>
          <p:cNvPr id="8" name="object 8"/>
          <p:cNvPicPr/>
          <p:nvPr/>
        </p:nvPicPr>
        <p:blipFill>
          <a:blip r:embed="rId4" cstate="print"/>
          <a:stretch>
            <a:fillRect/>
          </a:stretch>
        </p:blipFill>
        <p:spPr>
          <a:xfrm>
            <a:off x="7976616" y="4352544"/>
            <a:ext cx="2618231" cy="2089404"/>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3030" y="2088918"/>
            <a:ext cx="2784475" cy="559435"/>
          </a:xfrm>
          <a:prstGeom prst="rect">
            <a:avLst/>
          </a:prstGeom>
        </p:spPr>
        <p:txBody>
          <a:bodyPr vert="horz" wrap="square" lIns="0" tIns="12700" rIns="0" bIns="0" rtlCol="0">
            <a:spAutoFit/>
          </a:bodyPr>
          <a:lstStyle/>
          <a:p>
            <a:pPr marL="12700">
              <a:lnSpc>
                <a:spcPct val="100000"/>
              </a:lnSpc>
              <a:spcBef>
                <a:spcPts val="100"/>
              </a:spcBef>
            </a:pPr>
            <a:r>
              <a:rPr sz="3500" dirty="0"/>
              <a:t>3</a:t>
            </a:r>
            <a:r>
              <a:rPr sz="3500" spc="-20" dirty="0"/>
              <a:t>. 轴系固定件</a:t>
            </a:r>
            <a:endParaRPr sz="3500"/>
          </a:p>
        </p:txBody>
      </p:sp>
      <p:sp>
        <p:nvSpPr>
          <p:cNvPr id="3" name="object 3"/>
          <p:cNvSpPr txBox="1"/>
          <p:nvPr/>
        </p:nvSpPr>
        <p:spPr>
          <a:xfrm>
            <a:off x="3041338" y="2221537"/>
            <a:ext cx="1637664" cy="400685"/>
          </a:xfrm>
          <a:prstGeom prst="rect">
            <a:avLst/>
          </a:prstGeom>
        </p:spPr>
        <p:txBody>
          <a:bodyPr vert="horz" wrap="square" lIns="0" tIns="13970" rIns="0" bIns="0" rtlCol="0">
            <a:spAutoFit/>
          </a:bodyPr>
          <a:lstStyle/>
          <a:p>
            <a:pPr marL="12700">
              <a:lnSpc>
                <a:spcPct val="100000"/>
              </a:lnSpc>
              <a:spcBef>
                <a:spcPts val="110"/>
              </a:spcBef>
            </a:pPr>
            <a:r>
              <a:rPr sz="2450" b="1" spc="-20" dirty="0">
                <a:solidFill>
                  <a:srgbClr val="26599C"/>
                </a:solidFill>
                <a:latin typeface="微软雅黑" panose="020B0503020204020204" charset="-122"/>
                <a:cs typeface="微软雅黑" panose="020B0503020204020204" charset="-122"/>
              </a:rPr>
              <a:t>——键连接</a:t>
            </a:r>
            <a:endParaRPr sz="2450">
              <a:latin typeface="微软雅黑" panose="020B0503020204020204" charset="-122"/>
              <a:cs typeface="微软雅黑" panose="020B0503020204020204" charset="-122"/>
            </a:endParaRPr>
          </a:p>
        </p:txBody>
      </p:sp>
      <p:pic>
        <p:nvPicPr>
          <p:cNvPr id="4" name="object 4"/>
          <p:cNvPicPr/>
          <p:nvPr/>
        </p:nvPicPr>
        <p:blipFill>
          <a:blip r:embed="rId1" cstate="print"/>
          <a:stretch>
            <a:fillRect/>
          </a:stretch>
        </p:blipFill>
        <p:spPr>
          <a:xfrm>
            <a:off x="0" y="772668"/>
            <a:ext cx="10692384" cy="1071372"/>
          </a:xfrm>
          <a:prstGeom prst="rect">
            <a:avLst/>
          </a:prstGeom>
        </p:spPr>
      </p:pic>
      <p:sp>
        <p:nvSpPr>
          <p:cNvPr id="5" name="object 5"/>
          <p:cNvSpPr txBox="1"/>
          <p:nvPr/>
        </p:nvSpPr>
        <p:spPr>
          <a:xfrm>
            <a:off x="397296" y="3396442"/>
            <a:ext cx="4239895" cy="267335"/>
          </a:xfrm>
          <a:prstGeom prst="rect">
            <a:avLst/>
          </a:prstGeom>
        </p:spPr>
        <p:txBody>
          <a:bodyPr vert="horz" wrap="square" lIns="0" tIns="16510" rIns="0" bIns="0" rtlCol="0">
            <a:spAutoFit/>
          </a:bodyPr>
          <a:lstStyle/>
          <a:p>
            <a:pPr marL="12700">
              <a:lnSpc>
                <a:spcPct val="100000"/>
              </a:lnSpc>
              <a:spcBef>
                <a:spcPts val="130"/>
              </a:spcBef>
            </a:pPr>
            <a:r>
              <a:rPr sz="1550" dirty="0">
                <a:solidFill>
                  <a:srgbClr val="181A1F"/>
                </a:solidFill>
                <a:latin typeface="微软雅黑" panose="020B0503020204020204" charset="-122"/>
                <a:cs typeface="微软雅黑" panose="020B0503020204020204" charset="-122"/>
              </a:rPr>
              <a:t>键连接是实现轴与轴上零件间</a:t>
            </a:r>
            <a:r>
              <a:rPr sz="1550" b="1" dirty="0">
                <a:solidFill>
                  <a:srgbClr val="181A1F"/>
                </a:solidFill>
                <a:latin typeface="微软雅黑" panose="020B0503020204020204" charset="-122"/>
                <a:cs typeface="微软雅黑" panose="020B0503020204020204" charset="-122"/>
              </a:rPr>
              <a:t>周向</a:t>
            </a:r>
            <a:r>
              <a:rPr sz="1550" spc="-10" dirty="0">
                <a:solidFill>
                  <a:srgbClr val="181A1F"/>
                </a:solidFill>
                <a:latin typeface="微软雅黑" panose="020B0503020204020204" charset="-122"/>
                <a:cs typeface="微软雅黑" panose="020B0503020204020204" charset="-122"/>
              </a:rPr>
              <a:t>的固定和传动</a:t>
            </a:r>
            <a:endParaRPr sz="1550">
              <a:latin typeface="微软雅黑" panose="020B0503020204020204" charset="-122"/>
              <a:cs typeface="微软雅黑" panose="020B0503020204020204" charset="-122"/>
            </a:endParaRPr>
          </a:p>
        </p:txBody>
      </p:sp>
      <p:pic>
        <p:nvPicPr>
          <p:cNvPr id="6" name="object 6"/>
          <p:cNvPicPr/>
          <p:nvPr/>
        </p:nvPicPr>
        <p:blipFill>
          <a:blip r:embed="rId2" cstate="print"/>
          <a:stretch>
            <a:fillRect/>
          </a:stretch>
        </p:blipFill>
        <p:spPr>
          <a:xfrm>
            <a:off x="740663" y="3855720"/>
            <a:ext cx="3148583" cy="2523743"/>
          </a:xfrm>
          <a:prstGeom prst="rect">
            <a:avLst/>
          </a:prstGeom>
        </p:spPr>
      </p:pic>
      <p:pic>
        <p:nvPicPr>
          <p:cNvPr id="7" name="object 7"/>
          <p:cNvPicPr/>
          <p:nvPr/>
        </p:nvPicPr>
        <p:blipFill>
          <a:blip r:embed="rId3" cstate="print"/>
          <a:stretch>
            <a:fillRect/>
          </a:stretch>
        </p:blipFill>
        <p:spPr>
          <a:xfrm>
            <a:off x="5241035" y="1959863"/>
            <a:ext cx="2758440" cy="1078991"/>
          </a:xfrm>
          <a:prstGeom prst="rect">
            <a:avLst/>
          </a:prstGeom>
        </p:spPr>
      </p:pic>
      <p:pic>
        <p:nvPicPr>
          <p:cNvPr id="8" name="object 8"/>
          <p:cNvPicPr/>
          <p:nvPr/>
        </p:nvPicPr>
        <p:blipFill>
          <a:blip r:embed="rId4" cstate="print"/>
          <a:stretch>
            <a:fillRect/>
          </a:stretch>
        </p:blipFill>
        <p:spPr>
          <a:xfrm>
            <a:off x="4884420" y="3150108"/>
            <a:ext cx="5469635" cy="3055619"/>
          </a:xfrm>
          <a:prstGeom prst="rect">
            <a:avLst/>
          </a:prstGeom>
        </p:spPr>
      </p:pic>
      <p:sp>
        <p:nvSpPr>
          <p:cNvPr id="9" name="object 9"/>
          <p:cNvSpPr txBox="1"/>
          <p:nvPr/>
        </p:nvSpPr>
        <p:spPr>
          <a:xfrm>
            <a:off x="5316776" y="6279943"/>
            <a:ext cx="4584700" cy="505459"/>
          </a:xfrm>
          <a:prstGeom prst="rect">
            <a:avLst/>
          </a:prstGeom>
        </p:spPr>
        <p:txBody>
          <a:bodyPr vert="horz" wrap="square" lIns="0" tIns="13970" rIns="0" bIns="0" rtlCol="0">
            <a:spAutoFit/>
          </a:bodyPr>
          <a:lstStyle/>
          <a:p>
            <a:pPr marL="12700" marR="5080">
              <a:lnSpc>
                <a:spcPct val="100000"/>
              </a:lnSpc>
              <a:spcBef>
                <a:spcPts val="110"/>
              </a:spcBef>
            </a:pPr>
            <a:r>
              <a:rPr sz="1050" spc="-20" dirty="0">
                <a:solidFill>
                  <a:srgbClr val="4874CA"/>
                </a:solidFill>
                <a:latin typeface="微软雅黑" panose="020B0503020204020204" charset="-122"/>
                <a:cs typeface="微软雅黑" panose="020B0503020204020204" charset="-122"/>
              </a:rPr>
              <a:t>视频链接：【普通平键连接的三种类型及其键槽加工方法，</a:t>
            </a:r>
            <a:r>
              <a:rPr sz="1050" spc="-20" dirty="0">
                <a:solidFill>
                  <a:srgbClr val="4874CA"/>
                </a:solidFill>
                <a:latin typeface="Calibri" panose="020F0502020204030204"/>
                <a:cs typeface="Calibri" panose="020F0502020204030204"/>
              </a:rPr>
              <a:t>3D</a:t>
            </a:r>
            <a:r>
              <a:rPr sz="1050" spc="-20" dirty="0">
                <a:solidFill>
                  <a:srgbClr val="4874CA"/>
                </a:solidFill>
                <a:latin typeface="微软雅黑" panose="020B0503020204020204" charset="-122"/>
                <a:cs typeface="微软雅黑" panose="020B0503020204020204" charset="-122"/>
              </a:rPr>
              <a:t>动画直观演示】</a:t>
            </a:r>
            <a:r>
              <a:rPr sz="1050" spc="-50" dirty="0">
                <a:solidFill>
                  <a:srgbClr val="4874CA"/>
                </a:solidFill>
                <a:latin typeface="微软雅黑" panose="020B0503020204020204" charset="-122"/>
                <a:cs typeface="微软雅黑" panose="020B0503020204020204" charset="-122"/>
              </a:rPr>
              <a:t> </a:t>
            </a:r>
            <a:r>
              <a:rPr sz="1050" spc="-10" dirty="0">
                <a:solidFill>
                  <a:srgbClr val="4874CA"/>
                </a:solidFill>
                <a:latin typeface="Calibri" panose="020F0502020204030204"/>
                <a:cs typeface="Calibri" panose="020F0502020204030204"/>
              </a:rPr>
              <a:t>https://</a:t>
            </a:r>
            <a:r>
              <a:rPr sz="1050" spc="-10" dirty="0">
                <a:solidFill>
                  <a:srgbClr val="4874CA"/>
                </a:solidFill>
                <a:latin typeface="Calibri" panose="020F0502020204030204"/>
                <a:cs typeface="Calibri" panose="020F0502020204030204"/>
                <a:hlinkClick r:id="rId5"/>
              </a:rPr>
              <a:t>www.bilibili.com/video/BV1Rv4y1v7aE/?share_source=copy_web&amp;vd_sour</a:t>
            </a:r>
            <a:r>
              <a:rPr sz="1050" spc="-10" dirty="0">
                <a:solidFill>
                  <a:srgbClr val="4874CA"/>
                </a:solidFill>
                <a:latin typeface="Calibri" panose="020F0502020204030204"/>
                <a:cs typeface="Calibri" panose="020F0502020204030204"/>
              </a:rPr>
              <a:t> ce=230d4e2a953803e80721ff5782d70109</a:t>
            </a:r>
            <a:endParaRPr sz="1050">
              <a:latin typeface="Calibri" panose="020F0502020204030204"/>
              <a:cs typeface="Calibri" panose="020F0502020204030204"/>
            </a:endParaRPr>
          </a:p>
        </p:txBody>
      </p:sp>
      <p:sp>
        <p:nvSpPr>
          <p:cNvPr id="10" name="object 10"/>
          <p:cNvSpPr txBox="1"/>
          <p:nvPr/>
        </p:nvSpPr>
        <p:spPr>
          <a:xfrm>
            <a:off x="8677208" y="2043193"/>
            <a:ext cx="1847850" cy="985519"/>
          </a:xfrm>
          <a:prstGeom prst="rect">
            <a:avLst/>
          </a:prstGeom>
        </p:spPr>
        <p:txBody>
          <a:bodyPr vert="horz" wrap="square" lIns="0" tIns="13335" rIns="0" bIns="0" rtlCol="0">
            <a:spAutoFit/>
          </a:bodyPr>
          <a:lstStyle/>
          <a:p>
            <a:pPr marL="12700" marR="5080">
              <a:lnSpc>
                <a:spcPct val="100000"/>
              </a:lnSpc>
              <a:spcBef>
                <a:spcPts val="105"/>
              </a:spcBef>
            </a:pPr>
            <a:r>
              <a:rPr sz="1050" spc="-10" dirty="0">
                <a:solidFill>
                  <a:srgbClr val="4874CA"/>
                </a:solidFill>
                <a:latin typeface="微软雅黑" panose="020B0503020204020204" charset="-122"/>
                <a:cs typeface="微软雅黑" panose="020B0503020204020204" charset="-122"/>
              </a:rPr>
              <a:t>应力集中解释视频：【简述什么是应力集中】</a:t>
            </a:r>
            <a:r>
              <a:rPr sz="1050" spc="-50" dirty="0">
                <a:solidFill>
                  <a:srgbClr val="4874CA"/>
                </a:solidFill>
                <a:latin typeface="微软雅黑" panose="020B0503020204020204" charset="-122"/>
                <a:cs typeface="微软雅黑" panose="020B0503020204020204" charset="-122"/>
              </a:rPr>
              <a:t> </a:t>
            </a:r>
            <a:r>
              <a:rPr sz="1050" spc="-10" dirty="0">
                <a:solidFill>
                  <a:srgbClr val="4874CA"/>
                </a:solidFill>
                <a:latin typeface="Calibri" panose="020F0502020204030204"/>
                <a:cs typeface="Calibri" panose="020F0502020204030204"/>
              </a:rPr>
              <a:t>https://</a:t>
            </a:r>
            <a:r>
              <a:rPr sz="1050" spc="-10" dirty="0">
                <a:solidFill>
                  <a:srgbClr val="4874CA"/>
                </a:solidFill>
                <a:latin typeface="Calibri" panose="020F0502020204030204"/>
                <a:cs typeface="Calibri" panose="020F0502020204030204"/>
                <a:hlinkClick r:id="rId6"/>
              </a:rPr>
              <a:t>www.bilibili.com/video/B</a:t>
            </a:r>
            <a:r>
              <a:rPr sz="1050" spc="-10" dirty="0">
                <a:solidFill>
                  <a:srgbClr val="4874CA"/>
                </a:solidFill>
                <a:latin typeface="Calibri" panose="020F0502020204030204"/>
                <a:cs typeface="Calibri" panose="020F0502020204030204"/>
              </a:rPr>
              <a:t> V17y4y1c71J/?share_source=cop y_web&amp;vd_source=230d4e2a953 803e80721ff5782d70109</a:t>
            </a:r>
            <a:endParaRPr sz="1050">
              <a:latin typeface="Calibri" panose="020F0502020204030204"/>
              <a:cs typeface="Calibri" panose="020F0502020204030204"/>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3030" y="2088918"/>
            <a:ext cx="4396105" cy="559435"/>
          </a:xfrm>
          <a:prstGeom prst="rect">
            <a:avLst/>
          </a:prstGeom>
        </p:spPr>
        <p:txBody>
          <a:bodyPr vert="horz" wrap="square" lIns="0" tIns="12700" rIns="0" bIns="0" rtlCol="0">
            <a:spAutoFit/>
          </a:bodyPr>
          <a:lstStyle/>
          <a:p>
            <a:pPr marL="12700">
              <a:lnSpc>
                <a:spcPct val="100000"/>
              </a:lnSpc>
              <a:spcBef>
                <a:spcPts val="100"/>
              </a:spcBef>
            </a:pPr>
            <a:r>
              <a:rPr sz="3500" dirty="0"/>
              <a:t>3</a:t>
            </a:r>
            <a:r>
              <a:rPr sz="3500" spc="-10" dirty="0"/>
              <a:t>. 轴系固定件</a:t>
            </a:r>
            <a:r>
              <a:rPr spc="-20" dirty="0"/>
              <a:t>——胀紧套</a:t>
            </a:r>
            <a:endParaRPr sz="3500"/>
          </a:p>
        </p:txBody>
      </p:sp>
      <p:pic>
        <p:nvPicPr>
          <p:cNvPr id="3" name="object 3"/>
          <p:cNvPicPr/>
          <p:nvPr/>
        </p:nvPicPr>
        <p:blipFill>
          <a:blip r:embed="rId1" cstate="print"/>
          <a:stretch>
            <a:fillRect/>
          </a:stretch>
        </p:blipFill>
        <p:spPr>
          <a:xfrm>
            <a:off x="0" y="772668"/>
            <a:ext cx="10692384" cy="1071372"/>
          </a:xfrm>
          <a:prstGeom prst="rect">
            <a:avLst/>
          </a:prstGeom>
        </p:spPr>
      </p:pic>
      <p:pic>
        <p:nvPicPr>
          <p:cNvPr id="4" name="object 4"/>
          <p:cNvPicPr/>
          <p:nvPr/>
        </p:nvPicPr>
        <p:blipFill>
          <a:blip r:embed="rId2" cstate="print"/>
          <a:stretch>
            <a:fillRect/>
          </a:stretch>
        </p:blipFill>
        <p:spPr>
          <a:xfrm>
            <a:off x="7182611" y="2168651"/>
            <a:ext cx="2740151" cy="2281428"/>
          </a:xfrm>
          <a:prstGeom prst="rect">
            <a:avLst/>
          </a:prstGeom>
        </p:spPr>
      </p:pic>
      <p:pic>
        <p:nvPicPr>
          <p:cNvPr id="5" name="object 5"/>
          <p:cNvPicPr/>
          <p:nvPr/>
        </p:nvPicPr>
        <p:blipFill>
          <a:blip r:embed="rId3" cstate="print"/>
          <a:stretch>
            <a:fillRect/>
          </a:stretch>
        </p:blipFill>
        <p:spPr>
          <a:xfrm>
            <a:off x="574548" y="2846832"/>
            <a:ext cx="6246875" cy="3479291"/>
          </a:xfrm>
          <a:prstGeom prst="rect">
            <a:avLst/>
          </a:prstGeom>
        </p:spPr>
      </p:pic>
      <p:sp>
        <p:nvSpPr>
          <p:cNvPr id="6" name="object 6"/>
          <p:cNvSpPr txBox="1"/>
          <p:nvPr/>
        </p:nvSpPr>
        <p:spPr>
          <a:xfrm>
            <a:off x="7037391" y="4606493"/>
            <a:ext cx="3503929" cy="1780539"/>
          </a:xfrm>
          <a:prstGeom prst="rect">
            <a:avLst/>
          </a:prstGeom>
        </p:spPr>
        <p:txBody>
          <a:bodyPr vert="horz" wrap="square" lIns="0" tIns="14604" rIns="0" bIns="0" rtlCol="0">
            <a:spAutoFit/>
          </a:bodyPr>
          <a:lstStyle/>
          <a:p>
            <a:pPr marL="865505" marR="1022350" indent="-579120" algn="just">
              <a:lnSpc>
                <a:spcPct val="101000"/>
              </a:lnSpc>
              <a:spcBef>
                <a:spcPts val="115"/>
              </a:spcBef>
            </a:pPr>
            <a:r>
              <a:rPr sz="2325" spc="-82" baseline="2000" dirty="0">
                <a:latin typeface="微软雅黑" panose="020B0503020204020204" charset="-122"/>
                <a:cs typeface="微软雅黑" panose="020B0503020204020204" charset="-122"/>
              </a:rPr>
              <a:t>特点：</a:t>
            </a:r>
            <a:r>
              <a:rPr sz="1550" spc="-10" dirty="0">
                <a:latin typeface="微软雅黑" panose="020B0503020204020204" charset="-122"/>
                <a:cs typeface="微软雅黑" panose="020B0503020204020204" charset="-122"/>
              </a:rPr>
              <a:t>拧紧自带的螺丝，涨紧套会同时向内</a:t>
            </a:r>
            <a:r>
              <a:rPr sz="1550" spc="-15" dirty="0">
                <a:latin typeface="微软雅黑" panose="020B0503020204020204" charset="-122"/>
                <a:cs typeface="微软雅黑" panose="020B0503020204020204" charset="-122"/>
              </a:rPr>
              <a:t>和向外扩</a:t>
            </a:r>
            <a:endParaRPr sz="1550">
              <a:latin typeface="微软雅黑" panose="020B0503020204020204" charset="-122"/>
              <a:cs typeface="微软雅黑" panose="020B0503020204020204" charset="-122"/>
            </a:endParaRPr>
          </a:p>
          <a:p>
            <a:pPr marL="12700">
              <a:lnSpc>
                <a:spcPct val="100000"/>
              </a:lnSpc>
              <a:spcBef>
                <a:spcPts val="2305"/>
              </a:spcBef>
            </a:pPr>
            <a:r>
              <a:rPr sz="1200" spc="-5" dirty="0">
                <a:solidFill>
                  <a:srgbClr val="4874CA"/>
                </a:solidFill>
                <a:latin typeface="微软雅黑" panose="020B0503020204020204" charset="-122"/>
                <a:cs typeface="微软雅黑" panose="020B0503020204020204" charset="-122"/>
              </a:rPr>
              <a:t>视频链接：【没有键槽的光轴和光孔怎么连接】</a:t>
            </a:r>
            <a:endParaRPr sz="1200">
              <a:latin typeface="微软雅黑" panose="020B0503020204020204" charset="-122"/>
              <a:cs typeface="微软雅黑" panose="020B0503020204020204" charset="-122"/>
            </a:endParaRPr>
          </a:p>
          <a:p>
            <a:pPr marL="12700">
              <a:lnSpc>
                <a:spcPct val="100000"/>
              </a:lnSpc>
              <a:spcBef>
                <a:spcPts val="25"/>
              </a:spcBef>
            </a:pPr>
            <a:r>
              <a:rPr sz="1200" spc="-10" dirty="0">
                <a:solidFill>
                  <a:srgbClr val="4874CA"/>
                </a:solidFill>
                <a:latin typeface="Calibri" panose="020F0502020204030204"/>
                <a:cs typeface="Calibri" panose="020F0502020204030204"/>
              </a:rPr>
              <a:t>https://</a:t>
            </a:r>
            <a:r>
              <a:rPr sz="1200" spc="-10" dirty="0">
                <a:solidFill>
                  <a:srgbClr val="4874CA"/>
                </a:solidFill>
                <a:latin typeface="Calibri" panose="020F0502020204030204"/>
                <a:cs typeface="Calibri" panose="020F0502020204030204"/>
                <a:hlinkClick r:id="rId4"/>
              </a:rPr>
              <a:t>www.bilibili.com/video/BV1aG4y1B7fQ/?share</a:t>
            </a:r>
            <a:endParaRPr sz="1200">
              <a:latin typeface="Calibri" panose="020F0502020204030204"/>
              <a:cs typeface="Calibri" panose="020F0502020204030204"/>
            </a:endParaRPr>
          </a:p>
          <a:p>
            <a:pPr marL="12700" marR="5080">
              <a:lnSpc>
                <a:spcPct val="102000"/>
              </a:lnSpc>
            </a:pPr>
            <a:r>
              <a:rPr sz="1200" spc="-10" dirty="0">
                <a:solidFill>
                  <a:srgbClr val="4874CA"/>
                </a:solidFill>
                <a:latin typeface="Calibri" panose="020F0502020204030204"/>
                <a:cs typeface="Calibri" panose="020F0502020204030204"/>
              </a:rPr>
              <a:t>_source=copy_web&amp;vd_source=230d4e2a953803e807 21ff5782d70109</a:t>
            </a:r>
            <a:endParaRPr sz="1200">
              <a:latin typeface="Calibri" panose="020F0502020204030204"/>
              <a:cs typeface="Calibri" panose="020F0502020204030204"/>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1509" y="2088918"/>
            <a:ext cx="4396105" cy="559435"/>
          </a:xfrm>
          <a:prstGeom prst="rect">
            <a:avLst/>
          </a:prstGeom>
        </p:spPr>
        <p:txBody>
          <a:bodyPr vert="horz" wrap="square" lIns="0" tIns="12700" rIns="0" bIns="0" rtlCol="0">
            <a:spAutoFit/>
          </a:bodyPr>
          <a:lstStyle/>
          <a:p>
            <a:pPr marL="12700">
              <a:lnSpc>
                <a:spcPct val="100000"/>
              </a:lnSpc>
              <a:spcBef>
                <a:spcPts val="100"/>
              </a:spcBef>
            </a:pPr>
            <a:r>
              <a:rPr sz="3500" dirty="0"/>
              <a:t>3</a:t>
            </a:r>
            <a:r>
              <a:rPr sz="3500" spc="-10" dirty="0"/>
              <a:t>. 轴系固定件</a:t>
            </a:r>
            <a:r>
              <a:rPr spc="-20" dirty="0"/>
              <a:t>——轴承座</a:t>
            </a:r>
            <a:endParaRPr sz="3500"/>
          </a:p>
        </p:txBody>
      </p:sp>
      <p:pic>
        <p:nvPicPr>
          <p:cNvPr id="3" name="object 3"/>
          <p:cNvPicPr/>
          <p:nvPr/>
        </p:nvPicPr>
        <p:blipFill>
          <a:blip r:embed="rId1" cstate="print"/>
          <a:stretch>
            <a:fillRect/>
          </a:stretch>
        </p:blipFill>
        <p:spPr>
          <a:xfrm>
            <a:off x="0" y="772668"/>
            <a:ext cx="10692384" cy="1071372"/>
          </a:xfrm>
          <a:prstGeom prst="rect">
            <a:avLst/>
          </a:prstGeom>
        </p:spPr>
      </p:pic>
      <p:pic>
        <p:nvPicPr>
          <p:cNvPr id="4" name="object 4"/>
          <p:cNvPicPr/>
          <p:nvPr/>
        </p:nvPicPr>
        <p:blipFill>
          <a:blip r:embed="rId2" cstate="print"/>
          <a:stretch>
            <a:fillRect/>
          </a:stretch>
        </p:blipFill>
        <p:spPr>
          <a:xfrm>
            <a:off x="1088136" y="3108960"/>
            <a:ext cx="3916680" cy="2930651"/>
          </a:xfrm>
          <a:prstGeom prst="rect">
            <a:avLst/>
          </a:prstGeom>
        </p:spPr>
      </p:pic>
      <p:pic>
        <p:nvPicPr>
          <p:cNvPr id="5" name="object 5"/>
          <p:cNvPicPr/>
          <p:nvPr/>
        </p:nvPicPr>
        <p:blipFill>
          <a:blip r:embed="rId3" cstate="print"/>
          <a:stretch>
            <a:fillRect/>
          </a:stretch>
        </p:blipFill>
        <p:spPr>
          <a:xfrm>
            <a:off x="5687567" y="2482596"/>
            <a:ext cx="3875532" cy="3877055"/>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1509" y="2088918"/>
            <a:ext cx="5020945" cy="559435"/>
          </a:xfrm>
          <a:prstGeom prst="rect">
            <a:avLst/>
          </a:prstGeom>
        </p:spPr>
        <p:txBody>
          <a:bodyPr vert="horz" wrap="square" lIns="0" tIns="12700" rIns="0" bIns="0" rtlCol="0">
            <a:spAutoFit/>
          </a:bodyPr>
          <a:lstStyle/>
          <a:p>
            <a:pPr marL="12700">
              <a:lnSpc>
                <a:spcPct val="100000"/>
              </a:lnSpc>
              <a:spcBef>
                <a:spcPts val="100"/>
              </a:spcBef>
            </a:pPr>
            <a:r>
              <a:rPr sz="3500" dirty="0"/>
              <a:t>3</a:t>
            </a:r>
            <a:r>
              <a:rPr sz="3500" spc="-10" dirty="0"/>
              <a:t>. 轴系固定件</a:t>
            </a:r>
            <a:r>
              <a:rPr spc="-20" dirty="0"/>
              <a:t>——光轴止推环</a:t>
            </a:r>
            <a:endParaRPr sz="3500"/>
          </a:p>
        </p:txBody>
      </p:sp>
      <p:pic>
        <p:nvPicPr>
          <p:cNvPr id="3" name="object 3"/>
          <p:cNvPicPr/>
          <p:nvPr/>
        </p:nvPicPr>
        <p:blipFill>
          <a:blip r:embed="rId1" cstate="print"/>
          <a:stretch>
            <a:fillRect/>
          </a:stretch>
        </p:blipFill>
        <p:spPr>
          <a:xfrm>
            <a:off x="0" y="772668"/>
            <a:ext cx="10692384" cy="1071372"/>
          </a:xfrm>
          <a:prstGeom prst="rect">
            <a:avLst/>
          </a:prstGeom>
        </p:spPr>
      </p:pic>
      <p:sp>
        <p:nvSpPr>
          <p:cNvPr id="4" name="object 4"/>
          <p:cNvSpPr txBox="1"/>
          <p:nvPr/>
        </p:nvSpPr>
        <p:spPr>
          <a:xfrm>
            <a:off x="2568983" y="2908847"/>
            <a:ext cx="1433830" cy="267335"/>
          </a:xfrm>
          <a:prstGeom prst="rect">
            <a:avLst/>
          </a:prstGeom>
        </p:spPr>
        <p:txBody>
          <a:bodyPr vert="horz" wrap="square" lIns="0" tIns="16510" rIns="0" bIns="0" rtlCol="0">
            <a:spAutoFit/>
          </a:bodyPr>
          <a:lstStyle/>
          <a:p>
            <a:pPr marL="12700">
              <a:lnSpc>
                <a:spcPct val="100000"/>
              </a:lnSpc>
              <a:spcBef>
                <a:spcPts val="130"/>
              </a:spcBef>
            </a:pPr>
            <a:r>
              <a:rPr sz="1550" spc="-10" dirty="0">
                <a:latin typeface="微软雅黑" panose="020B0503020204020204" charset="-122"/>
                <a:cs typeface="微软雅黑" panose="020B0503020204020204" charset="-122"/>
              </a:rPr>
              <a:t>可以锁在光轴上</a:t>
            </a:r>
            <a:endParaRPr sz="1550">
              <a:latin typeface="微软雅黑" panose="020B0503020204020204" charset="-122"/>
              <a:cs typeface="微软雅黑" panose="020B0503020204020204" charset="-122"/>
            </a:endParaRPr>
          </a:p>
        </p:txBody>
      </p:sp>
      <p:sp>
        <p:nvSpPr>
          <p:cNvPr id="5" name="object 5"/>
          <p:cNvSpPr txBox="1"/>
          <p:nvPr/>
        </p:nvSpPr>
        <p:spPr>
          <a:xfrm>
            <a:off x="1208028" y="2888975"/>
            <a:ext cx="1137920" cy="292735"/>
          </a:xfrm>
          <a:prstGeom prst="rect">
            <a:avLst/>
          </a:prstGeom>
        </p:spPr>
        <p:txBody>
          <a:bodyPr vert="horz" wrap="square" lIns="0" tIns="12700" rIns="0" bIns="0" rtlCol="0">
            <a:spAutoFit/>
          </a:bodyPr>
          <a:lstStyle/>
          <a:p>
            <a:pPr marL="12700">
              <a:lnSpc>
                <a:spcPct val="100000"/>
              </a:lnSpc>
              <a:spcBef>
                <a:spcPts val="100"/>
              </a:spcBef>
            </a:pPr>
            <a:r>
              <a:rPr sz="1750" b="1" spc="-10" dirty="0">
                <a:latin typeface="微软雅黑" panose="020B0503020204020204" charset="-122"/>
                <a:cs typeface="微软雅黑" panose="020B0503020204020204" charset="-122"/>
              </a:rPr>
              <a:t>光轴止推环</a:t>
            </a:r>
            <a:endParaRPr sz="1750">
              <a:latin typeface="微软雅黑" panose="020B0503020204020204" charset="-122"/>
              <a:cs typeface="微软雅黑" panose="020B0503020204020204" charset="-122"/>
            </a:endParaRPr>
          </a:p>
        </p:txBody>
      </p:sp>
      <p:pic>
        <p:nvPicPr>
          <p:cNvPr id="6" name="object 6"/>
          <p:cNvPicPr/>
          <p:nvPr/>
        </p:nvPicPr>
        <p:blipFill>
          <a:blip r:embed="rId2" cstate="print"/>
          <a:stretch>
            <a:fillRect/>
          </a:stretch>
        </p:blipFill>
        <p:spPr>
          <a:xfrm>
            <a:off x="5634228" y="3357372"/>
            <a:ext cx="2977895" cy="2089404"/>
          </a:xfrm>
          <a:prstGeom prst="rect">
            <a:avLst/>
          </a:prstGeom>
        </p:spPr>
      </p:pic>
      <p:pic>
        <p:nvPicPr>
          <p:cNvPr id="7" name="object 7"/>
          <p:cNvPicPr/>
          <p:nvPr/>
        </p:nvPicPr>
        <p:blipFill>
          <a:blip r:embed="rId3" cstate="print"/>
          <a:stretch>
            <a:fillRect/>
          </a:stretch>
        </p:blipFill>
        <p:spPr>
          <a:xfrm>
            <a:off x="1190244" y="3332988"/>
            <a:ext cx="3031235" cy="2113787"/>
          </a:xfrm>
          <a:prstGeom prst="rect">
            <a:avLst/>
          </a:prstGeom>
        </p:spPr>
      </p:pic>
      <p:sp>
        <p:nvSpPr>
          <p:cNvPr id="8" name="object 8"/>
          <p:cNvSpPr txBox="1"/>
          <p:nvPr/>
        </p:nvSpPr>
        <p:spPr>
          <a:xfrm>
            <a:off x="1976089" y="5645924"/>
            <a:ext cx="1433830" cy="744220"/>
          </a:xfrm>
          <a:prstGeom prst="rect">
            <a:avLst/>
          </a:prstGeom>
        </p:spPr>
        <p:txBody>
          <a:bodyPr vert="horz" wrap="square" lIns="0" tIns="14604" rIns="0" bIns="0" rtlCol="0">
            <a:spAutoFit/>
          </a:bodyPr>
          <a:lstStyle/>
          <a:p>
            <a:pPr marL="12700" marR="5080" algn="just">
              <a:lnSpc>
                <a:spcPct val="101000"/>
              </a:lnSpc>
              <a:spcBef>
                <a:spcPts val="115"/>
              </a:spcBef>
            </a:pPr>
            <a:r>
              <a:rPr sz="1550" spc="-10" dirty="0">
                <a:latin typeface="微软雅黑" panose="020B0503020204020204" charset="-122"/>
                <a:cs typeface="微软雅黑" panose="020B0503020204020204" charset="-122"/>
              </a:rPr>
              <a:t>利用顶丝将光轴顶紧，一般用于直径较小的光轴</a:t>
            </a:r>
            <a:endParaRPr sz="1550">
              <a:latin typeface="微软雅黑" panose="020B0503020204020204" charset="-122"/>
              <a:cs typeface="微软雅黑" panose="020B0503020204020204" charset="-122"/>
            </a:endParaRPr>
          </a:p>
        </p:txBody>
      </p:sp>
      <p:sp>
        <p:nvSpPr>
          <p:cNvPr id="9" name="object 9"/>
          <p:cNvSpPr txBox="1"/>
          <p:nvPr/>
        </p:nvSpPr>
        <p:spPr>
          <a:xfrm>
            <a:off x="6284470" y="5645924"/>
            <a:ext cx="1834514" cy="744220"/>
          </a:xfrm>
          <a:prstGeom prst="rect">
            <a:avLst/>
          </a:prstGeom>
        </p:spPr>
        <p:txBody>
          <a:bodyPr vert="horz" wrap="square" lIns="0" tIns="14604" rIns="0" bIns="0" rtlCol="0">
            <a:spAutoFit/>
          </a:bodyPr>
          <a:lstStyle/>
          <a:p>
            <a:pPr marL="12700" marR="5080" algn="just">
              <a:lnSpc>
                <a:spcPct val="101000"/>
              </a:lnSpc>
              <a:spcBef>
                <a:spcPts val="115"/>
              </a:spcBef>
            </a:pPr>
            <a:r>
              <a:rPr sz="1550" spc="-10" dirty="0">
                <a:latin typeface="微软雅黑" panose="020B0503020204020204" charset="-122"/>
                <a:cs typeface="微软雅黑" panose="020B0503020204020204" charset="-122"/>
              </a:rPr>
              <a:t>利用开口的形变抱紧光轴，一般用于直径较大的光轴</a:t>
            </a:r>
            <a:endParaRPr sz="1550">
              <a:latin typeface="微软雅黑" panose="020B0503020204020204" charset="-122"/>
              <a:cs typeface="微软雅黑" panose="020B0503020204020204"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3030" y="2088918"/>
            <a:ext cx="4083685" cy="559435"/>
          </a:xfrm>
          <a:prstGeom prst="rect">
            <a:avLst/>
          </a:prstGeom>
        </p:spPr>
        <p:txBody>
          <a:bodyPr vert="horz" wrap="square" lIns="0" tIns="12700" rIns="0" bIns="0" rtlCol="0">
            <a:spAutoFit/>
          </a:bodyPr>
          <a:lstStyle/>
          <a:p>
            <a:pPr marL="12700">
              <a:lnSpc>
                <a:spcPct val="100000"/>
              </a:lnSpc>
              <a:spcBef>
                <a:spcPts val="100"/>
              </a:spcBef>
            </a:pPr>
            <a:r>
              <a:rPr sz="3500" dirty="0"/>
              <a:t>3</a:t>
            </a:r>
            <a:r>
              <a:rPr sz="3500" spc="-10" dirty="0"/>
              <a:t>. 轴系固定件</a:t>
            </a:r>
            <a:r>
              <a:rPr spc="-20" dirty="0"/>
              <a:t>——卡簧</a:t>
            </a:r>
            <a:endParaRPr sz="3500"/>
          </a:p>
        </p:txBody>
      </p:sp>
      <p:pic>
        <p:nvPicPr>
          <p:cNvPr id="3" name="object 3"/>
          <p:cNvPicPr/>
          <p:nvPr/>
        </p:nvPicPr>
        <p:blipFill>
          <a:blip r:embed="rId1" cstate="print"/>
          <a:stretch>
            <a:fillRect/>
          </a:stretch>
        </p:blipFill>
        <p:spPr>
          <a:xfrm>
            <a:off x="0" y="772668"/>
            <a:ext cx="10692384" cy="1071372"/>
          </a:xfrm>
          <a:prstGeom prst="rect">
            <a:avLst/>
          </a:prstGeom>
        </p:spPr>
      </p:pic>
      <p:sp>
        <p:nvSpPr>
          <p:cNvPr id="4" name="object 4"/>
          <p:cNvSpPr txBox="1"/>
          <p:nvPr/>
        </p:nvSpPr>
        <p:spPr>
          <a:xfrm>
            <a:off x="1188255" y="2988059"/>
            <a:ext cx="1360805" cy="292735"/>
          </a:xfrm>
          <a:prstGeom prst="rect">
            <a:avLst/>
          </a:prstGeom>
        </p:spPr>
        <p:txBody>
          <a:bodyPr vert="horz" wrap="square" lIns="0" tIns="12700" rIns="0" bIns="0" rtlCol="0">
            <a:spAutoFit/>
          </a:bodyPr>
          <a:lstStyle/>
          <a:p>
            <a:pPr marL="12700">
              <a:lnSpc>
                <a:spcPct val="100000"/>
              </a:lnSpc>
              <a:spcBef>
                <a:spcPts val="100"/>
              </a:spcBef>
            </a:pPr>
            <a:r>
              <a:rPr sz="1750" b="1" dirty="0">
                <a:latin typeface="微软雅黑" panose="020B0503020204020204" charset="-122"/>
                <a:cs typeface="微软雅黑" panose="020B0503020204020204" charset="-122"/>
              </a:rPr>
              <a:t>卡簧（挡圈</a:t>
            </a:r>
            <a:r>
              <a:rPr sz="1750" b="1" spc="-50" dirty="0">
                <a:latin typeface="微软雅黑" panose="020B0503020204020204" charset="-122"/>
                <a:cs typeface="微软雅黑" panose="020B0503020204020204" charset="-122"/>
              </a:rPr>
              <a:t>）</a:t>
            </a:r>
            <a:endParaRPr sz="1750">
              <a:latin typeface="微软雅黑" panose="020B0503020204020204" charset="-122"/>
              <a:cs typeface="微软雅黑" panose="020B0503020204020204" charset="-122"/>
            </a:endParaRPr>
          </a:p>
        </p:txBody>
      </p:sp>
      <p:pic>
        <p:nvPicPr>
          <p:cNvPr id="5" name="object 5"/>
          <p:cNvPicPr/>
          <p:nvPr/>
        </p:nvPicPr>
        <p:blipFill>
          <a:blip r:embed="rId2" cstate="print"/>
          <a:stretch>
            <a:fillRect/>
          </a:stretch>
        </p:blipFill>
        <p:spPr>
          <a:xfrm>
            <a:off x="7078980" y="2186940"/>
            <a:ext cx="3107435" cy="1895855"/>
          </a:xfrm>
          <a:prstGeom prst="rect">
            <a:avLst/>
          </a:prstGeom>
        </p:spPr>
      </p:pic>
      <p:pic>
        <p:nvPicPr>
          <p:cNvPr id="6" name="object 6"/>
          <p:cNvPicPr/>
          <p:nvPr/>
        </p:nvPicPr>
        <p:blipFill>
          <a:blip r:embed="rId3" cstate="print"/>
          <a:stretch>
            <a:fillRect/>
          </a:stretch>
        </p:blipFill>
        <p:spPr>
          <a:xfrm>
            <a:off x="7432547" y="4149852"/>
            <a:ext cx="2628899" cy="2569464"/>
          </a:xfrm>
          <a:prstGeom prst="rect">
            <a:avLst/>
          </a:prstGeom>
        </p:spPr>
      </p:pic>
      <p:pic>
        <p:nvPicPr>
          <p:cNvPr id="7" name="object 7"/>
          <p:cNvPicPr/>
          <p:nvPr/>
        </p:nvPicPr>
        <p:blipFill>
          <a:blip r:embed="rId4" cstate="print"/>
          <a:stretch>
            <a:fillRect/>
          </a:stretch>
        </p:blipFill>
        <p:spPr>
          <a:xfrm>
            <a:off x="1051560" y="3503676"/>
            <a:ext cx="5623559" cy="3113531"/>
          </a:xfrm>
          <a:prstGeom prst="rect">
            <a:avLst/>
          </a:prstGeom>
        </p:spPr>
      </p:pic>
      <p:sp>
        <p:nvSpPr>
          <p:cNvPr id="8" name="object 8"/>
          <p:cNvSpPr txBox="1"/>
          <p:nvPr/>
        </p:nvSpPr>
        <p:spPr>
          <a:xfrm>
            <a:off x="3904008" y="2803668"/>
            <a:ext cx="1755775" cy="186690"/>
          </a:xfrm>
          <a:prstGeom prst="rect">
            <a:avLst/>
          </a:prstGeom>
        </p:spPr>
        <p:txBody>
          <a:bodyPr vert="horz" wrap="square" lIns="0" tIns="13335" rIns="0" bIns="0" rtlCol="0">
            <a:spAutoFit/>
          </a:bodyPr>
          <a:lstStyle/>
          <a:p>
            <a:pPr marL="12700">
              <a:lnSpc>
                <a:spcPct val="100000"/>
              </a:lnSpc>
              <a:spcBef>
                <a:spcPts val="105"/>
              </a:spcBef>
            </a:pPr>
            <a:r>
              <a:rPr sz="1050" dirty="0">
                <a:solidFill>
                  <a:srgbClr val="4874CA"/>
                </a:solidFill>
                <a:latin typeface="微软雅黑" panose="020B0503020204020204" charset="-122"/>
                <a:cs typeface="微软雅黑" panose="020B0503020204020204" charset="-122"/>
              </a:rPr>
              <a:t>【教程</a:t>
            </a:r>
            <a:r>
              <a:rPr sz="1050" spc="-20" dirty="0">
                <a:solidFill>
                  <a:srgbClr val="4874CA"/>
                </a:solidFill>
                <a:latin typeface="Calibri" panose="020F0502020204030204"/>
                <a:cs typeface="Calibri" panose="020F0502020204030204"/>
              </a:rPr>
              <a:t>---</a:t>
            </a:r>
            <a:r>
              <a:rPr sz="1050" spc="-15" dirty="0">
                <a:solidFill>
                  <a:srgbClr val="4874CA"/>
                </a:solidFill>
                <a:latin typeface="微软雅黑" panose="020B0503020204020204" charset="-122"/>
                <a:cs typeface="微软雅黑" panose="020B0503020204020204" charset="-122"/>
              </a:rPr>
              <a:t>卡簧钳的使用方法】</a:t>
            </a:r>
            <a:endParaRPr sz="1050">
              <a:latin typeface="微软雅黑" panose="020B0503020204020204" charset="-122"/>
              <a:cs typeface="微软雅黑" panose="020B0503020204020204" charset="-122"/>
            </a:endParaRPr>
          </a:p>
        </p:txBody>
      </p:sp>
      <p:sp>
        <p:nvSpPr>
          <p:cNvPr id="9" name="object 9"/>
          <p:cNvSpPr txBox="1"/>
          <p:nvPr/>
        </p:nvSpPr>
        <p:spPr>
          <a:xfrm>
            <a:off x="3904008" y="2962141"/>
            <a:ext cx="2819400" cy="508000"/>
          </a:xfrm>
          <a:prstGeom prst="rect">
            <a:avLst/>
          </a:prstGeom>
        </p:spPr>
        <p:txBody>
          <a:bodyPr vert="horz" wrap="square" lIns="0" tIns="12700" rIns="0" bIns="0" rtlCol="0">
            <a:spAutoFit/>
          </a:bodyPr>
          <a:lstStyle/>
          <a:p>
            <a:pPr marL="12700" marR="5080" algn="just">
              <a:lnSpc>
                <a:spcPct val="100000"/>
              </a:lnSpc>
              <a:spcBef>
                <a:spcPts val="100"/>
              </a:spcBef>
            </a:pPr>
            <a:r>
              <a:rPr sz="1050" spc="-10" dirty="0">
                <a:solidFill>
                  <a:srgbClr val="4874CA"/>
                </a:solidFill>
                <a:latin typeface="Calibri" panose="020F0502020204030204"/>
                <a:cs typeface="Calibri" panose="020F0502020204030204"/>
              </a:rPr>
              <a:t>https://</a:t>
            </a:r>
            <a:r>
              <a:rPr sz="1050" spc="-10" dirty="0">
                <a:solidFill>
                  <a:srgbClr val="4874CA"/>
                </a:solidFill>
                <a:latin typeface="Calibri" panose="020F0502020204030204"/>
                <a:cs typeface="Calibri" panose="020F0502020204030204"/>
                <a:hlinkClick r:id="rId5"/>
              </a:rPr>
              <a:t>www.bilibili.com/video/BV11t4y1z7zC/?sha</a:t>
            </a:r>
            <a:r>
              <a:rPr sz="1050" spc="-10" dirty="0">
                <a:solidFill>
                  <a:srgbClr val="4874CA"/>
                </a:solidFill>
                <a:latin typeface="Calibri" panose="020F0502020204030204"/>
                <a:cs typeface="Calibri" panose="020F0502020204030204"/>
              </a:rPr>
              <a:t> re_source=copy_web&amp;vd_source=230d4e2a95380 3e80721ff5782d70109</a:t>
            </a:r>
            <a:endParaRPr sz="1050">
              <a:latin typeface="Calibri" panose="020F0502020204030204"/>
              <a:cs typeface="Calibri" panose="020F0502020204030204"/>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1509" y="2088918"/>
            <a:ext cx="4396105" cy="559435"/>
          </a:xfrm>
          <a:prstGeom prst="rect">
            <a:avLst/>
          </a:prstGeom>
        </p:spPr>
        <p:txBody>
          <a:bodyPr vert="horz" wrap="square" lIns="0" tIns="12700" rIns="0" bIns="0" rtlCol="0">
            <a:spAutoFit/>
          </a:bodyPr>
          <a:lstStyle/>
          <a:p>
            <a:pPr marL="12700">
              <a:lnSpc>
                <a:spcPct val="100000"/>
              </a:lnSpc>
              <a:spcBef>
                <a:spcPts val="100"/>
              </a:spcBef>
            </a:pPr>
            <a:r>
              <a:rPr sz="3500" dirty="0"/>
              <a:t>3</a:t>
            </a:r>
            <a:r>
              <a:rPr sz="3500" spc="-10" dirty="0"/>
              <a:t>. 轴系固定件</a:t>
            </a:r>
            <a:r>
              <a:rPr spc="-20" dirty="0"/>
              <a:t>——阶梯轴</a:t>
            </a:r>
            <a:endParaRPr sz="3500"/>
          </a:p>
        </p:txBody>
      </p:sp>
      <p:pic>
        <p:nvPicPr>
          <p:cNvPr id="3" name="object 3"/>
          <p:cNvPicPr/>
          <p:nvPr/>
        </p:nvPicPr>
        <p:blipFill>
          <a:blip r:embed="rId1" cstate="print"/>
          <a:stretch>
            <a:fillRect/>
          </a:stretch>
        </p:blipFill>
        <p:spPr>
          <a:xfrm>
            <a:off x="0" y="772668"/>
            <a:ext cx="10692384" cy="1071372"/>
          </a:xfrm>
          <a:prstGeom prst="rect">
            <a:avLst/>
          </a:prstGeom>
        </p:spPr>
      </p:pic>
      <p:sp>
        <p:nvSpPr>
          <p:cNvPr id="4" name="object 4"/>
          <p:cNvSpPr txBox="1"/>
          <p:nvPr/>
        </p:nvSpPr>
        <p:spPr>
          <a:xfrm>
            <a:off x="7390928" y="2379996"/>
            <a:ext cx="2869565" cy="1464945"/>
          </a:xfrm>
          <a:prstGeom prst="rect">
            <a:avLst/>
          </a:prstGeom>
        </p:spPr>
        <p:txBody>
          <a:bodyPr vert="horz" wrap="square" lIns="0" tIns="13335" rIns="0" bIns="0" rtlCol="0">
            <a:spAutoFit/>
          </a:bodyPr>
          <a:lstStyle/>
          <a:p>
            <a:pPr marL="12700" marR="5080" algn="just">
              <a:lnSpc>
                <a:spcPct val="101000"/>
              </a:lnSpc>
              <a:spcBef>
                <a:spcPts val="105"/>
              </a:spcBef>
            </a:pPr>
            <a:r>
              <a:rPr sz="1550" spc="-5" dirty="0">
                <a:latin typeface="微软雅黑" panose="020B0503020204020204" charset="-122"/>
                <a:cs typeface="微软雅黑" panose="020B0503020204020204" charset="-122"/>
              </a:rPr>
              <a:t>【轴上零件如何定位？九种典型</a:t>
            </a:r>
            <a:r>
              <a:rPr sz="1550" dirty="0">
                <a:latin typeface="微软雅黑" panose="020B0503020204020204" charset="-122"/>
                <a:cs typeface="微软雅黑" panose="020B0503020204020204" charset="-122"/>
              </a:rPr>
              <a:t>轴向定位法，</a:t>
            </a:r>
            <a:r>
              <a:rPr sz="1550" dirty="0">
                <a:latin typeface="Calibri" panose="020F0502020204030204"/>
                <a:cs typeface="Calibri" panose="020F0502020204030204"/>
              </a:rPr>
              <a:t>3D</a:t>
            </a:r>
            <a:r>
              <a:rPr sz="1550" spc="-10" dirty="0">
                <a:latin typeface="微软雅黑" panose="020B0503020204020204" charset="-122"/>
                <a:cs typeface="微软雅黑" panose="020B0503020204020204" charset="-122"/>
              </a:rPr>
              <a:t>动画直观演示】</a:t>
            </a:r>
            <a:r>
              <a:rPr sz="1550" spc="-50" dirty="0">
                <a:latin typeface="微软雅黑" panose="020B0503020204020204" charset="-122"/>
                <a:cs typeface="微软雅黑" panose="020B0503020204020204" charset="-122"/>
              </a:rPr>
              <a:t> </a:t>
            </a:r>
            <a:r>
              <a:rPr sz="1550" spc="-10" dirty="0">
                <a:latin typeface="Calibri" panose="020F0502020204030204"/>
                <a:cs typeface="Calibri" panose="020F0502020204030204"/>
              </a:rPr>
              <a:t>https://</a:t>
            </a:r>
            <a:r>
              <a:rPr sz="1550" spc="-10" dirty="0">
                <a:latin typeface="Calibri" panose="020F0502020204030204"/>
                <a:cs typeface="Calibri" panose="020F0502020204030204"/>
                <a:hlinkClick r:id="rId2"/>
              </a:rPr>
              <a:t>www.bilibili.com/video/BV</a:t>
            </a:r>
            <a:r>
              <a:rPr sz="1550" spc="-10" dirty="0">
                <a:latin typeface="Calibri" panose="020F0502020204030204"/>
                <a:cs typeface="Calibri" panose="020F0502020204030204"/>
              </a:rPr>
              <a:t> 1ps4y1L7Vt/?share_source=copy_ web&amp;vd_source=230d4e2a953803 e80721ff5782d70109</a:t>
            </a:r>
            <a:endParaRPr sz="1550">
              <a:latin typeface="Calibri" panose="020F0502020204030204"/>
              <a:cs typeface="Calibri" panose="020F0502020204030204"/>
            </a:endParaRPr>
          </a:p>
        </p:txBody>
      </p:sp>
      <p:pic>
        <p:nvPicPr>
          <p:cNvPr id="5" name="object 5"/>
          <p:cNvPicPr/>
          <p:nvPr/>
        </p:nvPicPr>
        <p:blipFill>
          <a:blip r:embed="rId3" cstate="print"/>
          <a:stretch>
            <a:fillRect/>
          </a:stretch>
        </p:blipFill>
        <p:spPr>
          <a:xfrm>
            <a:off x="693420" y="2935224"/>
            <a:ext cx="6207251" cy="3547872"/>
          </a:xfrm>
          <a:prstGeom prst="rect">
            <a:avLst/>
          </a:prstGeom>
        </p:spPr>
      </p:pic>
      <p:sp>
        <p:nvSpPr>
          <p:cNvPr id="6" name="object 6"/>
          <p:cNvSpPr txBox="1"/>
          <p:nvPr/>
        </p:nvSpPr>
        <p:spPr>
          <a:xfrm>
            <a:off x="7390928" y="4460234"/>
            <a:ext cx="1433830" cy="744220"/>
          </a:xfrm>
          <a:prstGeom prst="rect">
            <a:avLst/>
          </a:prstGeom>
        </p:spPr>
        <p:txBody>
          <a:bodyPr vert="horz" wrap="square" lIns="0" tIns="14604" rIns="0" bIns="0" rtlCol="0">
            <a:spAutoFit/>
          </a:bodyPr>
          <a:lstStyle/>
          <a:p>
            <a:pPr marL="12700" marR="5080" algn="just">
              <a:lnSpc>
                <a:spcPct val="101000"/>
              </a:lnSpc>
              <a:spcBef>
                <a:spcPts val="115"/>
              </a:spcBef>
            </a:pPr>
            <a:r>
              <a:rPr sz="1550" spc="-10" dirty="0">
                <a:latin typeface="微软雅黑" panose="020B0503020204020204" charset="-122"/>
                <a:cs typeface="微软雅黑" panose="020B0503020204020204" charset="-122"/>
              </a:rPr>
              <a:t>通过轴肩与其他零件配合从而实现轴向定位</a:t>
            </a:r>
            <a:endParaRPr sz="1550">
              <a:latin typeface="微软雅黑" panose="020B0503020204020204" charset="-122"/>
              <a:cs typeface="微软雅黑" panose="020B0503020204020204"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18013" y="2131506"/>
            <a:ext cx="2651125" cy="559435"/>
          </a:xfrm>
          <a:prstGeom prst="rect">
            <a:avLst/>
          </a:prstGeom>
        </p:spPr>
        <p:txBody>
          <a:bodyPr vert="horz" wrap="square" lIns="0" tIns="12700" rIns="0" bIns="0" rtlCol="0">
            <a:spAutoFit/>
          </a:bodyPr>
          <a:lstStyle/>
          <a:p>
            <a:pPr marL="12700">
              <a:lnSpc>
                <a:spcPct val="100000"/>
              </a:lnSpc>
              <a:spcBef>
                <a:spcPts val="100"/>
              </a:spcBef>
            </a:pPr>
            <a:r>
              <a:rPr sz="3500" spc="-25" dirty="0"/>
              <a:t>4</a:t>
            </a:r>
            <a:r>
              <a:rPr sz="3500" spc="-20" dirty="0"/>
              <a:t>.轴系设计要</a:t>
            </a:r>
            <a:endParaRPr sz="3500"/>
          </a:p>
        </p:txBody>
      </p:sp>
      <p:pic>
        <p:nvPicPr>
          <p:cNvPr id="3" name="object 3"/>
          <p:cNvPicPr/>
          <p:nvPr/>
        </p:nvPicPr>
        <p:blipFill>
          <a:blip r:embed="rId1" cstate="print"/>
          <a:stretch>
            <a:fillRect/>
          </a:stretch>
        </p:blipFill>
        <p:spPr>
          <a:xfrm>
            <a:off x="0" y="772668"/>
            <a:ext cx="10692384" cy="1071372"/>
          </a:xfrm>
          <a:prstGeom prst="rect">
            <a:avLst/>
          </a:prstGeom>
        </p:spPr>
      </p:pic>
      <p:sp>
        <p:nvSpPr>
          <p:cNvPr id="4" name="object 4"/>
          <p:cNvSpPr txBox="1"/>
          <p:nvPr/>
        </p:nvSpPr>
        <p:spPr>
          <a:xfrm>
            <a:off x="886464" y="3224251"/>
            <a:ext cx="2035175" cy="2428240"/>
          </a:xfrm>
          <a:prstGeom prst="rect">
            <a:avLst/>
          </a:prstGeom>
        </p:spPr>
        <p:txBody>
          <a:bodyPr vert="horz" wrap="square" lIns="0" tIns="13335" rIns="0" bIns="0" rtlCol="0">
            <a:spAutoFit/>
          </a:bodyPr>
          <a:lstStyle/>
          <a:p>
            <a:pPr marL="12700" marR="5080" algn="just">
              <a:lnSpc>
                <a:spcPct val="101000"/>
              </a:lnSpc>
              <a:spcBef>
                <a:spcPts val="105"/>
              </a:spcBef>
            </a:pPr>
            <a:r>
              <a:rPr sz="1550" spc="-5" dirty="0">
                <a:latin typeface="微软雅黑" panose="020B0503020204020204" charset="-122"/>
                <a:cs typeface="微软雅黑" panose="020B0503020204020204" charset="-122"/>
              </a:rPr>
              <a:t>放置轴承的目的是为了</a:t>
            </a:r>
            <a:r>
              <a:rPr sz="1550" dirty="0">
                <a:latin typeface="微软雅黑" panose="020B0503020204020204" charset="-122"/>
                <a:cs typeface="微软雅黑" panose="020B0503020204020204" charset="-122"/>
              </a:rPr>
              <a:t>移动（</a:t>
            </a:r>
            <a:r>
              <a:rPr sz="1550" spc="-10" dirty="0">
                <a:latin typeface="微软雅黑" panose="020B0503020204020204" charset="-122"/>
                <a:cs typeface="微软雅黑" panose="020B0503020204020204" charset="-122"/>
              </a:rPr>
              <a:t>通常为相对旋转</a:t>
            </a:r>
            <a:r>
              <a:rPr sz="1550" spc="-5" dirty="0">
                <a:latin typeface="微软雅黑" panose="020B0503020204020204" charset="-122"/>
                <a:cs typeface="微软雅黑" panose="020B0503020204020204" charset="-122"/>
              </a:rPr>
              <a:t>开，因此轴承的内圈和生任何联接，一般将轴件固连，轴承内圈与旋</a:t>
            </a:r>
            <a:endParaRPr sz="1550">
              <a:latin typeface="微软雅黑" panose="020B0503020204020204" charset="-122"/>
              <a:cs typeface="微软雅黑" panose="020B0503020204020204" charset="-122"/>
            </a:endParaRPr>
          </a:p>
          <a:p>
            <a:pPr marL="12700" marR="5080" algn="just">
              <a:lnSpc>
                <a:spcPct val="101000"/>
              </a:lnSpc>
              <a:spcBef>
                <a:spcPts val="1930"/>
              </a:spcBef>
            </a:pPr>
            <a:r>
              <a:rPr sz="1550" spc="-5" dirty="0">
                <a:latin typeface="微软雅黑" panose="020B0503020204020204" charset="-122"/>
                <a:cs typeface="微软雅黑" panose="020B0503020204020204" charset="-122"/>
              </a:rPr>
              <a:t>一般轴承的安装需要使但往往对于一些板材无加工精度不够，所以只方式将法兰边与板材固</a:t>
            </a:r>
            <a:endParaRPr sz="1550">
              <a:latin typeface="微软雅黑" panose="020B0503020204020204" charset="-122"/>
              <a:cs typeface="微软雅黑" panose="020B0503020204020204" charset="-122"/>
            </a:endParaRPr>
          </a:p>
        </p:txBody>
      </p:sp>
      <p:sp>
        <p:nvSpPr>
          <p:cNvPr id="5" name="object 5"/>
          <p:cNvSpPr txBox="1"/>
          <p:nvPr/>
        </p:nvSpPr>
        <p:spPr>
          <a:xfrm>
            <a:off x="2906816" y="2118349"/>
            <a:ext cx="1205230" cy="3533775"/>
          </a:xfrm>
          <a:prstGeom prst="rect">
            <a:avLst/>
          </a:prstGeom>
        </p:spPr>
        <p:txBody>
          <a:bodyPr vert="horz" wrap="square" lIns="0" tIns="26034" rIns="0" bIns="0" rtlCol="0">
            <a:spAutoFit/>
          </a:bodyPr>
          <a:lstStyle/>
          <a:p>
            <a:pPr marL="48895">
              <a:lnSpc>
                <a:spcPct val="100000"/>
              </a:lnSpc>
              <a:spcBef>
                <a:spcPts val="205"/>
              </a:spcBef>
            </a:pPr>
            <a:r>
              <a:rPr sz="3500" b="1" spc="-50" dirty="0">
                <a:solidFill>
                  <a:srgbClr val="26599C"/>
                </a:solidFill>
                <a:latin typeface="微软雅黑" panose="020B0503020204020204" charset="-122"/>
                <a:cs typeface="微软雅黑" panose="020B0503020204020204" charset="-122"/>
              </a:rPr>
              <a:t>点</a:t>
            </a:r>
            <a:endParaRPr sz="3500">
              <a:latin typeface="微软雅黑" panose="020B0503020204020204" charset="-122"/>
              <a:cs typeface="微软雅黑" panose="020B0503020204020204" charset="-122"/>
            </a:endParaRPr>
          </a:p>
          <a:p>
            <a:pPr>
              <a:lnSpc>
                <a:spcPct val="100000"/>
              </a:lnSpc>
              <a:spcBef>
                <a:spcPts val="4435"/>
              </a:spcBef>
            </a:pPr>
            <a:r>
              <a:rPr sz="1550" spc="-10" dirty="0">
                <a:latin typeface="微软雅黑" panose="020B0503020204020204" charset="-122"/>
                <a:cs typeface="微软雅黑" panose="020B0503020204020204" charset="-122"/>
              </a:rPr>
              <a:t>让两个有相对</a:t>
            </a:r>
            <a:endParaRPr sz="1550">
              <a:latin typeface="微软雅黑" panose="020B0503020204020204" charset="-122"/>
              <a:cs typeface="微软雅黑" panose="020B0503020204020204" charset="-122"/>
            </a:endParaRPr>
          </a:p>
          <a:p>
            <a:pPr algn="just">
              <a:lnSpc>
                <a:spcPct val="101000"/>
              </a:lnSpc>
              <a:spcBef>
                <a:spcPts val="15"/>
              </a:spcBef>
            </a:pPr>
            <a:r>
              <a:rPr sz="1550" dirty="0">
                <a:latin typeface="微软雅黑" panose="020B0503020204020204" charset="-122"/>
                <a:cs typeface="微软雅黑" panose="020B0503020204020204" charset="-122"/>
              </a:rPr>
              <a:t>）</a:t>
            </a:r>
            <a:r>
              <a:rPr sz="1550" spc="-10" dirty="0">
                <a:latin typeface="微软雅黑" panose="020B0503020204020204" charset="-122"/>
                <a:cs typeface="微软雅黑" panose="020B0503020204020204" charset="-122"/>
              </a:rPr>
              <a:t>的零件隔离外圈不可以发承外圈与固定</a:t>
            </a:r>
            <a:r>
              <a:rPr sz="1550" spc="-15" dirty="0">
                <a:latin typeface="微软雅黑" panose="020B0503020204020204" charset="-122"/>
                <a:cs typeface="微软雅黑" panose="020B0503020204020204" charset="-122"/>
              </a:rPr>
              <a:t>转件固连</a:t>
            </a:r>
            <a:endParaRPr sz="1550">
              <a:latin typeface="微软雅黑" panose="020B0503020204020204" charset="-122"/>
              <a:cs typeface="微软雅黑" panose="020B0503020204020204" charset="-122"/>
            </a:endParaRPr>
          </a:p>
          <a:p>
            <a:pPr algn="just">
              <a:lnSpc>
                <a:spcPct val="101000"/>
              </a:lnSpc>
              <a:spcBef>
                <a:spcPts val="1930"/>
              </a:spcBef>
            </a:pPr>
            <a:r>
              <a:rPr sz="1550" spc="-10" dirty="0">
                <a:latin typeface="微软雅黑" panose="020B0503020204020204" charset="-122"/>
                <a:cs typeface="微软雅黑" panose="020B0503020204020204" charset="-122"/>
              </a:rPr>
              <a:t>用过盈配合，法标注公差，能采用压紧的</a:t>
            </a:r>
            <a:r>
              <a:rPr sz="1550" spc="-50" dirty="0">
                <a:latin typeface="微软雅黑" panose="020B0503020204020204" charset="-122"/>
                <a:cs typeface="微软雅黑" panose="020B0503020204020204" charset="-122"/>
              </a:rPr>
              <a:t>连</a:t>
            </a:r>
            <a:endParaRPr sz="1550">
              <a:latin typeface="微软雅黑" panose="020B0503020204020204" charset="-122"/>
              <a:cs typeface="微软雅黑" panose="020B0503020204020204" charset="-122"/>
            </a:endParaRPr>
          </a:p>
        </p:txBody>
      </p:sp>
      <p:pic>
        <p:nvPicPr>
          <p:cNvPr id="6" name="object 6"/>
          <p:cNvPicPr/>
          <p:nvPr/>
        </p:nvPicPr>
        <p:blipFill>
          <a:blip r:embed="rId2" cstate="print"/>
          <a:stretch>
            <a:fillRect/>
          </a:stretch>
        </p:blipFill>
        <p:spPr>
          <a:xfrm>
            <a:off x="4356100" y="2181225"/>
            <a:ext cx="3569335" cy="3660775"/>
          </a:xfrm>
          <a:prstGeom prst="rect">
            <a:avLst/>
          </a:prstGeom>
        </p:spPr>
      </p:pic>
      <p:sp>
        <p:nvSpPr>
          <p:cNvPr id="7" name="object 7"/>
          <p:cNvSpPr txBox="1"/>
          <p:nvPr/>
        </p:nvSpPr>
        <p:spPr>
          <a:xfrm>
            <a:off x="886464" y="6096992"/>
            <a:ext cx="6243955" cy="267335"/>
          </a:xfrm>
          <a:prstGeom prst="rect">
            <a:avLst/>
          </a:prstGeom>
        </p:spPr>
        <p:txBody>
          <a:bodyPr vert="horz" wrap="square" lIns="0" tIns="16510" rIns="0" bIns="0" rtlCol="0">
            <a:spAutoFit/>
          </a:bodyPr>
          <a:lstStyle/>
          <a:p>
            <a:pPr marL="12700">
              <a:lnSpc>
                <a:spcPct val="100000"/>
              </a:lnSpc>
              <a:spcBef>
                <a:spcPts val="130"/>
              </a:spcBef>
            </a:pPr>
            <a:r>
              <a:rPr sz="1550" dirty="0">
                <a:latin typeface="微软雅黑" panose="020B0503020204020204" charset="-122"/>
                <a:cs typeface="微软雅黑" panose="020B0503020204020204" charset="-122"/>
              </a:rPr>
              <a:t>一般使用塞打螺钉充当转轴（注意：不能使用带螺纹的结构充当转轴</a:t>
            </a:r>
            <a:r>
              <a:rPr sz="1550" spc="-50" dirty="0">
                <a:latin typeface="微软雅黑" panose="020B0503020204020204" charset="-122"/>
                <a:cs typeface="微软雅黑" panose="020B0503020204020204" charset="-122"/>
              </a:rPr>
              <a:t>）</a:t>
            </a:r>
            <a:endParaRPr sz="1550">
              <a:latin typeface="微软雅黑" panose="020B0503020204020204" charset="-122"/>
              <a:cs typeface="微软雅黑" panose="020B0503020204020204" charset="-122"/>
            </a:endParaRPr>
          </a:p>
        </p:txBody>
      </p:sp>
      <p:sp>
        <p:nvSpPr>
          <p:cNvPr id="8" name="object 8"/>
          <p:cNvSpPr txBox="1"/>
          <p:nvPr/>
        </p:nvSpPr>
        <p:spPr>
          <a:xfrm>
            <a:off x="8059911" y="3411765"/>
            <a:ext cx="1834514" cy="1707514"/>
          </a:xfrm>
          <a:prstGeom prst="rect">
            <a:avLst/>
          </a:prstGeom>
        </p:spPr>
        <p:txBody>
          <a:bodyPr vert="horz" wrap="square" lIns="0" tIns="13335" rIns="0" bIns="0" rtlCol="0">
            <a:spAutoFit/>
          </a:bodyPr>
          <a:lstStyle/>
          <a:p>
            <a:pPr marL="12700" marR="5080" algn="just">
              <a:lnSpc>
                <a:spcPct val="102000"/>
              </a:lnSpc>
              <a:spcBef>
                <a:spcPts val="105"/>
              </a:spcBef>
            </a:pPr>
            <a:r>
              <a:rPr sz="1550" spc="-10" dirty="0">
                <a:latin typeface="微软雅黑" panose="020B0503020204020204" charset="-122"/>
                <a:cs typeface="微软雅黑" panose="020B0503020204020204" charset="-122"/>
              </a:rPr>
              <a:t>在使用过程中，轴承的内圈和外圈的相互独立的，所以要设计轴承座去分别压住内圈的外圈，如果同一个面压住了内外两圈那么轴承就失效了。</a:t>
            </a:r>
            <a:endParaRPr sz="1550">
              <a:latin typeface="微软雅黑" panose="020B0503020204020204" charset="-122"/>
              <a:cs typeface="微软雅黑" panose="020B0503020204020204"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19534" y="2133027"/>
            <a:ext cx="3096260" cy="559435"/>
          </a:xfrm>
          <a:prstGeom prst="rect">
            <a:avLst/>
          </a:prstGeom>
        </p:spPr>
        <p:txBody>
          <a:bodyPr vert="horz" wrap="square" lIns="0" tIns="12700" rIns="0" bIns="0" rtlCol="0">
            <a:spAutoFit/>
          </a:bodyPr>
          <a:lstStyle/>
          <a:p>
            <a:pPr marL="12700">
              <a:lnSpc>
                <a:spcPct val="100000"/>
              </a:lnSpc>
              <a:spcBef>
                <a:spcPts val="100"/>
              </a:spcBef>
            </a:pPr>
            <a:r>
              <a:rPr sz="3500" spc="-25" dirty="0"/>
              <a:t>4</a:t>
            </a:r>
            <a:r>
              <a:rPr sz="3500" spc="-20" dirty="0"/>
              <a:t>.轴系设计要点</a:t>
            </a:r>
            <a:endParaRPr sz="3500"/>
          </a:p>
        </p:txBody>
      </p:sp>
      <p:pic>
        <p:nvPicPr>
          <p:cNvPr id="3" name="object 3"/>
          <p:cNvPicPr/>
          <p:nvPr/>
        </p:nvPicPr>
        <p:blipFill>
          <a:blip r:embed="rId1" cstate="print"/>
          <a:stretch>
            <a:fillRect/>
          </a:stretch>
        </p:blipFill>
        <p:spPr>
          <a:xfrm>
            <a:off x="0" y="772668"/>
            <a:ext cx="10692384" cy="1071372"/>
          </a:xfrm>
          <a:prstGeom prst="rect">
            <a:avLst/>
          </a:prstGeom>
        </p:spPr>
      </p:pic>
      <p:pic>
        <p:nvPicPr>
          <p:cNvPr id="8" name="图片 7" descr="屏幕截图 2025-11-02 170821"/>
          <p:cNvPicPr>
            <a:picLocks noChangeAspect="1"/>
          </p:cNvPicPr>
          <p:nvPr/>
        </p:nvPicPr>
        <p:blipFill>
          <a:blip r:embed="rId2"/>
          <a:stretch>
            <a:fillRect/>
          </a:stretch>
        </p:blipFill>
        <p:spPr>
          <a:xfrm>
            <a:off x="3517900" y="3019425"/>
            <a:ext cx="3871595" cy="3632835"/>
          </a:xfrm>
          <a:prstGeom prst="rect">
            <a:avLst/>
          </a:prstGeom>
        </p:spPr>
      </p:pic>
      <p:pic>
        <p:nvPicPr>
          <p:cNvPr id="9" name="图片 8" descr="屏幕截图 2025-11-02 152201"/>
          <p:cNvPicPr>
            <a:picLocks noChangeAspect="1"/>
          </p:cNvPicPr>
          <p:nvPr/>
        </p:nvPicPr>
        <p:blipFill>
          <a:blip r:embed="rId3"/>
          <a:stretch>
            <a:fillRect/>
          </a:stretch>
        </p:blipFill>
        <p:spPr>
          <a:xfrm>
            <a:off x="165100" y="3095625"/>
            <a:ext cx="3183255" cy="3632200"/>
          </a:xfrm>
          <a:prstGeom prst="rect">
            <a:avLst/>
          </a:prstGeom>
        </p:spPr>
      </p:pic>
      <p:pic>
        <p:nvPicPr>
          <p:cNvPr id="10" name="object 4"/>
          <p:cNvPicPr/>
          <p:nvPr/>
        </p:nvPicPr>
        <p:blipFill>
          <a:blip r:embed="rId4" cstate="print"/>
          <a:stretch>
            <a:fillRect/>
          </a:stretch>
        </p:blipFill>
        <p:spPr>
          <a:xfrm>
            <a:off x="7404354" y="2485898"/>
            <a:ext cx="2930651" cy="2040635"/>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1" cstate="print"/>
          <a:stretch>
            <a:fillRect/>
          </a:stretch>
        </p:blipFill>
        <p:spPr>
          <a:xfrm>
            <a:off x="0" y="772668"/>
            <a:ext cx="10692384" cy="1071372"/>
          </a:xfrm>
          <a:prstGeom prst="rect">
            <a:avLst/>
          </a:prstGeom>
        </p:spPr>
      </p:pic>
      <p:sp>
        <p:nvSpPr>
          <p:cNvPr id="3" name="object 3"/>
          <p:cNvSpPr txBox="1">
            <a:spLocks noGrp="1"/>
          </p:cNvSpPr>
          <p:nvPr>
            <p:ph type="title"/>
          </p:nvPr>
        </p:nvSpPr>
        <p:spPr>
          <a:xfrm>
            <a:off x="4405434" y="1779052"/>
            <a:ext cx="1805939" cy="1158240"/>
          </a:xfrm>
          <a:prstGeom prst="rect">
            <a:avLst/>
          </a:prstGeom>
        </p:spPr>
        <p:txBody>
          <a:bodyPr vert="horz" wrap="square" lIns="0" tIns="187325" rIns="0" bIns="0" rtlCol="0">
            <a:spAutoFit/>
          </a:bodyPr>
          <a:lstStyle/>
          <a:p>
            <a:pPr algn="ctr">
              <a:lnSpc>
                <a:spcPct val="100000"/>
              </a:lnSpc>
              <a:spcBef>
                <a:spcPts val="1475"/>
              </a:spcBef>
            </a:pPr>
            <a:r>
              <a:rPr sz="3500" spc="-15" dirty="0"/>
              <a:t>课后作业</a:t>
            </a:r>
            <a:endParaRPr sz="3500"/>
          </a:p>
          <a:p>
            <a:pPr algn="ctr">
              <a:lnSpc>
                <a:spcPct val="100000"/>
              </a:lnSpc>
              <a:spcBef>
                <a:spcPts val="825"/>
              </a:spcBef>
            </a:pPr>
            <a:r>
              <a:rPr sz="2100" spc="-10" dirty="0">
                <a:solidFill>
                  <a:srgbClr val="4874CA"/>
                </a:solidFill>
                <a:latin typeface="Calibri" panose="020F0502020204030204"/>
                <a:cs typeface="Calibri" panose="020F0502020204030204"/>
              </a:rPr>
              <a:t>homework</a:t>
            </a:r>
            <a:endParaRPr sz="2100">
              <a:latin typeface="Calibri" panose="020F0502020204030204"/>
              <a:cs typeface="Calibri" panose="020F0502020204030204"/>
            </a:endParaRPr>
          </a:p>
        </p:txBody>
      </p:sp>
      <p:sp>
        <p:nvSpPr>
          <p:cNvPr id="4" name="object 4"/>
          <p:cNvSpPr txBox="1"/>
          <p:nvPr/>
        </p:nvSpPr>
        <p:spPr>
          <a:xfrm>
            <a:off x="4591268" y="3222778"/>
            <a:ext cx="5040630" cy="267335"/>
          </a:xfrm>
          <a:prstGeom prst="rect">
            <a:avLst/>
          </a:prstGeom>
        </p:spPr>
        <p:txBody>
          <a:bodyPr vert="horz" wrap="square" lIns="0" tIns="16510" rIns="0" bIns="0" rtlCol="0">
            <a:spAutoFit/>
          </a:bodyPr>
          <a:lstStyle/>
          <a:p>
            <a:pPr marL="12700">
              <a:lnSpc>
                <a:spcPct val="100000"/>
              </a:lnSpc>
              <a:spcBef>
                <a:spcPts val="130"/>
              </a:spcBef>
            </a:pPr>
            <a:r>
              <a:rPr sz="1550" spc="-5" dirty="0">
                <a:latin typeface="微软雅黑" panose="020B0503020204020204" charset="-122"/>
                <a:cs typeface="微软雅黑" panose="020B0503020204020204" charset="-122"/>
              </a:rPr>
              <a:t>设计一个能够实际加工、装配出来，并且耐用的左图结构</a:t>
            </a:r>
            <a:endParaRPr sz="1550">
              <a:latin typeface="微软雅黑" panose="020B0503020204020204" charset="-122"/>
              <a:cs typeface="微软雅黑" panose="020B0503020204020204" charset="-122"/>
            </a:endParaRPr>
          </a:p>
        </p:txBody>
      </p:sp>
      <p:sp>
        <p:nvSpPr>
          <p:cNvPr id="5" name="object 5"/>
          <p:cNvSpPr txBox="1">
            <a:spLocks noGrp="1"/>
          </p:cNvSpPr>
          <p:nvPr>
            <p:ph type="body" idx="1"/>
          </p:nvPr>
        </p:nvSpPr>
        <p:spPr>
          <a:prstGeom prst="rect">
            <a:avLst/>
          </a:prstGeom>
        </p:spPr>
        <p:txBody>
          <a:bodyPr vert="horz" wrap="square" lIns="0" tIns="102870" rIns="0" bIns="0" rtlCol="0">
            <a:spAutoFit/>
          </a:bodyPr>
          <a:lstStyle/>
          <a:p>
            <a:pPr marL="12700">
              <a:lnSpc>
                <a:spcPct val="100000"/>
              </a:lnSpc>
              <a:spcBef>
                <a:spcPts val="810"/>
              </a:spcBef>
            </a:pPr>
            <a:r>
              <a:rPr spc="-20" dirty="0"/>
              <a:t>要求：</a:t>
            </a:r>
            <a:endParaRPr spc="-20" dirty="0"/>
          </a:p>
          <a:p>
            <a:pPr marL="565785" indent="-248920">
              <a:lnSpc>
                <a:spcPct val="100000"/>
              </a:lnSpc>
              <a:spcBef>
                <a:spcPts val="720"/>
              </a:spcBef>
              <a:buFont typeface="Wingdings" panose="05000000000000000000"/>
              <a:buChar char=""/>
              <a:tabLst>
                <a:tab pos="565785" algn="l"/>
              </a:tabLst>
            </a:pPr>
            <a:r>
              <a:rPr spc="-5" dirty="0"/>
              <a:t>要求设计出的机构和左图的运动效果一致，即零件</a:t>
            </a:r>
            <a:endParaRPr spc="-5" dirty="0"/>
          </a:p>
          <a:p>
            <a:pPr marL="567055">
              <a:lnSpc>
                <a:spcPct val="100000"/>
              </a:lnSpc>
              <a:spcBef>
                <a:spcPts val="15"/>
              </a:spcBef>
            </a:pPr>
            <a:r>
              <a:rPr dirty="0">
                <a:latin typeface="Calibri" panose="020F0502020204030204"/>
                <a:cs typeface="Calibri" panose="020F0502020204030204"/>
              </a:rPr>
              <a:t>1</a:t>
            </a:r>
            <a:r>
              <a:rPr spc="-5" dirty="0"/>
              <a:t>粉色滑块完成直线往复运动</a:t>
            </a:r>
            <a:endParaRPr spc="-5" dirty="0"/>
          </a:p>
          <a:p>
            <a:pPr marL="565785" indent="-248920">
              <a:lnSpc>
                <a:spcPct val="100000"/>
              </a:lnSpc>
              <a:spcBef>
                <a:spcPts val="25"/>
              </a:spcBef>
              <a:buFont typeface="Wingdings" panose="05000000000000000000"/>
              <a:buChar char=""/>
              <a:tabLst>
                <a:tab pos="565785" algn="l"/>
              </a:tabLst>
            </a:pPr>
            <a:r>
              <a:rPr dirty="0"/>
              <a:t>零件</a:t>
            </a:r>
            <a:r>
              <a:rPr dirty="0">
                <a:latin typeface="Calibri" panose="020F0502020204030204"/>
                <a:cs typeface="Calibri" panose="020F0502020204030204"/>
              </a:rPr>
              <a:t>2</a:t>
            </a:r>
            <a:r>
              <a:rPr spc="-5" dirty="0"/>
              <a:t>灰色转盘为原动件，需要为其安装动力部件</a:t>
            </a:r>
            <a:endParaRPr spc="-5" dirty="0"/>
          </a:p>
          <a:p>
            <a:pPr marL="565785" marR="14605" indent="-248920">
              <a:lnSpc>
                <a:spcPct val="100000"/>
              </a:lnSpc>
              <a:spcBef>
                <a:spcPts val="70"/>
              </a:spcBef>
              <a:buFont typeface="Wingdings" panose="05000000000000000000"/>
              <a:buChar char=""/>
              <a:tabLst>
                <a:tab pos="567055" algn="l"/>
              </a:tabLst>
            </a:pPr>
            <a:r>
              <a:rPr dirty="0"/>
              <a:t>各轴长度须和左图（第一次练习题）</a:t>
            </a:r>
            <a:r>
              <a:rPr spc="-10" dirty="0"/>
              <a:t>一致，其他尺	寸、形状可以改变</a:t>
            </a:r>
            <a:endParaRPr spc="-10" dirty="0"/>
          </a:p>
          <a:p>
            <a:pPr marL="565785" indent="-248920">
              <a:lnSpc>
                <a:spcPct val="100000"/>
              </a:lnSpc>
              <a:spcBef>
                <a:spcPts val="35"/>
              </a:spcBef>
              <a:buFont typeface="Wingdings" panose="05000000000000000000"/>
              <a:buChar char=""/>
              <a:tabLst>
                <a:tab pos="565785" algn="l"/>
              </a:tabLst>
            </a:pPr>
            <a:r>
              <a:rPr spc="-10" dirty="0"/>
              <a:t>需要设计紧固件</a:t>
            </a:r>
            <a:endParaRPr spc="-10" dirty="0"/>
          </a:p>
          <a:p>
            <a:pPr marL="565785" marR="5080" indent="-248920">
              <a:lnSpc>
                <a:spcPct val="102000"/>
              </a:lnSpc>
              <a:spcBef>
                <a:spcPts val="5"/>
              </a:spcBef>
              <a:buFont typeface="Wingdings" panose="05000000000000000000"/>
              <a:buChar char=""/>
              <a:tabLst>
                <a:tab pos="567055" algn="l"/>
              </a:tabLst>
            </a:pPr>
            <a:r>
              <a:rPr spc="25" dirty="0"/>
              <a:t>完成设计后需要导出</a:t>
            </a:r>
            <a:r>
              <a:rPr spc="10" dirty="0">
                <a:latin typeface="Calibri" panose="020F0502020204030204"/>
                <a:cs typeface="Calibri" panose="020F0502020204030204"/>
              </a:rPr>
              <a:t>BOM</a:t>
            </a:r>
            <a:r>
              <a:rPr spc="10" dirty="0"/>
              <a:t>表，标注好零件名称、材</a:t>
            </a:r>
            <a:r>
              <a:rPr spc="10" dirty="0"/>
              <a:t>	</a:t>
            </a:r>
            <a:r>
              <a:rPr spc="30" dirty="0"/>
              <a:t>质</a:t>
            </a:r>
            <a:r>
              <a:rPr spc="5" dirty="0">
                <a:latin typeface="Calibri" panose="020F0502020204030204"/>
                <a:cs typeface="Calibri" panose="020F0502020204030204"/>
              </a:rPr>
              <a:t>/</a:t>
            </a:r>
            <a:r>
              <a:rPr spc="20" dirty="0"/>
              <a:t>加工方式、大概价格</a:t>
            </a:r>
            <a:r>
              <a:rPr spc="30" dirty="0"/>
              <a:t>（</a:t>
            </a:r>
            <a:r>
              <a:rPr spc="20" dirty="0"/>
              <a:t>板材、</a:t>
            </a:r>
            <a:r>
              <a:rPr spc="10" dirty="0">
                <a:latin typeface="Calibri" panose="020F0502020204030204"/>
                <a:cs typeface="Calibri" panose="020F0502020204030204"/>
              </a:rPr>
              <a:t>FDM</a:t>
            </a:r>
            <a:r>
              <a:rPr spc="15" dirty="0"/>
              <a:t>打印件可以</a:t>
            </a:r>
            <a:r>
              <a:rPr spc="15" dirty="0"/>
              <a:t>	</a:t>
            </a:r>
            <a:r>
              <a:rPr spc="30" dirty="0"/>
              <a:t>不写价格），</a:t>
            </a:r>
            <a:r>
              <a:rPr spc="10" dirty="0"/>
              <a:t>并最终汇总出总价格</a:t>
            </a:r>
            <a:endParaRPr spc="10" dirty="0"/>
          </a:p>
        </p:txBody>
      </p:sp>
      <p:pic>
        <p:nvPicPr>
          <p:cNvPr id="6" name="object 6"/>
          <p:cNvPicPr/>
          <p:nvPr/>
        </p:nvPicPr>
        <p:blipFill>
          <a:blip r:embed="rId2" cstate="print"/>
          <a:stretch>
            <a:fillRect/>
          </a:stretch>
        </p:blipFill>
        <p:spPr>
          <a:xfrm>
            <a:off x="978408" y="4191000"/>
            <a:ext cx="3544824" cy="2508503"/>
          </a:xfrm>
          <a:prstGeom prst="rect">
            <a:avLst/>
          </a:prstGeom>
        </p:spPr>
      </p:pic>
      <p:sp>
        <p:nvSpPr>
          <p:cNvPr id="7" name="object 7"/>
          <p:cNvSpPr txBox="1"/>
          <p:nvPr/>
        </p:nvSpPr>
        <p:spPr>
          <a:xfrm>
            <a:off x="2860083" y="5184185"/>
            <a:ext cx="206375" cy="453390"/>
          </a:xfrm>
          <a:prstGeom prst="rect">
            <a:avLst/>
          </a:prstGeom>
        </p:spPr>
        <p:txBody>
          <a:bodyPr vert="horz" wrap="square" lIns="0" tIns="13335" rIns="0" bIns="0" rtlCol="0">
            <a:spAutoFit/>
          </a:bodyPr>
          <a:lstStyle/>
          <a:p>
            <a:pPr marL="12700">
              <a:lnSpc>
                <a:spcPct val="100000"/>
              </a:lnSpc>
              <a:spcBef>
                <a:spcPts val="105"/>
              </a:spcBef>
            </a:pPr>
            <a:r>
              <a:rPr sz="2800" b="1" spc="-50" dirty="0">
                <a:solidFill>
                  <a:srgbClr val="FFFFFF"/>
                </a:solidFill>
                <a:latin typeface="Calibri" panose="020F0502020204030204"/>
                <a:cs typeface="Calibri" panose="020F0502020204030204"/>
              </a:rPr>
              <a:t>2</a:t>
            </a:r>
            <a:endParaRPr sz="2800">
              <a:latin typeface="Calibri" panose="020F0502020204030204"/>
              <a:cs typeface="Calibri" panose="020F0502020204030204"/>
            </a:endParaRPr>
          </a:p>
        </p:txBody>
      </p:sp>
      <p:sp>
        <p:nvSpPr>
          <p:cNvPr id="8" name="object 8"/>
          <p:cNvSpPr txBox="1"/>
          <p:nvPr/>
        </p:nvSpPr>
        <p:spPr>
          <a:xfrm>
            <a:off x="2818896" y="4156951"/>
            <a:ext cx="160655" cy="345440"/>
          </a:xfrm>
          <a:prstGeom prst="rect">
            <a:avLst/>
          </a:prstGeom>
        </p:spPr>
        <p:txBody>
          <a:bodyPr vert="horz" wrap="square" lIns="0" tIns="12700" rIns="0" bIns="0" rtlCol="0">
            <a:spAutoFit/>
          </a:bodyPr>
          <a:lstStyle/>
          <a:p>
            <a:pPr marL="12700">
              <a:lnSpc>
                <a:spcPct val="100000"/>
              </a:lnSpc>
              <a:spcBef>
                <a:spcPts val="100"/>
              </a:spcBef>
            </a:pPr>
            <a:r>
              <a:rPr sz="2100" b="1" spc="-50" dirty="0">
                <a:solidFill>
                  <a:srgbClr val="FFFFFF"/>
                </a:solidFill>
                <a:latin typeface="Calibri" panose="020F0502020204030204"/>
                <a:cs typeface="Calibri" panose="020F0502020204030204"/>
              </a:rPr>
              <a:t>1</a:t>
            </a:r>
            <a:endParaRPr sz="2100">
              <a:latin typeface="Calibri" panose="020F0502020204030204"/>
              <a:cs typeface="Calibri" panose="020F0502020204030204"/>
            </a:endParaRPr>
          </a:p>
        </p:txBody>
      </p:sp>
      <p:pic>
        <p:nvPicPr>
          <p:cNvPr id="9" name="object 9"/>
          <p:cNvPicPr/>
          <p:nvPr/>
        </p:nvPicPr>
        <p:blipFill>
          <a:blip r:embed="rId3" cstate="print"/>
          <a:stretch>
            <a:fillRect/>
          </a:stretch>
        </p:blipFill>
        <p:spPr>
          <a:xfrm>
            <a:off x="403860" y="1946148"/>
            <a:ext cx="2938272" cy="2177795"/>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1" cstate="print"/>
          <a:stretch>
            <a:fillRect/>
          </a:stretch>
        </p:blipFill>
        <p:spPr>
          <a:xfrm>
            <a:off x="0" y="772668"/>
            <a:ext cx="10692384" cy="1075943"/>
          </a:xfrm>
          <a:prstGeom prst="rect">
            <a:avLst/>
          </a:prstGeom>
        </p:spPr>
      </p:pic>
      <p:grpSp>
        <p:nvGrpSpPr>
          <p:cNvPr id="3" name="object 3"/>
          <p:cNvGrpSpPr/>
          <p:nvPr/>
        </p:nvGrpSpPr>
        <p:grpSpPr>
          <a:xfrm>
            <a:off x="3197351" y="2278379"/>
            <a:ext cx="4300855" cy="2734310"/>
            <a:chOff x="3197351" y="2278379"/>
            <a:chExt cx="4300855" cy="2734310"/>
          </a:xfrm>
        </p:grpSpPr>
        <p:pic>
          <p:nvPicPr>
            <p:cNvPr id="4" name="object 4"/>
            <p:cNvPicPr/>
            <p:nvPr/>
          </p:nvPicPr>
          <p:blipFill>
            <a:blip r:embed="rId2" cstate="print"/>
            <a:stretch>
              <a:fillRect/>
            </a:stretch>
          </p:blipFill>
          <p:spPr>
            <a:xfrm>
              <a:off x="3197351" y="2278379"/>
              <a:ext cx="4300727" cy="2734055"/>
            </a:xfrm>
            <a:prstGeom prst="rect">
              <a:avLst/>
            </a:prstGeom>
          </p:spPr>
        </p:pic>
        <p:pic>
          <p:nvPicPr>
            <p:cNvPr id="5" name="object 5"/>
            <p:cNvPicPr/>
            <p:nvPr/>
          </p:nvPicPr>
          <p:blipFill>
            <a:blip r:embed="rId3" cstate="print"/>
            <a:stretch>
              <a:fillRect/>
            </a:stretch>
          </p:blipFill>
          <p:spPr>
            <a:xfrm>
              <a:off x="3566922" y="3021330"/>
              <a:ext cx="3607617" cy="1449323"/>
            </a:xfrm>
            <a:prstGeom prst="rect">
              <a:avLst/>
            </a:prstGeom>
          </p:spPr>
        </p:pic>
      </p:grpSp>
      <p:sp>
        <p:nvSpPr>
          <p:cNvPr id="6" name="object 6"/>
          <p:cNvSpPr txBox="1"/>
          <p:nvPr/>
        </p:nvSpPr>
        <p:spPr>
          <a:xfrm>
            <a:off x="4783330" y="4824480"/>
            <a:ext cx="1092200" cy="345440"/>
          </a:xfrm>
          <a:prstGeom prst="rect">
            <a:avLst/>
          </a:prstGeom>
        </p:spPr>
        <p:txBody>
          <a:bodyPr vert="horz" wrap="square" lIns="0" tIns="12700" rIns="0" bIns="0" rtlCol="0">
            <a:spAutoFit/>
          </a:bodyPr>
          <a:lstStyle/>
          <a:p>
            <a:pPr marL="12700">
              <a:lnSpc>
                <a:spcPct val="100000"/>
              </a:lnSpc>
              <a:spcBef>
                <a:spcPts val="100"/>
              </a:spcBef>
            </a:pPr>
            <a:r>
              <a:rPr sz="2100" b="1" spc="-15" dirty="0">
                <a:solidFill>
                  <a:srgbClr val="3F3F3F"/>
                </a:solidFill>
                <a:latin typeface="微软雅黑" panose="020B0503020204020204" charset="-122"/>
                <a:cs typeface="微软雅黑" panose="020B0503020204020204" charset="-122"/>
              </a:rPr>
              <a:t>问答环节</a:t>
            </a:r>
            <a:endParaRPr sz="2100">
              <a:latin typeface="微软雅黑" panose="020B0503020204020204" charset="-122"/>
              <a:cs typeface="微软雅黑" panose="020B0503020204020204" charset="-122"/>
            </a:endParaRPr>
          </a:p>
        </p:txBody>
      </p:sp>
      <p:pic>
        <p:nvPicPr>
          <p:cNvPr id="7" name="object 7"/>
          <p:cNvPicPr/>
          <p:nvPr/>
        </p:nvPicPr>
        <p:blipFill>
          <a:blip r:embed="rId4" cstate="print"/>
          <a:stretch>
            <a:fillRect/>
          </a:stretch>
        </p:blipFill>
        <p:spPr>
          <a:xfrm>
            <a:off x="0" y="2660903"/>
            <a:ext cx="4439411" cy="4125467"/>
          </a:xfrm>
          <a:prstGeom prst="rect">
            <a:avLst/>
          </a:prstGeom>
        </p:spPr>
      </p:pic>
      <p:grpSp>
        <p:nvGrpSpPr>
          <p:cNvPr id="8" name="object 8"/>
          <p:cNvGrpSpPr/>
          <p:nvPr/>
        </p:nvGrpSpPr>
        <p:grpSpPr>
          <a:xfrm>
            <a:off x="7571232" y="1848612"/>
            <a:ext cx="3121660" cy="4937760"/>
            <a:chOff x="7571232" y="1848612"/>
            <a:chExt cx="3121660" cy="4937760"/>
          </a:xfrm>
        </p:grpSpPr>
        <p:pic>
          <p:nvPicPr>
            <p:cNvPr id="9" name="object 9"/>
            <p:cNvPicPr/>
            <p:nvPr/>
          </p:nvPicPr>
          <p:blipFill>
            <a:blip r:embed="rId5" cstate="print"/>
            <a:stretch>
              <a:fillRect/>
            </a:stretch>
          </p:blipFill>
          <p:spPr>
            <a:xfrm>
              <a:off x="9605772" y="1848612"/>
              <a:ext cx="1086612" cy="4937759"/>
            </a:xfrm>
            <a:prstGeom prst="rect">
              <a:avLst/>
            </a:prstGeom>
          </p:spPr>
        </p:pic>
        <p:pic>
          <p:nvPicPr>
            <p:cNvPr id="10" name="object 10"/>
            <p:cNvPicPr/>
            <p:nvPr/>
          </p:nvPicPr>
          <p:blipFill>
            <a:blip r:embed="rId6" cstate="print"/>
            <a:stretch>
              <a:fillRect/>
            </a:stretch>
          </p:blipFill>
          <p:spPr>
            <a:xfrm>
              <a:off x="7571232" y="1858771"/>
              <a:ext cx="3121152" cy="4927600"/>
            </a:xfrm>
            <a:prstGeom prst="rect">
              <a:avLst/>
            </a:prstGeom>
          </p:spPr>
        </p:pic>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4121</Words>
  <Application>WPS 演示</Application>
  <PresentationFormat>On-screen Show (4:3)</PresentationFormat>
  <Paragraphs>266</Paragraphs>
  <Slides>33</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33</vt:i4>
      </vt:variant>
    </vt:vector>
  </HeadingPairs>
  <TitlesOfParts>
    <vt:vector size="42" baseType="lpstr">
      <vt:lpstr>Arial</vt:lpstr>
      <vt:lpstr>宋体</vt:lpstr>
      <vt:lpstr>Wingdings</vt:lpstr>
      <vt:lpstr>微软雅黑</vt:lpstr>
      <vt:lpstr>Calibri</vt:lpstr>
      <vt:lpstr>Wingdings</vt:lpstr>
      <vt:lpstr>Arial Unicode MS</vt:lpstr>
      <vt:lpstr>Arial MT</vt:lpstr>
      <vt:lpstr>Office Theme</vt:lpstr>
      <vt:lpstr>——轴系设计</vt:lpstr>
      <vt:lpstr>PowerPoint 演示文稿</vt:lpstr>
      <vt:lpstr>1.轴的相关概念</vt:lpstr>
      <vt:lpstr>轴的受力方向</vt:lpstr>
      <vt:lpstr>相关概念</vt:lpstr>
      <vt:lpstr>机器人相关轴</vt:lpstr>
      <vt:lpstr>2.轴承</vt:lpstr>
      <vt:lpstr>2.轴承</vt:lpstr>
      <vt:lpstr>2.轴承——深沟球轴承</vt:lpstr>
      <vt:lpstr>2.轴承——圆柱滚子轴承</vt:lpstr>
      <vt:lpstr>也叫止推轴承，只能承受轴向载荷使用时一定要压紧，否则失效</vt:lpstr>
      <vt:lpstr>2.轴承——推力滚子轴承</vt:lpstr>
      <vt:lpstr>2.轴承——角接触球轴承</vt:lpstr>
      <vt:lpstr>2.轴承——角接触球轴承</vt:lpstr>
      <vt:lpstr>2.轴承——圆锥滚子轴承</vt:lpstr>
      <vt:lpstr>2.轴承——交叉滚子轴承</vt:lpstr>
      <vt:lpstr>2.轴承——V型轴承</vt:lpstr>
      <vt:lpstr>2.轴承——关节轴承</vt:lpstr>
      <vt:lpstr>2.轴承——牛眼轴承</vt:lpstr>
      <vt:lpstr>2.轴承——直线轴承</vt:lpstr>
      <vt:lpstr>2.轴承——滑动轴承</vt:lpstr>
      <vt:lpstr>3. 轴系固定件——联轴器</vt:lpstr>
      <vt:lpstr>3. 轴系固定件——联轴器</vt:lpstr>
      <vt:lpstr>3. 轴系固定件</vt:lpstr>
      <vt:lpstr>3. 轴系固定件——胀紧套</vt:lpstr>
      <vt:lpstr>3. 轴系固定件——轴承座</vt:lpstr>
      <vt:lpstr>3. 轴系固定件——光轴止推环</vt:lpstr>
      <vt:lpstr>3. 轴系固定件——卡簧</vt:lpstr>
      <vt:lpstr>3. 轴系固定件——阶梯轴</vt:lpstr>
      <vt:lpstr>4.轴系设计要</vt:lpstr>
      <vt:lpstr>4.轴系设计要点</vt:lpstr>
      <vt:lpstr>homework</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机械组第四次线下培训——轴系设计</dc:title>
  <dc:creator>ut</dc:creator>
  <cp:lastModifiedBy>WPS_1735805809</cp:lastModifiedBy>
  <cp:revision>5</cp:revision>
  <dcterms:created xsi:type="dcterms:W3CDTF">2025-11-02T05:00:00Z</dcterms:created>
  <dcterms:modified xsi:type="dcterms:W3CDTF">2025-11-02T09:15:13Z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2024-11-25T00:00:00Z</vt:filetime>
  </property>
  <property fmtid="{D5CDD505-2E9C-101B-9397-08002B2CF9AE}" pid="3" name="LastSaved">
    <vt:filetime>2025-11-03T00:00:00Z</vt:filetime>
  </property>
  <property fmtid="{D5CDD505-2E9C-101B-9397-08002B2CF9AE}" pid="4" name="Producer">
    <vt:lpwstr>Microsoft: Print To PDF</vt:lpwstr>
  </property>
  <property fmtid="{D5CDD505-2E9C-101B-9397-08002B2CF9AE}" pid="5" name="ICV">
    <vt:lpwstr>D728A469B02142AB82CCEEF67C94934C_12</vt:lpwstr>
  </property>
  <property fmtid="{D5CDD505-2E9C-101B-9397-08002B2CF9AE}" pid="6" name="KSOProductBuildVer">
    <vt:lpwstr>2052-12.1.0.23125</vt:lpwstr>
  </property>
</Properties>
</file>