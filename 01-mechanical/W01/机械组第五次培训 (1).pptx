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984" y="3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0224" y="2340321"/>
            <a:ext cx="3818890" cy="559435"/>
          </a:xfrm>
          <a:prstGeom prst="rect">
            <a:avLst/>
          </a:prstGeom>
        </p:spPr>
        <p:txBody>
          <a:bodyPr wrap="square" lIns="0" tIns="0" rIns="0" bIns="0">
            <a:spAutoFit/>
          </a:bodyPr>
          <a:lstStyle>
            <a:lvl1pPr>
              <a:defRPr sz="3500" b="1" i="0">
                <a:solidFill>
                  <a:srgbClr val="26599C"/>
                </a:solidFill>
                <a:latin typeface="Microsoft YaHei"/>
                <a:cs typeface="Microsoft YaHei"/>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550" b="1" i="0">
                <a:solidFill>
                  <a:schemeClr val="tx1"/>
                </a:solidFill>
                <a:latin typeface="Microsoft YaHei"/>
                <a:cs typeface="Microsoft YaHe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26599C"/>
                </a:solidFill>
                <a:latin typeface="Microsoft YaHei"/>
                <a:cs typeface="Microsoft YaHei"/>
              </a:defRPr>
            </a:lvl1pPr>
          </a:lstStyle>
          <a:p>
            <a:endParaRPr/>
          </a:p>
        </p:txBody>
      </p:sp>
      <p:sp>
        <p:nvSpPr>
          <p:cNvPr id="3" name="Holder 3"/>
          <p:cNvSpPr>
            <a:spLocks noGrp="1"/>
          </p:cNvSpPr>
          <p:nvPr>
            <p:ph type="body" idx="1"/>
          </p:nvPr>
        </p:nvSpPr>
        <p:spPr/>
        <p:txBody>
          <a:bodyPr lIns="0" tIns="0" rIns="0" bIns="0"/>
          <a:lstStyle>
            <a:lvl1pPr>
              <a:defRPr sz="1550" b="1" i="0">
                <a:solidFill>
                  <a:schemeClr val="tx1"/>
                </a:solidFill>
                <a:latin typeface="Microsoft YaHei"/>
                <a:cs typeface="Microsoft YaHe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26599C"/>
                </a:solidFill>
                <a:latin typeface="Microsoft YaHei"/>
                <a:cs typeface="Microsoft YaHei"/>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26599C"/>
                </a:solidFill>
                <a:latin typeface="Microsoft YaHei"/>
                <a:cs typeface="Microsoft YaHe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772668"/>
            <a:ext cx="10692384" cy="6013703"/>
          </a:xfrm>
          <a:prstGeom prst="rect">
            <a:avLst/>
          </a:prstGeom>
        </p:spPr>
      </p:pic>
      <p:sp>
        <p:nvSpPr>
          <p:cNvPr id="2" name="Holder 2"/>
          <p:cNvSpPr>
            <a:spLocks noGrp="1"/>
          </p:cNvSpPr>
          <p:nvPr>
            <p:ph type="title"/>
          </p:nvPr>
        </p:nvSpPr>
        <p:spPr>
          <a:xfrm>
            <a:off x="283030" y="2088918"/>
            <a:ext cx="2205990" cy="559435"/>
          </a:xfrm>
          <a:prstGeom prst="rect">
            <a:avLst/>
          </a:prstGeom>
        </p:spPr>
        <p:txBody>
          <a:bodyPr wrap="square" lIns="0" tIns="0" rIns="0" bIns="0">
            <a:spAutoFit/>
          </a:bodyPr>
          <a:lstStyle>
            <a:lvl1pPr>
              <a:defRPr sz="3500" b="1" i="0">
                <a:solidFill>
                  <a:srgbClr val="26599C"/>
                </a:solidFill>
                <a:latin typeface="Microsoft YaHei"/>
                <a:cs typeface="Microsoft YaHei"/>
              </a:defRPr>
            </a:lvl1pPr>
          </a:lstStyle>
          <a:p>
            <a:endParaRPr/>
          </a:p>
        </p:txBody>
      </p:sp>
      <p:sp>
        <p:nvSpPr>
          <p:cNvPr id="3" name="Holder 3"/>
          <p:cNvSpPr>
            <a:spLocks noGrp="1"/>
          </p:cNvSpPr>
          <p:nvPr>
            <p:ph type="body" idx="1"/>
          </p:nvPr>
        </p:nvSpPr>
        <p:spPr>
          <a:xfrm>
            <a:off x="389635" y="2979530"/>
            <a:ext cx="4459605" cy="3427095"/>
          </a:xfrm>
          <a:prstGeom prst="rect">
            <a:avLst/>
          </a:prstGeom>
        </p:spPr>
        <p:txBody>
          <a:bodyPr wrap="square" lIns="0" tIns="0" rIns="0" bIns="0">
            <a:spAutoFit/>
          </a:bodyPr>
          <a:lstStyle>
            <a:lvl1pPr>
              <a:defRPr sz="1550" b="1" i="0">
                <a:solidFill>
                  <a:schemeClr val="tx1"/>
                </a:solidFill>
                <a:latin typeface="Microsoft YaHei"/>
                <a:cs typeface="Microsoft YaHei"/>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11/16/2025</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hyperlink" Target="http://www.bilibili.com/video/BV1FT4y167pP/?share_source=copy_web&amp;vd_so"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5.jpg"/><Relationship Id="rId1" Type="http://schemas.openxmlformats.org/officeDocument/2006/relationships/slideLayout" Target="../slideLayouts/slideLayout4.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hyperlink" Target="http://www.bilibili.com/video/BV1fT411v7WZ/?share_source=copy_"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www.bilibili.com/video/BV1YR4y1Z79W/?share_source=copy" TargetMode="External"/><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jpg"/></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5.jpg"/><Relationship Id="rId1" Type="http://schemas.openxmlformats.org/officeDocument/2006/relationships/slideLayout" Target="../slideLayouts/slideLayout4.xml"/><Relationship Id="rId4" Type="http://schemas.openxmlformats.org/officeDocument/2006/relationships/hyperlink" Target="http://www.bilibili.com/video/BV12tDDYWEAK/?share_source=c"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1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g"/><Relationship Id="rId2" Type="http://schemas.openxmlformats.org/officeDocument/2006/relationships/image" Target="../media/image28.jpg"/><Relationship Id="rId1" Type="http://schemas.openxmlformats.org/officeDocument/2006/relationships/slideLayout" Target="../slideLayouts/slideLayout2.xml"/><Relationship Id="rId6" Type="http://schemas.openxmlformats.org/officeDocument/2006/relationships/image" Target="../media/image32.jpg"/><Relationship Id="rId5" Type="http://schemas.openxmlformats.org/officeDocument/2006/relationships/image" Target="../media/image31.jpg"/><Relationship Id="rId10" Type="http://schemas.openxmlformats.org/officeDocument/2006/relationships/image" Target="../media/image36.jpg"/><Relationship Id="rId4" Type="http://schemas.openxmlformats.org/officeDocument/2006/relationships/image" Target="../media/image30.jpg"/><Relationship Id="rId9" Type="http://schemas.openxmlformats.org/officeDocument/2006/relationships/image" Target="../media/image35.jpg"/></Relationships>
</file>

<file path=ppt/slides/_rels/slide1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22.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28.jpg"/><Relationship Id="rId1" Type="http://schemas.openxmlformats.org/officeDocument/2006/relationships/slideLayout" Target="../slideLayouts/slideLayout2.xml"/><Relationship Id="rId5" Type="http://schemas.openxmlformats.org/officeDocument/2006/relationships/image" Target="../media/image43.jpg"/><Relationship Id="rId4" Type="http://schemas.openxmlformats.org/officeDocument/2006/relationships/image" Target="../media/image42.jpg"/></Relationships>
</file>

<file path=ppt/slides/_rels/slide2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2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48.jpg"/></Relationships>
</file>

<file path=ppt/slides/_rels/slide25.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6.jpg"/><Relationship Id="rId1" Type="http://schemas.openxmlformats.org/officeDocument/2006/relationships/slideLayout" Target="../slideLayouts/slideLayout2.xml"/><Relationship Id="rId5" Type="http://schemas.openxmlformats.org/officeDocument/2006/relationships/image" Target="../media/image52.jpg"/><Relationship Id="rId4" Type="http://schemas.openxmlformats.org/officeDocument/2006/relationships/image" Target="../media/image51.jp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jpg"/><Relationship Id="rId1" Type="http://schemas.openxmlformats.org/officeDocument/2006/relationships/slideLayout" Target="../slideLayouts/slideLayout2.xml"/><Relationship Id="rId4" Type="http://schemas.openxmlformats.org/officeDocument/2006/relationships/image" Target="../media/image46.jpg"/></Relationships>
</file>

<file path=ppt/slides/_rels/slide28.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56.jpg"/></Relationships>
</file>

<file path=ppt/slides/_rels/slide30.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59.jpg"/></Relationships>
</file>

<file path=ppt/slides/_rels/slide32.xml.rels><?xml version="1.0" encoding="UTF-8" standalone="yes"?>
<Relationships xmlns="http://schemas.openxmlformats.org/package/2006/relationships"><Relationship Id="rId3" Type="http://schemas.openxmlformats.org/officeDocument/2006/relationships/image" Target="../media/image60.jpg"/><Relationship Id="rId7" Type="http://schemas.openxmlformats.org/officeDocument/2006/relationships/image" Target="../media/image64.jpg"/><Relationship Id="rId2" Type="http://schemas.openxmlformats.org/officeDocument/2006/relationships/image" Target="../media/image46.jpg"/><Relationship Id="rId1" Type="http://schemas.openxmlformats.org/officeDocument/2006/relationships/slideLayout" Target="../slideLayouts/slideLayout2.xml"/><Relationship Id="rId6" Type="http://schemas.openxmlformats.org/officeDocument/2006/relationships/image" Target="../media/image63.jpg"/><Relationship Id="rId5" Type="http://schemas.openxmlformats.org/officeDocument/2006/relationships/image" Target="../media/image62.jpg"/><Relationship Id="rId4" Type="http://schemas.openxmlformats.org/officeDocument/2006/relationships/image" Target="../media/image61.jpg"/></Relationships>
</file>

<file path=ppt/slides/_rels/slide33.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image" Target="../media/image46.jpg"/><Relationship Id="rId1" Type="http://schemas.openxmlformats.org/officeDocument/2006/relationships/slideLayout" Target="../slideLayouts/slideLayout4.xml"/><Relationship Id="rId4" Type="http://schemas.openxmlformats.org/officeDocument/2006/relationships/image" Target="../media/image66.jpg"/></Relationships>
</file>

<file path=ppt/slides/_rels/slide34.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68.jpg"/></Relationships>
</file>

<file path=ppt/slides/_rels/slide35.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image" Target="../media/image46.jp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71.jpg"/></Relationships>
</file>

<file path=ppt/slides/_rels/slide37.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74.jpg"/></Relationships>
</file>

<file path=ppt/slides/_rels/slide39.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76.jpg"/></Relationships>
</file>

<file path=ppt/slides/_rels/slide40.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80.jpg"/></Relationships>
</file>

<file path=ppt/slides/_rels/slide43.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image" Target="../media/image46.jpg"/><Relationship Id="rId1" Type="http://schemas.openxmlformats.org/officeDocument/2006/relationships/slideLayout" Target="../slideLayouts/slideLayout4.xml"/><Relationship Id="rId5" Type="http://schemas.openxmlformats.org/officeDocument/2006/relationships/image" Target="../media/image83.jpg"/><Relationship Id="rId4" Type="http://schemas.openxmlformats.org/officeDocument/2006/relationships/image" Target="../media/image82.jpg"/></Relationships>
</file>

<file path=ppt/slides/_rels/slide44.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86.jpg"/></Relationships>
</file>

<file path=ppt/slides/_rels/slide47.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95.jpg"/><Relationship Id="rId3" Type="http://schemas.openxmlformats.org/officeDocument/2006/relationships/image" Target="../media/image90.jpg"/><Relationship Id="rId7" Type="http://schemas.openxmlformats.org/officeDocument/2006/relationships/image" Target="../media/image94.png"/><Relationship Id="rId2" Type="http://schemas.openxmlformats.org/officeDocument/2006/relationships/image" Target="../media/image3.jpg"/><Relationship Id="rId1" Type="http://schemas.openxmlformats.org/officeDocument/2006/relationships/slideLayout" Target="../slideLayouts/slideLayout5.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7100" y="2245950"/>
            <a:ext cx="8941435" cy="2122170"/>
          </a:xfrm>
          <a:prstGeom prst="rect">
            <a:avLst/>
          </a:prstGeom>
        </p:spPr>
        <p:txBody>
          <a:bodyPr vert="horz" wrap="square" lIns="0" tIns="391160" rIns="0" bIns="0" rtlCol="0">
            <a:spAutoFit/>
          </a:bodyPr>
          <a:lstStyle/>
          <a:p>
            <a:pPr marL="12700">
              <a:lnSpc>
                <a:spcPct val="100000"/>
              </a:lnSpc>
              <a:spcBef>
                <a:spcPts val="3080"/>
              </a:spcBef>
            </a:pPr>
            <a:r>
              <a:rPr sz="7000" spc="-5" dirty="0">
                <a:solidFill>
                  <a:srgbClr val="000000"/>
                </a:solidFill>
              </a:rPr>
              <a:t>机械组第五次线下培训</a:t>
            </a:r>
            <a:endParaRPr sz="7000"/>
          </a:p>
          <a:p>
            <a:pPr marL="5727700">
              <a:lnSpc>
                <a:spcPct val="100000"/>
              </a:lnSpc>
              <a:spcBef>
                <a:spcPts val="1345"/>
              </a:spcBef>
            </a:pPr>
            <a:r>
              <a:rPr sz="3150" spc="-10" dirty="0">
                <a:solidFill>
                  <a:srgbClr val="000000"/>
                </a:solidFill>
                <a:latin typeface="Calibri"/>
                <a:cs typeface="Calibri"/>
              </a:rPr>
              <a:t>——</a:t>
            </a:r>
            <a:r>
              <a:rPr sz="3150" spc="-10" dirty="0">
                <a:solidFill>
                  <a:srgbClr val="000000"/>
                </a:solidFill>
              </a:rPr>
              <a:t>常用传动机构</a:t>
            </a:r>
            <a:endParaRPr sz="3150">
              <a:latin typeface="Calibri"/>
              <a:cs typeface="Calibri"/>
            </a:endParaRPr>
          </a:p>
        </p:txBody>
      </p:sp>
      <p:sp>
        <p:nvSpPr>
          <p:cNvPr id="3" name="object 3"/>
          <p:cNvSpPr/>
          <p:nvPr/>
        </p:nvSpPr>
        <p:spPr>
          <a:xfrm>
            <a:off x="2570988" y="4686300"/>
            <a:ext cx="5552440" cy="0"/>
          </a:xfrm>
          <a:custGeom>
            <a:avLst/>
            <a:gdLst/>
            <a:ahLst/>
            <a:cxnLst/>
            <a:rect l="l" t="t" r="r" b="b"/>
            <a:pathLst>
              <a:path w="5552440">
                <a:moveTo>
                  <a:pt x="0" y="0"/>
                </a:moveTo>
                <a:lnTo>
                  <a:pt x="5551931" y="0"/>
                </a:lnTo>
              </a:path>
            </a:pathLst>
          </a:custGeom>
          <a:ln w="10668">
            <a:solidFill>
              <a:srgbClr val="446070"/>
            </a:solidFill>
          </a:ln>
        </p:spPr>
        <p:txBody>
          <a:bodyPr wrap="square" lIns="0" tIns="0" rIns="0" bIns="0" rtlCol="0"/>
          <a:lstStyle/>
          <a:p>
            <a:endParaRPr/>
          </a:p>
        </p:txBody>
      </p:sp>
      <p:sp>
        <p:nvSpPr>
          <p:cNvPr id="4" name="object 4"/>
          <p:cNvSpPr/>
          <p:nvPr/>
        </p:nvSpPr>
        <p:spPr>
          <a:xfrm>
            <a:off x="2433827" y="4666488"/>
            <a:ext cx="40005" cy="41275"/>
          </a:xfrm>
          <a:custGeom>
            <a:avLst/>
            <a:gdLst/>
            <a:ahLst/>
            <a:cxnLst/>
            <a:rect l="l" t="t" r="r" b="b"/>
            <a:pathLst>
              <a:path w="40005" h="41275">
                <a:moveTo>
                  <a:pt x="19812" y="41148"/>
                </a:moveTo>
                <a:lnTo>
                  <a:pt x="12215" y="39528"/>
                </a:lnTo>
                <a:lnTo>
                  <a:pt x="5905" y="35052"/>
                </a:lnTo>
                <a:lnTo>
                  <a:pt x="1595" y="28289"/>
                </a:lnTo>
                <a:lnTo>
                  <a:pt x="0" y="19812"/>
                </a:lnTo>
                <a:lnTo>
                  <a:pt x="1595" y="12215"/>
                </a:lnTo>
                <a:lnTo>
                  <a:pt x="5905" y="5905"/>
                </a:lnTo>
                <a:lnTo>
                  <a:pt x="12215" y="1595"/>
                </a:lnTo>
                <a:lnTo>
                  <a:pt x="19812" y="0"/>
                </a:lnTo>
                <a:lnTo>
                  <a:pt x="27408" y="1595"/>
                </a:lnTo>
                <a:lnTo>
                  <a:pt x="33718" y="5905"/>
                </a:lnTo>
                <a:lnTo>
                  <a:pt x="38028" y="12215"/>
                </a:lnTo>
                <a:lnTo>
                  <a:pt x="39624" y="19812"/>
                </a:lnTo>
                <a:lnTo>
                  <a:pt x="38028" y="28289"/>
                </a:lnTo>
                <a:lnTo>
                  <a:pt x="33718" y="35052"/>
                </a:lnTo>
                <a:lnTo>
                  <a:pt x="27408" y="39528"/>
                </a:lnTo>
                <a:lnTo>
                  <a:pt x="19812" y="41148"/>
                </a:lnTo>
                <a:close/>
              </a:path>
            </a:pathLst>
          </a:custGeom>
          <a:solidFill>
            <a:srgbClr val="446070"/>
          </a:solidFill>
        </p:spPr>
        <p:txBody>
          <a:bodyPr wrap="square" lIns="0" tIns="0" rIns="0" bIns="0" rtlCol="0"/>
          <a:lstStyle/>
          <a:p>
            <a:endParaRPr/>
          </a:p>
        </p:txBody>
      </p:sp>
      <p:sp>
        <p:nvSpPr>
          <p:cNvPr id="5" name="object 5"/>
          <p:cNvSpPr/>
          <p:nvPr/>
        </p:nvSpPr>
        <p:spPr>
          <a:xfrm>
            <a:off x="8258555" y="4666488"/>
            <a:ext cx="41275" cy="41275"/>
          </a:xfrm>
          <a:custGeom>
            <a:avLst/>
            <a:gdLst/>
            <a:ahLst/>
            <a:cxnLst/>
            <a:rect l="l" t="t" r="r" b="b"/>
            <a:pathLst>
              <a:path w="41275" h="41275">
                <a:moveTo>
                  <a:pt x="21336" y="41148"/>
                </a:moveTo>
                <a:lnTo>
                  <a:pt x="12858" y="39528"/>
                </a:lnTo>
                <a:lnTo>
                  <a:pt x="6095" y="35052"/>
                </a:lnTo>
                <a:lnTo>
                  <a:pt x="1619" y="28289"/>
                </a:lnTo>
                <a:lnTo>
                  <a:pt x="0" y="19812"/>
                </a:lnTo>
                <a:lnTo>
                  <a:pt x="1619" y="12215"/>
                </a:lnTo>
                <a:lnTo>
                  <a:pt x="6096" y="5905"/>
                </a:lnTo>
                <a:lnTo>
                  <a:pt x="12858" y="1595"/>
                </a:lnTo>
                <a:lnTo>
                  <a:pt x="21336" y="0"/>
                </a:lnTo>
                <a:lnTo>
                  <a:pt x="28932" y="1595"/>
                </a:lnTo>
                <a:lnTo>
                  <a:pt x="35242" y="5905"/>
                </a:lnTo>
                <a:lnTo>
                  <a:pt x="39552" y="12215"/>
                </a:lnTo>
                <a:lnTo>
                  <a:pt x="41148" y="19812"/>
                </a:lnTo>
                <a:lnTo>
                  <a:pt x="39552" y="28289"/>
                </a:lnTo>
                <a:lnTo>
                  <a:pt x="35242" y="35052"/>
                </a:lnTo>
                <a:lnTo>
                  <a:pt x="28932" y="39528"/>
                </a:lnTo>
                <a:lnTo>
                  <a:pt x="21336" y="41148"/>
                </a:lnTo>
                <a:close/>
              </a:path>
            </a:pathLst>
          </a:custGeom>
          <a:solidFill>
            <a:srgbClr val="446070"/>
          </a:solidFill>
        </p:spPr>
        <p:txBody>
          <a:bodyPr wrap="square" lIns="0" tIns="0" rIns="0" bIns="0" rtlCol="0"/>
          <a:lstStyle/>
          <a:p>
            <a:endParaRPr/>
          </a:p>
        </p:txBody>
      </p:sp>
      <p:sp>
        <p:nvSpPr>
          <p:cNvPr id="6" name="object 6"/>
          <p:cNvSpPr txBox="1"/>
          <p:nvPr/>
        </p:nvSpPr>
        <p:spPr>
          <a:xfrm>
            <a:off x="3356857" y="4946356"/>
            <a:ext cx="3983990" cy="1537970"/>
          </a:xfrm>
          <a:prstGeom prst="rect">
            <a:avLst/>
          </a:prstGeom>
        </p:spPr>
        <p:txBody>
          <a:bodyPr vert="horz" wrap="square" lIns="0" tIns="16510" rIns="0" bIns="0" rtlCol="0">
            <a:spAutoFit/>
          </a:bodyPr>
          <a:lstStyle/>
          <a:p>
            <a:pPr marL="12700">
              <a:lnSpc>
                <a:spcPct val="100000"/>
              </a:lnSpc>
              <a:spcBef>
                <a:spcPts val="130"/>
              </a:spcBef>
            </a:pPr>
            <a:r>
              <a:rPr sz="1550" dirty="0">
                <a:latin typeface="Calibri"/>
                <a:cs typeface="Calibri"/>
              </a:rPr>
              <a:t>The</a:t>
            </a:r>
            <a:r>
              <a:rPr sz="1550" spc="35" dirty="0">
                <a:latin typeface="Calibri"/>
                <a:cs typeface="Calibri"/>
              </a:rPr>
              <a:t> </a:t>
            </a:r>
            <a:r>
              <a:rPr sz="1550" dirty="0">
                <a:latin typeface="Calibri"/>
                <a:cs typeface="Calibri"/>
              </a:rPr>
              <a:t>fifth</a:t>
            </a:r>
            <a:r>
              <a:rPr sz="1550" spc="65" dirty="0">
                <a:latin typeface="Calibri"/>
                <a:cs typeface="Calibri"/>
              </a:rPr>
              <a:t> </a:t>
            </a:r>
            <a:r>
              <a:rPr sz="1550" dirty="0">
                <a:latin typeface="Calibri"/>
                <a:cs typeface="Calibri"/>
              </a:rPr>
              <a:t>offline</a:t>
            </a:r>
            <a:r>
              <a:rPr sz="1550" spc="35" dirty="0">
                <a:latin typeface="Calibri"/>
                <a:cs typeface="Calibri"/>
              </a:rPr>
              <a:t> </a:t>
            </a:r>
            <a:r>
              <a:rPr sz="1550" dirty="0">
                <a:latin typeface="Calibri"/>
                <a:cs typeface="Calibri"/>
              </a:rPr>
              <a:t>training</a:t>
            </a:r>
            <a:r>
              <a:rPr sz="1550" spc="50" dirty="0">
                <a:latin typeface="Calibri"/>
                <a:cs typeface="Calibri"/>
              </a:rPr>
              <a:t> </a:t>
            </a:r>
            <a:r>
              <a:rPr sz="1550" dirty="0">
                <a:latin typeface="Calibri"/>
                <a:cs typeface="Calibri"/>
              </a:rPr>
              <a:t>of</a:t>
            </a:r>
            <a:r>
              <a:rPr sz="1550" spc="45" dirty="0">
                <a:latin typeface="Calibri"/>
                <a:cs typeface="Calibri"/>
              </a:rPr>
              <a:t> </a:t>
            </a:r>
            <a:r>
              <a:rPr sz="1550" dirty="0">
                <a:latin typeface="Calibri"/>
                <a:cs typeface="Calibri"/>
              </a:rPr>
              <a:t>the</a:t>
            </a:r>
            <a:r>
              <a:rPr sz="1550" spc="55" dirty="0">
                <a:latin typeface="Calibri"/>
                <a:cs typeface="Calibri"/>
              </a:rPr>
              <a:t> </a:t>
            </a:r>
            <a:r>
              <a:rPr sz="1550" dirty="0">
                <a:latin typeface="Calibri"/>
                <a:cs typeface="Calibri"/>
              </a:rPr>
              <a:t>mechanical</a:t>
            </a:r>
            <a:r>
              <a:rPr sz="1550" spc="50" dirty="0">
                <a:latin typeface="Calibri"/>
                <a:cs typeface="Calibri"/>
              </a:rPr>
              <a:t> </a:t>
            </a:r>
            <a:r>
              <a:rPr sz="1550" spc="-10" dirty="0">
                <a:latin typeface="Calibri"/>
                <a:cs typeface="Calibri"/>
              </a:rPr>
              <a:t>group</a:t>
            </a:r>
            <a:endParaRPr sz="1550" dirty="0">
              <a:latin typeface="Calibri"/>
              <a:cs typeface="Calibri"/>
            </a:endParaRPr>
          </a:p>
          <a:p>
            <a:pPr>
              <a:lnSpc>
                <a:spcPct val="100000"/>
              </a:lnSpc>
            </a:pPr>
            <a:endParaRPr sz="1550" dirty="0">
              <a:latin typeface="Calibri"/>
              <a:cs typeface="Calibri"/>
            </a:endParaRPr>
          </a:p>
          <a:p>
            <a:pPr>
              <a:lnSpc>
                <a:spcPct val="100000"/>
              </a:lnSpc>
              <a:spcBef>
                <a:spcPts val="1435"/>
              </a:spcBef>
            </a:pPr>
            <a:endParaRPr sz="1550" dirty="0">
              <a:latin typeface="Calibri"/>
              <a:cs typeface="Calibri"/>
            </a:endParaRPr>
          </a:p>
          <a:p>
            <a:pPr marL="382905">
              <a:lnSpc>
                <a:spcPct val="100000"/>
              </a:lnSpc>
              <a:spcBef>
                <a:spcPts val="5"/>
              </a:spcBef>
            </a:pPr>
            <a:r>
              <a:rPr sz="1550" dirty="0">
                <a:latin typeface="Microsoft YaHei"/>
                <a:cs typeface="Microsoft YaHei"/>
              </a:rPr>
              <a:t>主办：河北工业大学山海</a:t>
            </a:r>
            <a:r>
              <a:rPr sz="1550" dirty="0">
                <a:latin typeface="Calibri"/>
                <a:cs typeface="Calibri"/>
              </a:rPr>
              <a:t>Mas</a:t>
            </a:r>
            <a:r>
              <a:rPr sz="1550" spc="-25" dirty="0">
                <a:latin typeface="Microsoft YaHei"/>
                <a:cs typeface="Microsoft YaHei"/>
              </a:rPr>
              <a:t>战队</a:t>
            </a:r>
            <a:endParaRPr sz="1550" dirty="0">
              <a:latin typeface="Microsoft YaHei"/>
              <a:cs typeface="Microsoft YaHei"/>
            </a:endParaRPr>
          </a:p>
          <a:p>
            <a:pPr marL="382905">
              <a:lnSpc>
                <a:spcPct val="100000"/>
              </a:lnSpc>
              <a:spcBef>
                <a:spcPts val="1005"/>
              </a:spcBef>
            </a:pPr>
            <a:r>
              <a:rPr sz="1600" spc="-10" dirty="0" err="1">
                <a:latin typeface="Microsoft YaHei"/>
                <a:cs typeface="Microsoft YaHei"/>
              </a:rPr>
              <a:t>主讲人</a:t>
            </a:r>
            <a:r>
              <a:rPr sz="1600" spc="-10" dirty="0">
                <a:latin typeface="Microsoft YaHei"/>
                <a:cs typeface="Microsoft YaHei"/>
              </a:rPr>
              <a:t>：</a:t>
            </a:r>
            <a:r>
              <a:rPr lang="zh-CN" altLang="en-US" sz="1600" spc="-10">
                <a:latin typeface="Microsoft YaHei"/>
                <a:cs typeface="Microsoft YaHei"/>
              </a:rPr>
              <a:t>李嘉政</a:t>
            </a:r>
            <a:endParaRPr sz="1600" dirty="0">
              <a:latin typeface="Microsoft YaHei"/>
              <a:cs typeface="Microsoft YaHei"/>
            </a:endParaRPr>
          </a:p>
        </p:txBody>
      </p:sp>
      <p:pic>
        <p:nvPicPr>
          <p:cNvPr id="7" name="object 7"/>
          <p:cNvPicPr/>
          <p:nvPr/>
        </p:nvPicPr>
        <p:blipFill>
          <a:blip r:embed="rId2" cstate="print"/>
          <a:stretch>
            <a:fillRect/>
          </a:stretch>
        </p:blipFill>
        <p:spPr>
          <a:xfrm>
            <a:off x="8683752" y="4610100"/>
            <a:ext cx="2008632" cy="2176271"/>
          </a:xfrm>
          <a:prstGeom prst="rect">
            <a:avLst/>
          </a:prstGeom>
        </p:spPr>
      </p:pic>
      <p:pic>
        <p:nvPicPr>
          <p:cNvPr id="8" name="object 8"/>
          <p:cNvPicPr/>
          <p:nvPr/>
        </p:nvPicPr>
        <p:blipFill>
          <a:blip r:embed="rId3" cstate="print"/>
          <a:stretch>
            <a:fillRect/>
          </a:stretch>
        </p:blipFill>
        <p:spPr>
          <a:xfrm>
            <a:off x="0" y="772668"/>
            <a:ext cx="10692384" cy="10759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0208" y="3488182"/>
            <a:ext cx="823594" cy="966469"/>
          </a:xfrm>
          <a:custGeom>
            <a:avLst/>
            <a:gdLst/>
            <a:ahLst/>
            <a:cxnLst/>
            <a:rect l="l" t="t" r="r" b="b"/>
            <a:pathLst>
              <a:path w="823594" h="966470">
                <a:moveTo>
                  <a:pt x="823252" y="0"/>
                </a:moveTo>
                <a:lnTo>
                  <a:pt x="0" y="0"/>
                </a:lnTo>
                <a:lnTo>
                  <a:pt x="0" y="138430"/>
                </a:lnTo>
                <a:lnTo>
                  <a:pt x="0" y="252730"/>
                </a:lnTo>
                <a:lnTo>
                  <a:pt x="0" y="966470"/>
                </a:lnTo>
                <a:lnTo>
                  <a:pt x="148399" y="966470"/>
                </a:lnTo>
                <a:lnTo>
                  <a:pt x="148399" y="895350"/>
                </a:lnTo>
                <a:lnTo>
                  <a:pt x="674954" y="895350"/>
                </a:lnTo>
                <a:lnTo>
                  <a:pt x="674954" y="966470"/>
                </a:lnTo>
                <a:lnTo>
                  <a:pt x="823252" y="966470"/>
                </a:lnTo>
                <a:lnTo>
                  <a:pt x="823252" y="138938"/>
                </a:lnTo>
                <a:lnTo>
                  <a:pt x="674954" y="138938"/>
                </a:lnTo>
                <a:lnTo>
                  <a:pt x="674954" y="755650"/>
                </a:lnTo>
                <a:lnTo>
                  <a:pt x="148399" y="755650"/>
                </a:lnTo>
                <a:lnTo>
                  <a:pt x="148399" y="636270"/>
                </a:lnTo>
                <a:lnTo>
                  <a:pt x="674954" y="636270"/>
                </a:lnTo>
                <a:lnTo>
                  <a:pt x="674954" y="501650"/>
                </a:lnTo>
                <a:lnTo>
                  <a:pt x="148399" y="501650"/>
                </a:lnTo>
                <a:lnTo>
                  <a:pt x="148399" y="387350"/>
                </a:lnTo>
                <a:lnTo>
                  <a:pt x="674954" y="387350"/>
                </a:lnTo>
                <a:lnTo>
                  <a:pt x="674954" y="252730"/>
                </a:lnTo>
                <a:lnTo>
                  <a:pt x="148399" y="252730"/>
                </a:lnTo>
                <a:lnTo>
                  <a:pt x="148399" y="138430"/>
                </a:lnTo>
                <a:lnTo>
                  <a:pt x="823252" y="138430"/>
                </a:lnTo>
                <a:lnTo>
                  <a:pt x="823252" y="0"/>
                </a:lnTo>
                <a:close/>
              </a:path>
            </a:pathLst>
          </a:custGeom>
          <a:solidFill>
            <a:srgbClr val="26599C"/>
          </a:solidFill>
        </p:spPr>
        <p:txBody>
          <a:bodyPr wrap="square" lIns="0" tIns="0" rIns="0" bIns="0" rtlCol="0"/>
          <a:lstStyle/>
          <a:p>
            <a:endParaRPr/>
          </a:p>
        </p:txBody>
      </p:sp>
      <p:sp>
        <p:nvSpPr>
          <p:cNvPr id="3" name="object 3"/>
          <p:cNvSpPr/>
          <p:nvPr/>
        </p:nvSpPr>
        <p:spPr>
          <a:xfrm>
            <a:off x="2289369" y="3467100"/>
            <a:ext cx="1038860" cy="992505"/>
          </a:xfrm>
          <a:custGeom>
            <a:avLst/>
            <a:gdLst/>
            <a:ahLst/>
            <a:cxnLst/>
            <a:rect l="l" t="t" r="r" b="b"/>
            <a:pathLst>
              <a:path w="1038860" h="992504">
                <a:moveTo>
                  <a:pt x="891314" y="377952"/>
                </a:moveTo>
                <a:lnTo>
                  <a:pt x="748153" y="377952"/>
                </a:lnTo>
                <a:lnTo>
                  <a:pt x="748153" y="306324"/>
                </a:lnTo>
                <a:lnTo>
                  <a:pt x="127504" y="306324"/>
                </a:lnTo>
                <a:lnTo>
                  <a:pt x="127504" y="192024"/>
                </a:lnTo>
                <a:lnTo>
                  <a:pt x="748153" y="192024"/>
                </a:lnTo>
                <a:lnTo>
                  <a:pt x="748153" y="123444"/>
                </a:lnTo>
                <a:lnTo>
                  <a:pt x="90928" y="123444"/>
                </a:lnTo>
                <a:lnTo>
                  <a:pt x="90928" y="0"/>
                </a:lnTo>
                <a:lnTo>
                  <a:pt x="891314" y="0"/>
                </a:lnTo>
                <a:lnTo>
                  <a:pt x="891314" y="377952"/>
                </a:lnTo>
                <a:close/>
              </a:path>
              <a:path w="1038860" h="992504">
                <a:moveTo>
                  <a:pt x="1036475" y="501396"/>
                </a:moveTo>
                <a:lnTo>
                  <a:pt x="4250" y="501396"/>
                </a:lnTo>
                <a:lnTo>
                  <a:pt x="4250" y="377952"/>
                </a:lnTo>
                <a:lnTo>
                  <a:pt x="1036475" y="377952"/>
                </a:lnTo>
                <a:lnTo>
                  <a:pt x="1036475" y="501396"/>
                </a:lnTo>
                <a:close/>
              </a:path>
              <a:path w="1038860" h="992504">
                <a:moveTo>
                  <a:pt x="69020" y="947928"/>
                </a:moveTo>
                <a:lnTo>
                  <a:pt x="0" y="809505"/>
                </a:lnTo>
                <a:lnTo>
                  <a:pt x="346" y="809505"/>
                </a:lnTo>
                <a:lnTo>
                  <a:pt x="49724" y="788869"/>
                </a:lnTo>
                <a:lnTo>
                  <a:pt x="98370" y="767986"/>
                </a:lnTo>
                <a:lnTo>
                  <a:pt x="146004" y="746984"/>
                </a:lnTo>
                <a:lnTo>
                  <a:pt x="192638" y="725872"/>
                </a:lnTo>
                <a:lnTo>
                  <a:pt x="238280" y="704659"/>
                </a:lnTo>
                <a:lnTo>
                  <a:pt x="196258" y="666101"/>
                </a:lnTo>
                <a:lnTo>
                  <a:pt x="155781" y="630721"/>
                </a:lnTo>
                <a:lnTo>
                  <a:pt x="116858" y="598521"/>
                </a:lnTo>
                <a:lnTo>
                  <a:pt x="79498" y="569499"/>
                </a:lnTo>
                <a:lnTo>
                  <a:pt x="139029" y="501396"/>
                </a:lnTo>
                <a:lnTo>
                  <a:pt x="193322" y="501396"/>
                </a:lnTo>
                <a:lnTo>
                  <a:pt x="225912" y="525574"/>
                </a:lnTo>
                <a:lnTo>
                  <a:pt x="259949" y="551521"/>
                </a:lnTo>
                <a:lnTo>
                  <a:pt x="295415" y="579218"/>
                </a:lnTo>
                <a:lnTo>
                  <a:pt x="332291" y="608647"/>
                </a:lnTo>
                <a:lnTo>
                  <a:pt x="246662" y="700468"/>
                </a:lnTo>
                <a:lnTo>
                  <a:pt x="822459" y="700468"/>
                </a:lnTo>
                <a:lnTo>
                  <a:pt x="809059" y="709803"/>
                </a:lnTo>
                <a:lnTo>
                  <a:pt x="593467" y="709803"/>
                </a:lnTo>
                <a:lnTo>
                  <a:pt x="593467" y="741807"/>
                </a:lnTo>
                <a:lnTo>
                  <a:pt x="450401" y="741807"/>
                </a:lnTo>
                <a:lnTo>
                  <a:pt x="258499" y="843048"/>
                </a:lnTo>
                <a:lnTo>
                  <a:pt x="175983" y="887885"/>
                </a:lnTo>
                <a:lnTo>
                  <a:pt x="102432" y="928874"/>
                </a:lnTo>
                <a:lnTo>
                  <a:pt x="69020" y="947928"/>
                </a:lnTo>
                <a:close/>
              </a:path>
              <a:path w="1038860" h="992504">
                <a:moveTo>
                  <a:pt x="822459" y="700468"/>
                </a:moveTo>
                <a:lnTo>
                  <a:pt x="246662" y="700468"/>
                </a:lnTo>
                <a:lnTo>
                  <a:pt x="299793" y="675449"/>
                </a:lnTo>
                <a:lnTo>
                  <a:pt x="351460" y="650116"/>
                </a:lnTo>
                <a:lnTo>
                  <a:pt x="401663" y="624481"/>
                </a:lnTo>
                <a:lnTo>
                  <a:pt x="450401" y="598521"/>
                </a:lnTo>
                <a:lnTo>
                  <a:pt x="450401" y="501396"/>
                </a:lnTo>
                <a:lnTo>
                  <a:pt x="593467" y="501396"/>
                </a:lnTo>
                <a:lnTo>
                  <a:pt x="593467" y="542163"/>
                </a:lnTo>
                <a:lnTo>
                  <a:pt x="614056" y="569702"/>
                </a:lnTo>
                <a:lnTo>
                  <a:pt x="636091" y="595741"/>
                </a:lnTo>
                <a:lnTo>
                  <a:pt x="659555" y="620279"/>
                </a:lnTo>
                <a:lnTo>
                  <a:pt x="684431" y="643318"/>
                </a:lnTo>
                <a:lnTo>
                  <a:pt x="906198" y="643318"/>
                </a:lnTo>
                <a:lnTo>
                  <a:pt x="877979" y="662320"/>
                </a:lnTo>
                <a:lnTo>
                  <a:pt x="834402" y="692149"/>
                </a:lnTo>
                <a:lnTo>
                  <a:pt x="822459" y="700468"/>
                </a:lnTo>
                <a:close/>
              </a:path>
              <a:path w="1038860" h="992504">
                <a:moveTo>
                  <a:pt x="906198" y="643318"/>
                </a:moveTo>
                <a:lnTo>
                  <a:pt x="684431" y="643318"/>
                </a:lnTo>
                <a:lnTo>
                  <a:pt x="728293" y="612155"/>
                </a:lnTo>
                <a:lnTo>
                  <a:pt x="772156" y="578107"/>
                </a:lnTo>
                <a:lnTo>
                  <a:pt x="816018" y="541185"/>
                </a:lnTo>
                <a:lnTo>
                  <a:pt x="859881" y="501396"/>
                </a:lnTo>
                <a:lnTo>
                  <a:pt x="871406" y="501396"/>
                </a:lnTo>
                <a:lnTo>
                  <a:pt x="968561" y="601789"/>
                </a:lnTo>
                <a:lnTo>
                  <a:pt x="922698" y="632207"/>
                </a:lnTo>
                <a:lnTo>
                  <a:pt x="906198" y="643318"/>
                </a:lnTo>
                <a:close/>
              </a:path>
              <a:path w="1038860" h="992504">
                <a:moveTo>
                  <a:pt x="945606" y="949452"/>
                </a:moveTo>
                <a:lnTo>
                  <a:pt x="899773" y="931622"/>
                </a:lnTo>
                <a:lnTo>
                  <a:pt x="855618" y="911596"/>
                </a:lnTo>
                <a:lnTo>
                  <a:pt x="813142" y="889373"/>
                </a:lnTo>
                <a:lnTo>
                  <a:pt x="772341" y="864952"/>
                </a:lnTo>
                <a:lnTo>
                  <a:pt x="733218" y="838329"/>
                </a:lnTo>
                <a:lnTo>
                  <a:pt x="695769" y="809505"/>
                </a:lnTo>
                <a:lnTo>
                  <a:pt x="659995" y="778476"/>
                </a:lnTo>
                <a:lnTo>
                  <a:pt x="625894" y="745243"/>
                </a:lnTo>
                <a:lnTo>
                  <a:pt x="593467" y="709803"/>
                </a:lnTo>
                <a:lnTo>
                  <a:pt x="809059" y="709803"/>
                </a:lnTo>
                <a:lnTo>
                  <a:pt x="791968" y="721709"/>
                </a:lnTo>
                <a:lnTo>
                  <a:pt x="835939" y="745702"/>
                </a:lnTo>
                <a:lnTo>
                  <a:pt x="882585" y="767395"/>
                </a:lnTo>
                <a:lnTo>
                  <a:pt x="931905" y="786798"/>
                </a:lnTo>
                <a:lnTo>
                  <a:pt x="983900" y="803919"/>
                </a:lnTo>
                <a:lnTo>
                  <a:pt x="1038570" y="818769"/>
                </a:lnTo>
                <a:lnTo>
                  <a:pt x="1009284" y="858329"/>
                </a:lnTo>
                <a:lnTo>
                  <a:pt x="984016" y="893290"/>
                </a:lnTo>
                <a:lnTo>
                  <a:pt x="962784" y="923661"/>
                </a:lnTo>
                <a:lnTo>
                  <a:pt x="945606" y="949452"/>
                </a:lnTo>
                <a:close/>
              </a:path>
              <a:path w="1038860" h="992504">
                <a:moveTo>
                  <a:pt x="589852" y="864250"/>
                </a:moveTo>
                <a:lnTo>
                  <a:pt x="365778" y="864250"/>
                </a:lnTo>
                <a:lnTo>
                  <a:pt x="387727" y="864108"/>
                </a:lnTo>
                <a:lnTo>
                  <a:pt x="415160" y="859870"/>
                </a:lnTo>
                <a:lnTo>
                  <a:pt x="434745" y="847141"/>
                </a:lnTo>
                <a:lnTo>
                  <a:pt x="446489" y="825893"/>
                </a:lnTo>
                <a:lnTo>
                  <a:pt x="450401" y="796099"/>
                </a:lnTo>
                <a:lnTo>
                  <a:pt x="450401" y="741807"/>
                </a:lnTo>
                <a:lnTo>
                  <a:pt x="593467" y="741807"/>
                </a:lnTo>
                <a:lnTo>
                  <a:pt x="593356" y="825893"/>
                </a:lnTo>
                <a:lnTo>
                  <a:pt x="589917" y="863536"/>
                </a:lnTo>
                <a:lnTo>
                  <a:pt x="589852" y="864250"/>
                </a:lnTo>
                <a:close/>
              </a:path>
              <a:path w="1038860" h="992504">
                <a:moveTo>
                  <a:pt x="306193" y="992124"/>
                </a:moveTo>
                <a:lnTo>
                  <a:pt x="298350" y="954744"/>
                </a:lnTo>
                <a:lnTo>
                  <a:pt x="282699" y="888450"/>
                </a:lnTo>
                <a:lnTo>
                  <a:pt x="274856" y="859536"/>
                </a:lnTo>
                <a:lnTo>
                  <a:pt x="309342" y="861964"/>
                </a:lnTo>
                <a:lnTo>
                  <a:pt x="339649" y="863536"/>
                </a:lnTo>
                <a:lnTo>
                  <a:pt x="365778" y="864250"/>
                </a:lnTo>
                <a:lnTo>
                  <a:pt x="589852" y="864250"/>
                </a:lnTo>
                <a:lnTo>
                  <a:pt x="588243" y="881859"/>
                </a:lnTo>
                <a:lnTo>
                  <a:pt x="572573" y="926887"/>
                </a:lnTo>
                <a:lnTo>
                  <a:pt x="546455" y="959763"/>
                </a:lnTo>
                <a:lnTo>
                  <a:pt x="509891" y="980491"/>
                </a:lnTo>
                <a:lnTo>
                  <a:pt x="462879" y="989076"/>
                </a:lnTo>
                <a:lnTo>
                  <a:pt x="351249" y="991728"/>
                </a:lnTo>
                <a:lnTo>
                  <a:pt x="306193" y="992124"/>
                </a:lnTo>
                <a:close/>
              </a:path>
            </a:pathLst>
          </a:custGeom>
          <a:solidFill>
            <a:srgbClr val="26599C"/>
          </a:solidFill>
        </p:spPr>
        <p:txBody>
          <a:bodyPr wrap="square" lIns="0" tIns="0" rIns="0" bIns="0" rtlCol="0"/>
          <a:lstStyle/>
          <a:p>
            <a:endParaRPr/>
          </a:p>
        </p:txBody>
      </p:sp>
      <p:pic>
        <p:nvPicPr>
          <p:cNvPr id="4" name="object 4"/>
          <p:cNvPicPr/>
          <p:nvPr/>
        </p:nvPicPr>
        <p:blipFill>
          <a:blip r:embed="rId2" cstate="print"/>
          <a:stretch>
            <a:fillRect/>
          </a:stretch>
        </p:blipFill>
        <p:spPr>
          <a:xfrm>
            <a:off x="8683752" y="4610100"/>
            <a:ext cx="2008632" cy="2176271"/>
          </a:xfrm>
          <a:prstGeom prst="rect">
            <a:avLst/>
          </a:prstGeom>
        </p:spPr>
      </p:pic>
      <p:grpSp>
        <p:nvGrpSpPr>
          <p:cNvPr id="5" name="object 5"/>
          <p:cNvGrpSpPr/>
          <p:nvPr/>
        </p:nvGrpSpPr>
        <p:grpSpPr>
          <a:xfrm>
            <a:off x="3927347" y="2499360"/>
            <a:ext cx="32384" cy="3624579"/>
            <a:chOff x="3927347" y="2499360"/>
            <a:chExt cx="32384" cy="3624579"/>
          </a:xfrm>
        </p:grpSpPr>
        <p:sp>
          <p:nvSpPr>
            <p:cNvPr id="6" name="object 6"/>
            <p:cNvSpPr/>
            <p:nvPr/>
          </p:nvSpPr>
          <p:spPr>
            <a:xfrm>
              <a:off x="3943349" y="2499360"/>
              <a:ext cx="0" cy="3575685"/>
            </a:xfrm>
            <a:custGeom>
              <a:avLst/>
              <a:gdLst/>
              <a:ahLst/>
              <a:cxnLst/>
              <a:rect l="l" t="t" r="r" b="b"/>
              <a:pathLst>
                <a:path h="3575685">
                  <a:moveTo>
                    <a:pt x="0" y="0"/>
                  </a:moveTo>
                  <a:lnTo>
                    <a:pt x="0" y="3575304"/>
                  </a:lnTo>
                </a:path>
              </a:pathLst>
            </a:custGeom>
            <a:ln w="32004">
              <a:solidFill>
                <a:srgbClr val="26599C"/>
              </a:solidFill>
              <a:prstDash val="sysDot"/>
            </a:ln>
          </p:spPr>
          <p:txBody>
            <a:bodyPr wrap="square" lIns="0" tIns="0" rIns="0" bIns="0" rtlCol="0"/>
            <a:lstStyle/>
            <a:p>
              <a:endParaRPr/>
            </a:p>
          </p:txBody>
        </p:sp>
        <p:sp>
          <p:nvSpPr>
            <p:cNvPr id="7" name="object 7"/>
            <p:cNvSpPr/>
            <p:nvPr/>
          </p:nvSpPr>
          <p:spPr>
            <a:xfrm>
              <a:off x="3927347" y="6108192"/>
              <a:ext cx="32384" cy="15240"/>
            </a:xfrm>
            <a:custGeom>
              <a:avLst/>
              <a:gdLst/>
              <a:ahLst/>
              <a:cxnLst/>
              <a:rect l="l" t="t" r="r" b="b"/>
              <a:pathLst>
                <a:path w="32385" h="15239">
                  <a:moveTo>
                    <a:pt x="32004" y="15239"/>
                  </a:moveTo>
                  <a:lnTo>
                    <a:pt x="0" y="15239"/>
                  </a:lnTo>
                  <a:lnTo>
                    <a:pt x="0" y="0"/>
                  </a:lnTo>
                  <a:lnTo>
                    <a:pt x="32004" y="0"/>
                  </a:lnTo>
                  <a:lnTo>
                    <a:pt x="32004" y="15239"/>
                  </a:lnTo>
                  <a:close/>
                </a:path>
              </a:pathLst>
            </a:custGeom>
            <a:solidFill>
              <a:srgbClr val="26599C"/>
            </a:solidFill>
          </p:spPr>
          <p:txBody>
            <a:bodyPr wrap="square" lIns="0" tIns="0" rIns="0" bIns="0" rtlCol="0"/>
            <a:lstStyle/>
            <a:p>
              <a:endParaRPr/>
            </a:p>
          </p:txBody>
        </p:sp>
      </p:grpSp>
      <p:pic>
        <p:nvPicPr>
          <p:cNvPr id="8" name="object 8"/>
          <p:cNvPicPr/>
          <p:nvPr/>
        </p:nvPicPr>
        <p:blipFill>
          <a:blip r:embed="rId3" cstate="print"/>
          <a:stretch>
            <a:fillRect/>
          </a:stretch>
        </p:blipFill>
        <p:spPr>
          <a:xfrm>
            <a:off x="0" y="772668"/>
            <a:ext cx="10692384" cy="1071372"/>
          </a:xfrm>
          <a:prstGeom prst="rect">
            <a:avLst/>
          </a:prstGeom>
        </p:spPr>
      </p:pic>
      <p:sp>
        <p:nvSpPr>
          <p:cNvPr id="9" name="object 9"/>
          <p:cNvSpPr txBox="1"/>
          <p:nvPr/>
        </p:nvSpPr>
        <p:spPr>
          <a:xfrm>
            <a:off x="4417494" y="2361725"/>
            <a:ext cx="2842895" cy="3969385"/>
          </a:xfrm>
          <a:prstGeom prst="rect">
            <a:avLst/>
          </a:prstGeom>
        </p:spPr>
        <p:txBody>
          <a:bodyPr vert="horz" wrap="square" lIns="0" tIns="13335" rIns="0" bIns="0" rtlCol="0">
            <a:spAutoFit/>
          </a:bodyPr>
          <a:lstStyle/>
          <a:p>
            <a:pPr marL="332105" indent="-321945">
              <a:lnSpc>
                <a:spcPct val="100000"/>
              </a:lnSpc>
              <a:spcBef>
                <a:spcPts val="105"/>
              </a:spcBef>
              <a:buSzPct val="96428"/>
              <a:buAutoNum type="arabicPeriod"/>
              <a:tabLst>
                <a:tab pos="332105" algn="l"/>
              </a:tabLst>
            </a:pPr>
            <a:r>
              <a:rPr sz="2800" b="1" spc="-15" dirty="0">
                <a:solidFill>
                  <a:srgbClr val="26599C"/>
                </a:solidFill>
                <a:latin typeface="Microsoft YaHei"/>
                <a:cs typeface="Microsoft YaHei"/>
              </a:rPr>
              <a:t>齿轮传动</a:t>
            </a:r>
            <a:endParaRPr sz="2800">
              <a:latin typeface="Microsoft YaHei"/>
              <a:cs typeface="Microsoft YaHei"/>
            </a:endParaRPr>
          </a:p>
          <a:p>
            <a:pPr marL="332105" indent="-321945">
              <a:lnSpc>
                <a:spcPct val="100000"/>
              </a:lnSpc>
              <a:spcBef>
                <a:spcPts val="2135"/>
              </a:spcBef>
              <a:buSzPct val="96428"/>
              <a:buAutoNum type="arabicPeriod"/>
              <a:tabLst>
                <a:tab pos="332105" algn="l"/>
              </a:tabLst>
            </a:pPr>
            <a:r>
              <a:rPr sz="2800" b="1" spc="-10" dirty="0">
                <a:solidFill>
                  <a:srgbClr val="26599C"/>
                </a:solidFill>
                <a:latin typeface="Microsoft YaHei"/>
                <a:cs typeface="Microsoft YaHei"/>
              </a:rPr>
              <a:t>带传动、链传动</a:t>
            </a:r>
            <a:endParaRPr sz="2800">
              <a:latin typeface="Microsoft YaHei"/>
              <a:cs typeface="Microsoft YaHei"/>
            </a:endParaRPr>
          </a:p>
          <a:p>
            <a:pPr marL="332105" indent="-321945">
              <a:lnSpc>
                <a:spcPct val="100000"/>
              </a:lnSpc>
              <a:spcBef>
                <a:spcPts val="2185"/>
              </a:spcBef>
              <a:buSzPct val="96428"/>
              <a:buAutoNum type="arabicPeriod"/>
              <a:tabLst>
                <a:tab pos="332105" algn="l"/>
              </a:tabLst>
            </a:pPr>
            <a:r>
              <a:rPr sz="2800" b="1" spc="-15" dirty="0">
                <a:solidFill>
                  <a:srgbClr val="26599C"/>
                </a:solidFill>
                <a:latin typeface="Microsoft YaHei"/>
                <a:cs typeface="Microsoft YaHei"/>
              </a:rPr>
              <a:t>连杆传动</a:t>
            </a:r>
            <a:endParaRPr sz="2800">
              <a:latin typeface="Microsoft YaHei"/>
              <a:cs typeface="Microsoft YaHei"/>
            </a:endParaRPr>
          </a:p>
          <a:p>
            <a:pPr marL="332105" indent="-321945">
              <a:lnSpc>
                <a:spcPct val="100000"/>
              </a:lnSpc>
              <a:spcBef>
                <a:spcPts val="2235"/>
              </a:spcBef>
              <a:buSzPct val="96428"/>
              <a:buAutoNum type="arabicPeriod"/>
              <a:tabLst>
                <a:tab pos="332105" algn="l"/>
              </a:tabLst>
            </a:pPr>
            <a:r>
              <a:rPr sz="2800" b="1" spc="-15" dirty="0">
                <a:solidFill>
                  <a:srgbClr val="26599C"/>
                </a:solidFill>
                <a:latin typeface="Microsoft YaHei"/>
                <a:cs typeface="Microsoft YaHei"/>
              </a:rPr>
              <a:t>螺旋传动</a:t>
            </a:r>
            <a:endParaRPr sz="2800">
              <a:latin typeface="Microsoft YaHei"/>
              <a:cs typeface="Microsoft YaHei"/>
            </a:endParaRPr>
          </a:p>
          <a:p>
            <a:pPr marL="332105" indent="-321945">
              <a:lnSpc>
                <a:spcPct val="100000"/>
              </a:lnSpc>
              <a:spcBef>
                <a:spcPts val="2170"/>
              </a:spcBef>
              <a:buSzPct val="96428"/>
              <a:buAutoNum type="arabicPeriod"/>
              <a:tabLst>
                <a:tab pos="332105" algn="l"/>
              </a:tabLst>
            </a:pPr>
            <a:r>
              <a:rPr sz="2800" b="1" spc="-15" dirty="0">
                <a:solidFill>
                  <a:srgbClr val="26599C"/>
                </a:solidFill>
                <a:latin typeface="Microsoft YaHei"/>
                <a:cs typeface="Microsoft YaHei"/>
              </a:rPr>
              <a:t>凸轮传动</a:t>
            </a:r>
            <a:endParaRPr sz="2800">
              <a:latin typeface="Microsoft YaHei"/>
              <a:cs typeface="Microsoft YaHei"/>
            </a:endParaRPr>
          </a:p>
          <a:p>
            <a:pPr marL="332105" indent="-321945">
              <a:lnSpc>
                <a:spcPct val="100000"/>
              </a:lnSpc>
              <a:spcBef>
                <a:spcPts val="2160"/>
              </a:spcBef>
              <a:buSzPct val="96428"/>
              <a:buAutoNum type="arabicPeriod"/>
              <a:tabLst>
                <a:tab pos="332105" algn="l"/>
              </a:tabLst>
            </a:pPr>
            <a:r>
              <a:rPr sz="2800" b="1" spc="-10" dirty="0">
                <a:solidFill>
                  <a:srgbClr val="26599C"/>
                </a:solidFill>
                <a:latin typeface="Microsoft YaHei"/>
                <a:cs typeface="Microsoft YaHei"/>
              </a:rPr>
              <a:t>蜗轮蜗杆传动</a:t>
            </a:r>
            <a:endParaRPr sz="2800">
              <a:latin typeface="Microsoft YaHei"/>
              <a:cs typeface="Microsoft YaHe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9912" y="2076749"/>
            <a:ext cx="2250440" cy="559435"/>
          </a:xfrm>
          <a:prstGeom prst="rect">
            <a:avLst/>
          </a:prstGeom>
        </p:spPr>
        <p:txBody>
          <a:bodyPr vert="horz" wrap="square" lIns="0" tIns="12700" rIns="0" bIns="0" rtlCol="0">
            <a:spAutoFit/>
          </a:bodyPr>
          <a:lstStyle/>
          <a:p>
            <a:pPr marL="12700">
              <a:lnSpc>
                <a:spcPct val="100000"/>
              </a:lnSpc>
              <a:spcBef>
                <a:spcPts val="100"/>
              </a:spcBef>
            </a:pPr>
            <a:r>
              <a:rPr spc="-10" dirty="0"/>
              <a:t>机器的组成</a:t>
            </a:r>
          </a:p>
        </p:txBody>
      </p:sp>
      <p:pic>
        <p:nvPicPr>
          <p:cNvPr id="3" name="object 3"/>
          <p:cNvPicPr/>
          <p:nvPr/>
        </p:nvPicPr>
        <p:blipFill>
          <a:blip r:embed="rId2" cstate="print"/>
          <a:stretch>
            <a:fillRect/>
          </a:stretch>
        </p:blipFill>
        <p:spPr>
          <a:xfrm>
            <a:off x="0" y="772668"/>
            <a:ext cx="10692384" cy="1075943"/>
          </a:xfrm>
          <a:prstGeom prst="rect">
            <a:avLst/>
          </a:prstGeom>
        </p:spPr>
      </p:pic>
      <p:sp>
        <p:nvSpPr>
          <p:cNvPr id="4" name="object 4"/>
          <p:cNvSpPr txBox="1"/>
          <p:nvPr/>
        </p:nvSpPr>
        <p:spPr>
          <a:xfrm>
            <a:off x="2589275" y="2816351"/>
            <a:ext cx="5331460" cy="516890"/>
          </a:xfrm>
          <a:prstGeom prst="rect">
            <a:avLst/>
          </a:prstGeom>
          <a:ln w="16763">
            <a:solidFill>
              <a:srgbClr val="182D54"/>
            </a:solidFill>
          </a:ln>
        </p:spPr>
        <p:txBody>
          <a:bodyPr vert="horz" wrap="square" lIns="0" tIns="51435" rIns="0" bIns="0" rtlCol="0">
            <a:spAutoFit/>
          </a:bodyPr>
          <a:lstStyle/>
          <a:p>
            <a:pPr marL="313690">
              <a:lnSpc>
                <a:spcPct val="100000"/>
              </a:lnSpc>
              <a:spcBef>
                <a:spcPts val="405"/>
              </a:spcBef>
            </a:pPr>
            <a:r>
              <a:rPr sz="2450" b="1" spc="-10" dirty="0">
                <a:latin typeface="Microsoft YaHei"/>
                <a:cs typeface="Microsoft YaHei"/>
              </a:rPr>
              <a:t>辅助系统，如润滑、显示、照明等</a:t>
            </a:r>
            <a:endParaRPr sz="2450">
              <a:latin typeface="Microsoft YaHei"/>
              <a:cs typeface="Microsoft YaHei"/>
            </a:endParaRPr>
          </a:p>
        </p:txBody>
      </p:sp>
      <p:sp>
        <p:nvSpPr>
          <p:cNvPr id="5" name="object 5"/>
          <p:cNvSpPr txBox="1"/>
          <p:nvPr/>
        </p:nvSpPr>
        <p:spPr>
          <a:xfrm>
            <a:off x="781812" y="4247260"/>
            <a:ext cx="2285365" cy="671195"/>
          </a:xfrm>
          <a:prstGeom prst="rect">
            <a:avLst/>
          </a:prstGeom>
          <a:ln w="38100">
            <a:solidFill>
              <a:srgbClr val="182D54"/>
            </a:solidFill>
          </a:ln>
        </p:spPr>
        <p:txBody>
          <a:bodyPr vert="horz" wrap="square" lIns="0" tIns="98425" rIns="0" bIns="0" rtlCol="0">
            <a:spAutoFit/>
          </a:bodyPr>
          <a:lstStyle/>
          <a:p>
            <a:pPr marL="220979">
              <a:lnSpc>
                <a:spcPct val="100000"/>
              </a:lnSpc>
              <a:spcBef>
                <a:spcPts val="775"/>
              </a:spcBef>
            </a:pPr>
            <a:r>
              <a:rPr sz="2800" b="1" spc="-10" dirty="0">
                <a:latin typeface="Microsoft YaHei"/>
                <a:cs typeface="Microsoft YaHei"/>
              </a:rPr>
              <a:t>原动机部分</a:t>
            </a:r>
            <a:endParaRPr sz="2800">
              <a:latin typeface="Microsoft YaHei"/>
              <a:cs typeface="Microsoft YaHei"/>
            </a:endParaRPr>
          </a:p>
        </p:txBody>
      </p:sp>
      <p:sp>
        <p:nvSpPr>
          <p:cNvPr id="6" name="object 6"/>
          <p:cNvSpPr txBox="1"/>
          <p:nvPr/>
        </p:nvSpPr>
        <p:spPr>
          <a:xfrm>
            <a:off x="4197858" y="4247260"/>
            <a:ext cx="2285365" cy="671195"/>
          </a:xfrm>
          <a:prstGeom prst="rect">
            <a:avLst/>
          </a:prstGeom>
          <a:ln w="39624">
            <a:solidFill>
              <a:srgbClr val="182D54"/>
            </a:solidFill>
          </a:ln>
        </p:spPr>
        <p:txBody>
          <a:bodyPr vert="horz" wrap="square" lIns="0" tIns="110489" rIns="0" bIns="0" rtlCol="0">
            <a:spAutoFit/>
          </a:bodyPr>
          <a:lstStyle/>
          <a:p>
            <a:pPr marL="434975">
              <a:lnSpc>
                <a:spcPct val="100000"/>
              </a:lnSpc>
              <a:spcBef>
                <a:spcPts val="869"/>
              </a:spcBef>
            </a:pPr>
            <a:r>
              <a:rPr sz="2800" b="1" spc="-15" dirty="0">
                <a:latin typeface="Microsoft YaHei"/>
                <a:cs typeface="Microsoft YaHei"/>
              </a:rPr>
              <a:t>传动部分</a:t>
            </a:r>
            <a:endParaRPr sz="2800">
              <a:latin typeface="Microsoft YaHei"/>
              <a:cs typeface="Microsoft YaHei"/>
            </a:endParaRPr>
          </a:p>
        </p:txBody>
      </p:sp>
      <p:sp>
        <p:nvSpPr>
          <p:cNvPr id="7" name="object 7"/>
          <p:cNvSpPr txBox="1"/>
          <p:nvPr/>
        </p:nvSpPr>
        <p:spPr>
          <a:xfrm>
            <a:off x="7603997" y="4247260"/>
            <a:ext cx="2285365" cy="671195"/>
          </a:xfrm>
          <a:prstGeom prst="rect">
            <a:avLst/>
          </a:prstGeom>
          <a:ln w="39624">
            <a:solidFill>
              <a:srgbClr val="182D54"/>
            </a:solidFill>
          </a:ln>
        </p:spPr>
        <p:txBody>
          <a:bodyPr vert="horz" wrap="square" lIns="0" tIns="92075" rIns="0" bIns="0" rtlCol="0">
            <a:spAutoFit/>
          </a:bodyPr>
          <a:lstStyle/>
          <a:p>
            <a:pPr marL="396875">
              <a:lnSpc>
                <a:spcPct val="100000"/>
              </a:lnSpc>
              <a:spcBef>
                <a:spcPts val="725"/>
              </a:spcBef>
            </a:pPr>
            <a:r>
              <a:rPr sz="2800" b="1" spc="-15" dirty="0">
                <a:latin typeface="Microsoft YaHei"/>
                <a:cs typeface="Microsoft YaHei"/>
              </a:rPr>
              <a:t>执行部分</a:t>
            </a:r>
            <a:endParaRPr sz="2800">
              <a:latin typeface="Microsoft YaHei"/>
              <a:cs typeface="Microsoft YaHei"/>
            </a:endParaRPr>
          </a:p>
        </p:txBody>
      </p:sp>
      <p:sp>
        <p:nvSpPr>
          <p:cNvPr id="8" name="object 8"/>
          <p:cNvSpPr txBox="1"/>
          <p:nvPr/>
        </p:nvSpPr>
        <p:spPr>
          <a:xfrm>
            <a:off x="4437888" y="5932932"/>
            <a:ext cx="1633855" cy="516890"/>
          </a:xfrm>
          <a:prstGeom prst="rect">
            <a:avLst/>
          </a:prstGeom>
          <a:ln w="16764">
            <a:solidFill>
              <a:srgbClr val="182D54"/>
            </a:solidFill>
          </a:ln>
        </p:spPr>
        <p:txBody>
          <a:bodyPr vert="horz" wrap="square" lIns="0" tIns="51435" rIns="0" bIns="0" rtlCol="0">
            <a:spAutoFit/>
          </a:bodyPr>
          <a:lstStyle/>
          <a:p>
            <a:pPr marL="152400">
              <a:lnSpc>
                <a:spcPct val="100000"/>
              </a:lnSpc>
              <a:spcBef>
                <a:spcPts val="405"/>
              </a:spcBef>
            </a:pPr>
            <a:r>
              <a:rPr sz="2450" b="1" spc="-15" dirty="0">
                <a:latin typeface="Microsoft YaHei"/>
                <a:cs typeface="Microsoft YaHei"/>
              </a:rPr>
              <a:t>测控系统</a:t>
            </a:r>
            <a:endParaRPr sz="2450">
              <a:latin typeface="Microsoft YaHei"/>
              <a:cs typeface="Microsoft YaHei"/>
            </a:endParaRPr>
          </a:p>
        </p:txBody>
      </p:sp>
      <p:grpSp>
        <p:nvGrpSpPr>
          <p:cNvPr id="9" name="object 9"/>
          <p:cNvGrpSpPr/>
          <p:nvPr/>
        </p:nvGrpSpPr>
        <p:grpSpPr>
          <a:xfrm>
            <a:off x="3074669" y="4475226"/>
            <a:ext cx="1130935" cy="241300"/>
            <a:chOff x="3074669" y="4475226"/>
            <a:chExt cx="1130935" cy="241300"/>
          </a:xfrm>
        </p:grpSpPr>
        <p:sp>
          <p:nvSpPr>
            <p:cNvPr id="10" name="object 10"/>
            <p:cNvSpPr/>
            <p:nvPr/>
          </p:nvSpPr>
          <p:spPr>
            <a:xfrm>
              <a:off x="3080003" y="4480560"/>
              <a:ext cx="1120140" cy="230504"/>
            </a:xfrm>
            <a:custGeom>
              <a:avLst/>
              <a:gdLst/>
              <a:ahLst/>
              <a:cxnLst/>
              <a:rect l="l" t="t" r="r" b="b"/>
              <a:pathLst>
                <a:path w="1120139" h="230504">
                  <a:moveTo>
                    <a:pt x="1005840" y="230124"/>
                  </a:moveTo>
                  <a:lnTo>
                    <a:pt x="1005840" y="172212"/>
                  </a:lnTo>
                  <a:lnTo>
                    <a:pt x="0" y="172212"/>
                  </a:lnTo>
                  <a:lnTo>
                    <a:pt x="0" y="56388"/>
                  </a:lnTo>
                  <a:lnTo>
                    <a:pt x="1005840" y="56388"/>
                  </a:lnTo>
                  <a:lnTo>
                    <a:pt x="1005840" y="0"/>
                  </a:lnTo>
                  <a:lnTo>
                    <a:pt x="1120140" y="114300"/>
                  </a:lnTo>
                  <a:lnTo>
                    <a:pt x="1005840" y="230124"/>
                  </a:lnTo>
                  <a:close/>
                </a:path>
              </a:pathLst>
            </a:custGeom>
            <a:solidFill>
              <a:srgbClr val="E6E6E6"/>
            </a:solidFill>
          </p:spPr>
          <p:txBody>
            <a:bodyPr wrap="square" lIns="0" tIns="0" rIns="0" bIns="0" rtlCol="0"/>
            <a:lstStyle/>
            <a:p>
              <a:endParaRPr/>
            </a:p>
          </p:txBody>
        </p:sp>
        <p:sp>
          <p:nvSpPr>
            <p:cNvPr id="11" name="object 11"/>
            <p:cNvSpPr/>
            <p:nvPr/>
          </p:nvSpPr>
          <p:spPr>
            <a:xfrm>
              <a:off x="3080003" y="4480560"/>
              <a:ext cx="1120140" cy="230504"/>
            </a:xfrm>
            <a:custGeom>
              <a:avLst/>
              <a:gdLst/>
              <a:ahLst/>
              <a:cxnLst/>
              <a:rect l="l" t="t" r="r" b="b"/>
              <a:pathLst>
                <a:path w="1120139" h="230504">
                  <a:moveTo>
                    <a:pt x="0" y="56388"/>
                  </a:moveTo>
                  <a:lnTo>
                    <a:pt x="1005840" y="56388"/>
                  </a:lnTo>
                  <a:lnTo>
                    <a:pt x="1005840" y="0"/>
                  </a:lnTo>
                  <a:lnTo>
                    <a:pt x="1120140" y="114300"/>
                  </a:lnTo>
                  <a:lnTo>
                    <a:pt x="1005840" y="230124"/>
                  </a:lnTo>
                  <a:lnTo>
                    <a:pt x="1005840" y="172212"/>
                  </a:lnTo>
                  <a:lnTo>
                    <a:pt x="0" y="172212"/>
                  </a:lnTo>
                  <a:lnTo>
                    <a:pt x="0" y="56388"/>
                  </a:lnTo>
                  <a:close/>
                </a:path>
              </a:pathLst>
            </a:custGeom>
            <a:ln w="10668">
              <a:solidFill>
                <a:srgbClr val="182D54"/>
              </a:solidFill>
            </a:ln>
          </p:spPr>
          <p:txBody>
            <a:bodyPr wrap="square" lIns="0" tIns="0" rIns="0" bIns="0" rtlCol="0"/>
            <a:lstStyle/>
            <a:p>
              <a:endParaRPr/>
            </a:p>
          </p:txBody>
        </p:sp>
      </p:grpSp>
      <p:grpSp>
        <p:nvGrpSpPr>
          <p:cNvPr id="12" name="object 12"/>
          <p:cNvGrpSpPr/>
          <p:nvPr/>
        </p:nvGrpSpPr>
        <p:grpSpPr>
          <a:xfrm>
            <a:off x="6499097" y="4456938"/>
            <a:ext cx="1088390" cy="241300"/>
            <a:chOff x="6499097" y="4456938"/>
            <a:chExt cx="1088390" cy="241300"/>
          </a:xfrm>
        </p:grpSpPr>
        <p:sp>
          <p:nvSpPr>
            <p:cNvPr id="13" name="object 13"/>
            <p:cNvSpPr/>
            <p:nvPr/>
          </p:nvSpPr>
          <p:spPr>
            <a:xfrm>
              <a:off x="6504431" y="4462272"/>
              <a:ext cx="1077595" cy="230504"/>
            </a:xfrm>
            <a:custGeom>
              <a:avLst/>
              <a:gdLst/>
              <a:ahLst/>
              <a:cxnLst/>
              <a:rect l="l" t="t" r="r" b="b"/>
              <a:pathLst>
                <a:path w="1077595" h="230504">
                  <a:moveTo>
                    <a:pt x="963167" y="230124"/>
                  </a:moveTo>
                  <a:lnTo>
                    <a:pt x="963167" y="172211"/>
                  </a:lnTo>
                  <a:lnTo>
                    <a:pt x="0" y="172211"/>
                  </a:lnTo>
                  <a:lnTo>
                    <a:pt x="0" y="57911"/>
                  </a:lnTo>
                  <a:lnTo>
                    <a:pt x="963167" y="57911"/>
                  </a:lnTo>
                  <a:lnTo>
                    <a:pt x="963167" y="0"/>
                  </a:lnTo>
                  <a:lnTo>
                    <a:pt x="1077467" y="115824"/>
                  </a:lnTo>
                  <a:lnTo>
                    <a:pt x="963167" y="230124"/>
                  </a:lnTo>
                  <a:close/>
                </a:path>
              </a:pathLst>
            </a:custGeom>
            <a:solidFill>
              <a:srgbClr val="E6E6E6"/>
            </a:solidFill>
          </p:spPr>
          <p:txBody>
            <a:bodyPr wrap="square" lIns="0" tIns="0" rIns="0" bIns="0" rtlCol="0"/>
            <a:lstStyle/>
            <a:p>
              <a:endParaRPr/>
            </a:p>
          </p:txBody>
        </p:sp>
        <p:sp>
          <p:nvSpPr>
            <p:cNvPr id="14" name="object 14"/>
            <p:cNvSpPr/>
            <p:nvPr/>
          </p:nvSpPr>
          <p:spPr>
            <a:xfrm>
              <a:off x="6504431" y="4462272"/>
              <a:ext cx="1077595" cy="230504"/>
            </a:xfrm>
            <a:custGeom>
              <a:avLst/>
              <a:gdLst/>
              <a:ahLst/>
              <a:cxnLst/>
              <a:rect l="l" t="t" r="r" b="b"/>
              <a:pathLst>
                <a:path w="1077595" h="230504">
                  <a:moveTo>
                    <a:pt x="0" y="57911"/>
                  </a:moveTo>
                  <a:lnTo>
                    <a:pt x="963167" y="57911"/>
                  </a:lnTo>
                  <a:lnTo>
                    <a:pt x="963167" y="0"/>
                  </a:lnTo>
                  <a:lnTo>
                    <a:pt x="1077467" y="115824"/>
                  </a:lnTo>
                  <a:lnTo>
                    <a:pt x="963167" y="230124"/>
                  </a:lnTo>
                  <a:lnTo>
                    <a:pt x="963167" y="172211"/>
                  </a:lnTo>
                  <a:lnTo>
                    <a:pt x="0" y="172211"/>
                  </a:lnTo>
                  <a:lnTo>
                    <a:pt x="0" y="57911"/>
                  </a:lnTo>
                  <a:close/>
                </a:path>
              </a:pathLst>
            </a:custGeom>
            <a:ln w="10668">
              <a:solidFill>
                <a:srgbClr val="182D54"/>
              </a:solidFill>
            </a:ln>
          </p:spPr>
          <p:txBody>
            <a:bodyPr wrap="square" lIns="0" tIns="0" rIns="0" bIns="0" rtlCol="0"/>
            <a:lstStyle/>
            <a:p>
              <a:endParaRPr/>
            </a:p>
          </p:txBody>
        </p:sp>
      </p:grpSp>
      <p:sp>
        <p:nvSpPr>
          <p:cNvPr id="15" name="object 15"/>
          <p:cNvSpPr/>
          <p:nvPr/>
        </p:nvSpPr>
        <p:spPr>
          <a:xfrm>
            <a:off x="2636519" y="3332988"/>
            <a:ext cx="66040" cy="914400"/>
          </a:xfrm>
          <a:custGeom>
            <a:avLst/>
            <a:gdLst/>
            <a:ahLst/>
            <a:cxnLst/>
            <a:rect l="l" t="t" r="r" b="b"/>
            <a:pathLst>
              <a:path w="66039" h="914400">
                <a:moveTo>
                  <a:pt x="41148" y="859536"/>
                </a:moveTo>
                <a:lnTo>
                  <a:pt x="24384" y="859536"/>
                </a:lnTo>
                <a:lnTo>
                  <a:pt x="24384" y="0"/>
                </a:lnTo>
                <a:lnTo>
                  <a:pt x="41148" y="0"/>
                </a:lnTo>
                <a:lnTo>
                  <a:pt x="41148" y="859536"/>
                </a:lnTo>
                <a:close/>
              </a:path>
              <a:path w="66039" h="914400">
                <a:moveTo>
                  <a:pt x="32004" y="914400"/>
                </a:moveTo>
                <a:lnTo>
                  <a:pt x="0" y="847344"/>
                </a:lnTo>
                <a:lnTo>
                  <a:pt x="24384" y="847344"/>
                </a:lnTo>
                <a:lnTo>
                  <a:pt x="24384" y="859536"/>
                </a:lnTo>
                <a:lnTo>
                  <a:pt x="59436" y="859536"/>
                </a:lnTo>
                <a:lnTo>
                  <a:pt x="32004" y="914400"/>
                </a:lnTo>
                <a:close/>
              </a:path>
              <a:path w="66039" h="914400">
                <a:moveTo>
                  <a:pt x="59436" y="859536"/>
                </a:moveTo>
                <a:lnTo>
                  <a:pt x="41148" y="859536"/>
                </a:lnTo>
                <a:lnTo>
                  <a:pt x="41148" y="847344"/>
                </a:lnTo>
                <a:lnTo>
                  <a:pt x="65532" y="847344"/>
                </a:lnTo>
                <a:lnTo>
                  <a:pt x="59436" y="859536"/>
                </a:lnTo>
                <a:close/>
              </a:path>
            </a:pathLst>
          </a:custGeom>
          <a:solidFill>
            <a:srgbClr val="000000"/>
          </a:solidFill>
        </p:spPr>
        <p:txBody>
          <a:bodyPr wrap="square" lIns="0" tIns="0" rIns="0" bIns="0" rtlCol="0"/>
          <a:lstStyle/>
          <a:p>
            <a:endParaRPr/>
          </a:p>
        </p:txBody>
      </p:sp>
      <p:sp>
        <p:nvSpPr>
          <p:cNvPr id="16" name="object 16"/>
          <p:cNvSpPr/>
          <p:nvPr/>
        </p:nvSpPr>
        <p:spPr>
          <a:xfrm>
            <a:off x="5306567" y="3332988"/>
            <a:ext cx="67310" cy="914400"/>
          </a:xfrm>
          <a:custGeom>
            <a:avLst/>
            <a:gdLst/>
            <a:ahLst/>
            <a:cxnLst/>
            <a:rect l="l" t="t" r="r" b="b"/>
            <a:pathLst>
              <a:path w="67310" h="914400">
                <a:moveTo>
                  <a:pt x="42672" y="859536"/>
                </a:moveTo>
                <a:lnTo>
                  <a:pt x="25908" y="859536"/>
                </a:lnTo>
                <a:lnTo>
                  <a:pt x="25908" y="0"/>
                </a:lnTo>
                <a:lnTo>
                  <a:pt x="42672" y="0"/>
                </a:lnTo>
                <a:lnTo>
                  <a:pt x="42672" y="859536"/>
                </a:lnTo>
                <a:close/>
              </a:path>
              <a:path w="67310" h="914400">
                <a:moveTo>
                  <a:pt x="33528" y="914400"/>
                </a:moveTo>
                <a:lnTo>
                  <a:pt x="0" y="847344"/>
                </a:lnTo>
                <a:lnTo>
                  <a:pt x="25908" y="847344"/>
                </a:lnTo>
                <a:lnTo>
                  <a:pt x="25908" y="859536"/>
                </a:lnTo>
                <a:lnTo>
                  <a:pt x="60960" y="859536"/>
                </a:lnTo>
                <a:lnTo>
                  <a:pt x="33528" y="914400"/>
                </a:lnTo>
                <a:close/>
              </a:path>
              <a:path w="67310" h="914400">
                <a:moveTo>
                  <a:pt x="60960" y="859536"/>
                </a:moveTo>
                <a:lnTo>
                  <a:pt x="42672" y="859536"/>
                </a:lnTo>
                <a:lnTo>
                  <a:pt x="42672" y="847344"/>
                </a:lnTo>
                <a:lnTo>
                  <a:pt x="67056" y="847344"/>
                </a:lnTo>
                <a:lnTo>
                  <a:pt x="60960" y="859536"/>
                </a:lnTo>
                <a:close/>
              </a:path>
            </a:pathLst>
          </a:custGeom>
          <a:solidFill>
            <a:srgbClr val="000000"/>
          </a:solidFill>
        </p:spPr>
        <p:txBody>
          <a:bodyPr wrap="square" lIns="0" tIns="0" rIns="0" bIns="0" rtlCol="0"/>
          <a:lstStyle/>
          <a:p>
            <a:endParaRPr/>
          </a:p>
        </p:txBody>
      </p:sp>
      <p:sp>
        <p:nvSpPr>
          <p:cNvPr id="17" name="object 17"/>
          <p:cNvSpPr/>
          <p:nvPr/>
        </p:nvSpPr>
        <p:spPr>
          <a:xfrm>
            <a:off x="7798307" y="3332988"/>
            <a:ext cx="67310" cy="914400"/>
          </a:xfrm>
          <a:custGeom>
            <a:avLst/>
            <a:gdLst/>
            <a:ahLst/>
            <a:cxnLst/>
            <a:rect l="l" t="t" r="r" b="b"/>
            <a:pathLst>
              <a:path w="67309" h="914400">
                <a:moveTo>
                  <a:pt x="41148" y="859536"/>
                </a:moveTo>
                <a:lnTo>
                  <a:pt x="24384" y="859536"/>
                </a:lnTo>
                <a:lnTo>
                  <a:pt x="24384" y="0"/>
                </a:lnTo>
                <a:lnTo>
                  <a:pt x="41148" y="0"/>
                </a:lnTo>
                <a:lnTo>
                  <a:pt x="41148" y="859536"/>
                </a:lnTo>
                <a:close/>
              </a:path>
              <a:path w="67309" h="914400">
                <a:moveTo>
                  <a:pt x="33528" y="914400"/>
                </a:moveTo>
                <a:lnTo>
                  <a:pt x="0" y="847344"/>
                </a:lnTo>
                <a:lnTo>
                  <a:pt x="24384" y="847344"/>
                </a:lnTo>
                <a:lnTo>
                  <a:pt x="24384" y="859536"/>
                </a:lnTo>
                <a:lnTo>
                  <a:pt x="60960" y="859536"/>
                </a:lnTo>
                <a:lnTo>
                  <a:pt x="33528" y="914400"/>
                </a:lnTo>
                <a:close/>
              </a:path>
              <a:path w="67309" h="914400">
                <a:moveTo>
                  <a:pt x="60960" y="859536"/>
                </a:moveTo>
                <a:lnTo>
                  <a:pt x="41148" y="859536"/>
                </a:lnTo>
                <a:lnTo>
                  <a:pt x="41148" y="847344"/>
                </a:lnTo>
                <a:lnTo>
                  <a:pt x="67056" y="847344"/>
                </a:lnTo>
                <a:lnTo>
                  <a:pt x="60960" y="859536"/>
                </a:lnTo>
                <a:close/>
              </a:path>
            </a:pathLst>
          </a:custGeom>
          <a:solidFill>
            <a:srgbClr val="000000"/>
          </a:solidFill>
        </p:spPr>
        <p:txBody>
          <a:bodyPr wrap="square" lIns="0" tIns="0" rIns="0" bIns="0" rtlCol="0"/>
          <a:lstStyle/>
          <a:p>
            <a:endParaRPr/>
          </a:p>
        </p:txBody>
      </p:sp>
      <p:sp>
        <p:nvSpPr>
          <p:cNvPr id="18" name="object 18"/>
          <p:cNvSpPr/>
          <p:nvPr/>
        </p:nvSpPr>
        <p:spPr>
          <a:xfrm>
            <a:off x="5221224" y="4917947"/>
            <a:ext cx="67310" cy="1015365"/>
          </a:xfrm>
          <a:custGeom>
            <a:avLst/>
            <a:gdLst/>
            <a:ahLst/>
            <a:cxnLst/>
            <a:rect l="l" t="t" r="r" b="b"/>
            <a:pathLst>
              <a:path w="67310" h="1015364">
                <a:moveTo>
                  <a:pt x="25908" y="67056"/>
                </a:moveTo>
                <a:lnTo>
                  <a:pt x="0" y="67056"/>
                </a:lnTo>
                <a:lnTo>
                  <a:pt x="33528" y="0"/>
                </a:lnTo>
                <a:lnTo>
                  <a:pt x="61722" y="56388"/>
                </a:lnTo>
                <a:lnTo>
                  <a:pt x="25908" y="56388"/>
                </a:lnTo>
                <a:lnTo>
                  <a:pt x="25908" y="67056"/>
                </a:lnTo>
                <a:close/>
              </a:path>
              <a:path w="67310" h="1015364">
                <a:moveTo>
                  <a:pt x="42672" y="960120"/>
                </a:moveTo>
                <a:lnTo>
                  <a:pt x="25908" y="960120"/>
                </a:lnTo>
                <a:lnTo>
                  <a:pt x="25908" y="56388"/>
                </a:lnTo>
                <a:lnTo>
                  <a:pt x="42672" y="56388"/>
                </a:lnTo>
                <a:lnTo>
                  <a:pt x="42672" y="960120"/>
                </a:lnTo>
                <a:close/>
              </a:path>
              <a:path w="67310" h="1015364">
                <a:moveTo>
                  <a:pt x="67056" y="67056"/>
                </a:moveTo>
                <a:lnTo>
                  <a:pt x="42672" y="67056"/>
                </a:lnTo>
                <a:lnTo>
                  <a:pt x="42672" y="56388"/>
                </a:lnTo>
                <a:lnTo>
                  <a:pt x="61722" y="56388"/>
                </a:lnTo>
                <a:lnTo>
                  <a:pt x="67056" y="67056"/>
                </a:lnTo>
                <a:close/>
              </a:path>
              <a:path w="67310" h="1015364">
                <a:moveTo>
                  <a:pt x="33528" y="1014984"/>
                </a:moveTo>
                <a:lnTo>
                  <a:pt x="0" y="947928"/>
                </a:lnTo>
                <a:lnTo>
                  <a:pt x="25908" y="947928"/>
                </a:lnTo>
                <a:lnTo>
                  <a:pt x="25908" y="960120"/>
                </a:lnTo>
                <a:lnTo>
                  <a:pt x="60960" y="960120"/>
                </a:lnTo>
                <a:lnTo>
                  <a:pt x="33528" y="1014984"/>
                </a:lnTo>
                <a:close/>
              </a:path>
              <a:path w="67310" h="1015364">
                <a:moveTo>
                  <a:pt x="60960" y="960120"/>
                </a:moveTo>
                <a:lnTo>
                  <a:pt x="42672" y="960120"/>
                </a:lnTo>
                <a:lnTo>
                  <a:pt x="42672" y="947928"/>
                </a:lnTo>
                <a:lnTo>
                  <a:pt x="67056" y="947928"/>
                </a:lnTo>
                <a:lnTo>
                  <a:pt x="60960" y="960120"/>
                </a:lnTo>
                <a:close/>
              </a:path>
            </a:pathLst>
          </a:custGeom>
          <a:solidFill>
            <a:srgbClr val="181616"/>
          </a:solidFill>
        </p:spPr>
        <p:txBody>
          <a:bodyPr wrap="square" lIns="0" tIns="0" rIns="0" bIns="0" rtlCol="0"/>
          <a:lstStyle/>
          <a:p>
            <a:endParaRPr/>
          </a:p>
        </p:txBody>
      </p:sp>
      <p:sp>
        <p:nvSpPr>
          <p:cNvPr id="19" name="object 19"/>
          <p:cNvSpPr/>
          <p:nvPr/>
        </p:nvSpPr>
        <p:spPr>
          <a:xfrm>
            <a:off x="1891283" y="4917947"/>
            <a:ext cx="2546985" cy="1306195"/>
          </a:xfrm>
          <a:custGeom>
            <a:avLst/>
            <a:gdLst/>
            <a:ahLst/>
            <a:cxnLst/>
            <a:rect l="l" t="t" r="r" b="b"/>
            <a:pathLst>
              <a:path w="2546985" h="1306195">
                <a:moveTo>
                  <a:pt x="24384" y="67056"/>
                </a:moveTo>
                <a:lnTo>
                  <a:pt x="0" y="67056"/>
                </a:lnTo>
                <a:lnTo>
                  <a:pt x="33528" y="0"/>
                </a:lnTo>
                <a:lnTo>
                  <a:pt x="61722" y="56388"/>
                </a:lnTo>
                <a:lnTo>
                  <a:pt x="24384" y="56388"/>
                </a:lnTo>
                <a:lnTo>
                  <a:pt x="24384" y="67056"/>
                </a:lnTo>
                <a:close/>
              </a:path>
              <a:path w="2546985" h="1306195">
                <a:moveTo>
                  <a:pt x="2479548" y="1281684"/>
                </a:moveTo>
                <a:lnTo>
                  <a:pt x="24384" y="1281684"/>
                </a:lnTo>
                <a:lnTo>
                  <a:pt x="24384" y="56388"/>
                </a:lnTo>
                <a:lnTo>
                  <a:pt x="41148" y="56388"/>
                </a:lnTo>
                <a:lnTo>
                  <a:pt x="41148" y="1264920"/>
                </a:lnTo>
                <a:lnTo>
                  <a:pt x="33528" y="1264920"/>
                </a:lnTo>
                <a:lnTo>
                  <a:pt x="41148" y="1272540"/>
                </a:lnTo>
                <a:lnTo>
                  <a:pt x="2479548" y="1272540"/>
                </a:lnTo>
                <a:lnTo>
                  <a:pt x="2479548" y="1281684"/>
                </a:lnTo>
                <a:close/>
              </a:path>
              <a:path w="2546985" h="1306195">
                <a:moveTo>
                  <a:pt x="67056" y="67056"/>
                </a:moveTo>
                <a:lnTo>
                  <a:pt x="41148" y="67056"/>
                </a:lnTo>
                <a:lnTo>
                  <a:pt x="41148" y="56388"/>
                </a:lnTo>
                <a:lnTo>
                  <a:pt x="61722" y="56388"/>
                </a:lnTo>
                <a:lnTo>
                  <a:pt x="67056" y="67056"/>
                </a:lnTo>
                <a:close/>
              </a:path>
              <a:path w="2546985" h="1306195">
                <a:moveTo>
                  <a:pt x="2479548" y="1306068"/>
                </a:moveTo>
                <a:lnTo>
                  <a:pt x="2479548" y="1239012"/>
                </a:lnTo>
                <a:lnTo>
                  <a:pt x="2531363" y="1264920"/>
                </a:lnTo>
                <a:lnTo>
                  <a:pt x="2491740" y="1264920"/>
                </a:lnTo>
                <a:lnTo>
                  <a:pt x="2491740" y="1281684"/>
                </a:lnTo>
                <a:lnTo>
                  <a:pt x="2528316" y="1281684"/>
                </a:lnTo>
                <a:lnTo>
                  <a:pt x="2479548" y="1306068"/>
                </a:lnTo>
                <a:close/>
              </a:path>
              <a:path w="2546985" h="1306195">
                <a:moveTo>
                  <a:pt x="41148" y="1272540"/>
                </a:moveTo>
                <a:lnTo>
                  <a:pt x="33528" y="1264920"/>
                </a:lnTo>
                <a:lnTo>
                  <a:pt x="41148" y="1264920"/>
                </a:lnTo>
                <a:lnTo>
                  <a:pt x="41148" y="1272540"/>
                </a:lnTo>
                <a:close/>
              </a:path>
              <a:path w="2546985" h="1306195">
                <a:moveTo>
                  <a:pt x="2479548" y="1272540"/>
                </a:moveTo>
                <a:lnTo>
                  <a:pt x="41148" y="1272540"/>
                </a:lnTo>
                <a:lnTo>
                  <a:pt x="41148" y="1264920"/>
                </a:lnTo>
                <a:lnTo>
                  <a:pt x="2479548" y="1264920"/>
                </a:lnTo>
                <a:lnTo>
                  <a:pt x="2479548" y="1272540"/>
                </a:lnTo>
                <a:close/>
              </a:path>
              <a:path w="2546985" h="1306195">
                <a:moveTo>
                  <a:pt x="2528316" y="1281684"/>
                </a:moveTo>
                <a:lnTo>
                  <a:pt x="2491740" y="1281684"/>
                </a:lnTo>
                <a:lnTo>
                  <a:pt x="2491740" y="1264920"/>
                </a:lnTo>
                <a:lnTo>
                  <a:pt x="2531363" y="1264920"/>
                </a:lnTo>
                <a:lnTo>
                  <a:pt x="2546603" y="1272540"/>
                </a:lnTo>
                <a:lnTo>
                  <a:pt x="2528316" y="1281684"/>
                </a:lnTo>
                <a:close/>
              </a:path>
            </a:pathLst>
          </a:custGeom>
          <a:solidFill>
            <a:srgbClr val="000000"/>
          </a:solidFill>
        </p:spPr>
        <p:txBody>
          <a:bodyPr wrap="square" lIns="0" tIns="0" rIns="0" bIns="0" rtlCol="0"/>
          <a:lstStyle/>
          <a:p>
            <a:endParaRPr/>
          </a:p>
        </p:txBody>
      </p:sp>
      <p:sp>
        <p:nvSpPr>
          <p:cNvPr id="20" name="object 20"/>
          <p:cNvSpPr/>
          <p:nvPr/>
        </p:nvSpPr>
        <p:spPr>
          <a:xfrm>
            <a:off x="6071615" y="4917947"/>
            <a:ext cx="2714625" cy="1306195"/>
          </a:xfrm>
          <a:custGeom>
            <a:avLst/>
            <a:gdLst/>
            <a:ahLst/>
            <a:cxnLst/>
            <a:rect l="l" t="t" r="r" b="b"/>
            <a:pathLst>
              <a:path w="2714625" h="1306195">
                <a:moveTo>
                  <a:pt x="2647188" y="70104"/>
                </a:moveTo>
                <a:lnTo>
                  <a:pt x="2674620" y="0"/>
                </a:lnTo>
                <a:lnTo>
                  <a:pt x="2709527" y="56388"/>
                </a:lnTo>
                <a:lnTo>
                  <a:pt x="2671572" y="56388"/>
                </a:lnTo>
                <a:lnTo>
                  <a:pt x="2671572" y="67887"/>
                </a:lnTo>
                <a:lnTo>
                  <a:pt x="2647188" y="70104"/>
                </a:lnTo>
                <a:close/>
              </a:path>
              <a:path w="2714625" h="1306195">
                <a:moveTo>
                  <a:pt x="2671572" y="67887"/>
                </a:moveTo>
                <a:lnTo>
                  <a:pt x="2671572" y="56388"/>
                </a:lnTo>
                <a:lnTo>
                  <a:pt x="2688336" y="56388"/>
                </a:lnTo>
                <a:lnTo>
                  <a:pt x="2688336" y="66363"/>
                </a:lnTo>
                <a:lnTo>
                  <a:pt x="2671572" y="67887"/>
                </a:lnTo>
                <a:close/>
              </a:path>
              <a:path w="2714625" h="1306195">
                <a:moveTo>
                  <a:pt x="2688336" y="66363"/>
                </a:moveTo>
                <a:lnTo>
                  <a:pt x="2688336" y="56388"/>
                </a:lnTo>
                <a:lnTo>
                  <a:pt x="2709527" y="56388"/>
                </a:lnTo>
                <a:lnTo>
                  <a:pt x="2714244" y="64008"/>
                </a:lnTo>
                <a:lnTo>
                  <a:pt x="2688336" y="66363"/>
                </a:lnTo>
                <a:close/>
              </a:path>
              <a:path w="2714625" h="1306195">
                <a:moveTo>
                  <a:pt x="2671572" y="1272540"/>
                </a:moveTo>
                <a:lnTo>
                  <a:pt x="2671572" y="67887"/>
                </a:lnTo>
                <a:lnTo>
                  <a:pt x="2688336" y="66363"/>
                </a:lnTo>
                <a:lnTo>
                  <a:pt x="2688336" y="1264920"/>
                </a:lnTo>
                <a:lnTo>
                  <a:pt x="2680716" y="1264920"/>
                </a:lnTo>
                <a:lnTo>
                  <a:pt x="2671572" y="1272540"/>
                </a:lnTo>
                <a:close/>
              </a:path>
              <a:path w="2714625" h="1306195">
                <a:moveTo>
                  <a:pt x="67056" y="1306068"/>
                </a:moveTo>
                <a:lnTo>
                  <a:pt x="0" y="1272540"/>
                </a:lnTo>
                <a:lnTo>
                  <a:pt x="67056" y="1239012"/>
                </a:lnTo>
                <a:lnTo>
                  <a:pt x="67056" y="1264920"/>
                </a:lnTo>
                <a:lnTo>
                  <a:pt x="56388" y="1264920"/>
                </a:lnTo>
                <a:lnTo>
                  <a:pt x="56388" y="1281684"/>
                </a:lnTo>
                <a:lnTo>
                  <a:pt x="67056" y="1281684"/>
                </a:lnTo>
                <a:lnTo>
                  <a:pt x="67056" y="1306068"/>
                </a:lnTo>
                <a:close/>
              </a:path>
              <a:path w="2714625" h="1306195">
                <a:moveTo>
                  <a:pt x="67056" y="1281684"/>
                </a:moveTo>
                <a:lnTo>
                  <a:pt x="56388" y="1281684"/>
                </a:lnTo>
                <a:lnTo>
                  <a:pt x="56388" y="1264920"/>
                </a:lnTo>
                <a:lnTo>
                  <a:pt x="67056" y="1264920"/>
                </a:lnTo>
                <a:lnTo>
                  <a:pt x="67056" y="1281684"/>
                </a:lnTo>
                <a:close/>
              </a:path>
              <a:path w="2714625" h="1306195">
                <a:moveTo>
                  <a:pt x="2688336" y="1281684"/>
                </a:moveTo>
                <a:lnTo>
                  <a:pt x="67056" y="1281684"/>
                </a:lnTo>
                <a:lnTo>
                  <a:pt x="67056" y="1264920"/>
                </a:lnTo>
                <a:lnTo>
                  <a:pt x="2671572" y="1264920"/>
                </a:lnTo>
                <a:lnTo>
                  <a:pt x="2671572" y="1272540"/>
                </a:lnTo>
                <a:lnTo>
                  <a:pt x="2688336" y="1272540"/>
                </a:lnTo>
                <a:lnTo>
                  <a:pt x="2688336" y="1281684"/>
                </a:lnTo>
                <a:close/>
              </a:path>
              <a:path w="2714625" h="1306195">
                <a:moveTo>
                  <a:pt x="2688336" y="1272540"/>
                </a:moveTo>
                <a:lnTo>
                  <a:pt x="2671572" y="1272540"/>
                </a:lnTo>
                <a:lnTo>
                  <a:pt x="2680716" y="1264920"/>
                </a:lnTo>
                <a:lnTo>
                  <a:pt x="2688336" y="1264920"/>
                </a:lnTo>
                <a:lnTo>
                  <a:pt x="2688336" y="1272540"/>
                </a:lnTo>
                <a:close/>
              </a:path>
            </a:pathLst>
          </a:custGeom>
          <a:solidFill>
            <a:srgbClr val="000000"/>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433" y="2076749"/>
            <a:ext cx="2250440" cy="559435"/>
          </a:xfrm>
          <a:prstGeom prst="rect">
            <a:avLst/>
          </a:prstGeom>
        </p:spPr>
        <p:txBody>
          <a:bodyPr vert="horz" wrap="square" lIns="0" tIns="12700" rIns="0" bIns="0" rtlCol="0">
            <a:spAutoFit/>
          </a:bodyPr>
          <a:lstStyle/>
          <a:p>
            <a:pPr marL="12700">
              <a:lnSpc>
                <a:spcPct val="100000"/>
              </a:lnSpc>
              <a:spcBef>
                <a:spcPts val="100"/>
              </a:spcBef>
            </a:pPr>
            <a:r>
              <a:rPr spc="-10" dirty="0"/>
              <a:t>机器的组成</a:t>
            </a:r>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957072" y="2327148"/>
            <a:ext cx="8461247" cy="40568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62828" y="2148840"/>
            <a:ext cx="4728971" cy="3073908"/>
          </a:xfrm>
          <a:prstGeom prst="rect">
            <a:avLst/>
          </a:prstGeom>
        </p:spPr>
      </p:pic>
      <p:sp>
        <p:nvSpPr>
          <p:cNvPr id="3" name="object 3"/>
          <p:cNvSpPr txBox="1">
            <a:spLocks noGrp="1"/>
          </p:cNvSpPr>
          <p:nvPr>
            <p:ph type="title"/>
          </p:nvPr>
        </p:nvSpPr>
        <p:spPr>
          <a:xfrm>
            <a:off x="250920" y="2034024"/>
            <a:ext cx="3232150" cy="506730"/>
          </a:xfrm>
          <a:prstGeom prst="rect">
            <a:avLst/>
          </a:prstGeom>
        </p:spPr>
        <p:txBody>
          <a:bodyPr vert="horz" wrap="square" lIns="0" tIns="13335" rIns="0" bIns="0" rtlCol="0">
            <a:spAutoFit/>
          </a:bodyPr>
          <a:lstStyle/>
          <a:p>
            <a:pPr marL="12700">
              <a:lnSpc>
                <a:spcPct val="100000"/>
              </a:lnSpc>
              <a:spcBef>
                <a:spcPts val="105"/>
              </a:spcBef>
            </a:pPr>
            <a:r>
              <a:rPr sz="3150" spc="-10" dirty="0"/>
              <a:t>什么是传动系统？</a:t>
            </a:r>
            <a:endParaRPr sz="3150"/>
          </a:p>
        </p:txBody>
      </p:sp>
      <p:pic>
        <p:nvPicPr>
          <p:cNvPr id="4" name="object 4"/>
          <p:cNvPicPr/>
          <p:nvPr/>
        </p:nvPicPr>
        <p:blipFill>
          <a:blip r:embed="rId3" cstate="print"/>
          <a:stretch>
            <a:fillRect/>
          </a:stretch>
        </p:blipFill>
        <p:spPr>
          <a:xfrm>
            <a:off x="0" y="772668"/>
            <a:ext cx="10692384" cy="1075943"/>
          </a:xfrm>
          <a:prstGeom prst="rect">
            <a:avLst/>
          </a:prstGeom>
        </p:spPr>
      </p:pic>
      <p:sp>
        <p:nvSpPr>
          <p:cNvPr id="5" name="object 5"/>
          <p:cNvSpPr txBox="1"/>
          <p:nvPr/>
        </p:nvSpPr>
        <p:spPr>
          <a:xfrm>
            <a:off x="5810426" y="5527040"/>
            <a:ext cx="3112135" cy="919480"/>
          </a:xfrm>
          <a:prstGeom prst="rect">
            <a:avLst/>
          </a:prstGeom>
        </p:spPr>
        <p:txBody>
          <a:bodyPr vert="horz" wrap="square" lIns="0" tIns="13335" rIns="0" bIns="0" rtlCol="0">
            <a:spAutoFit/>
          </a:bodyPr>
          <a:lstStyle/>
          <a:p>
            <a:pPr marL="12700">
              <a:lnSpc>
                <a:spcPct val="100000"/>
              </a:lnSpc>
              <a:spcBef>
                <a:spcPts val="105"/>
              </a:spcBef>
            </a:pPr>
            <a:r>
              <a:rPr sz="3150" b="1" spc="-10" dirty="0">
                <a:solidFill>
                  <a:srgbClr val="1C5D97"/>
                </a:solidFill>
                <a:latin typeface="Microsoft YaHei"/>
                <a:cs typeface="Microsoft YaHei"/>
              </a:rPr>
              <a:t>传动方式分类</a:t>
            </a:r>
            <a:endParaRPr sz="3150">
              <a:latin typeface="Microsoft YaHei"/>
              <a:cs typeface="Microsoft YaHei"/>
            </a:endParaRPr>
          </a:p>
          <a:p>
            <a:pPr marL="288290">
              <a:lnSpc>
                <a:spcPct val="100000"/>
              </a:lnSpc>
              <a:spcBef>
                <a:spcPts val="1385"/>
              </a:spcBef>
            </a:pPr>
            <a:r>
              <a:rPr sz="1550" spc="-5" dirty="0">
                <a:latin typeface="Microsoft YaHei"/>
                <a:cs typeface="Microsoft YaHei"/>
              </a:rPr>
              <a:t>摩擦、啮合、液压、气压、螺旋</a:t>
            </a:r>
            <a:endParaRPr sz="1550">
              <a:latin typeface="Microsoft YaHei"/>
              <a:cs typeface="Microsoft YaHei"/>
            </a:endParaRPr>
          </a:p>
        </p:txBody>
      </p:sp>
      <p:sp>
        <p:nvSpPr>
          <p:cNvPr id="6" name="object 6"/>
          <p:cNvSpPr txBox="1"/>
          <p:nvPr/>
        </p:nvSpPr>
        <p:spPr>
          <a:xfrm>
            <a:off x="250920" y="2671034"/>
            <a:ext cx="5043170" cy="3486785"/>
          </a:xfrm>
          <a:prstGeom prst="rect">
            <a:avLst/>
          </a:prstGeom>
        </p:spPr>
        <p:txBody>
          <a:bodyPr vert="horz" wrap="square" lIns="0" tIns="14604" rIns="0" bIns="0" rtlCol="0">
            <a:spAutoFit/>
          </a:bodyPr>
          <a:lstStyle/>
          <a:p>
            <a:pPr marL="355600" marR="5080">
              <a:lnSpc>
                <a:spcPct val="99200"/>
              </a:lnSpc>
              <a:spcBef>
                <a:spcPts val="114"/>
              </a:spcBef>
            </a:pPr>
            <a:r>
              <a:rPr sz="1750" dirty="0">
                <a:latin typeface="Microsoft YaHei"/>
                <a:cs typeface="Microsoft YaHei"/>
              </a:rPr>
              <a:t>传动系统：将动力源（或某个执行件）</a:t>
            </a:r>
            <a:r>
              <a:rPr sz="1750" spc="-15" dirty="0">
                <a:latin typeface="Microsoft YaHei"/>
                <a:cs typeface="Microsoft YaHei"/>
              </a:rPr>
              <a:t>的速度、</a:t>
            </a:r>
            <a:r>
              <a:rPr sz="1750" dirty="0">
                <a:latin typeface="Microsoft YaHei"/>
                <a:cs typeface="Microsoft YaHei"/>
              </a:rPr>
              <a:t>力矩传递给执行件（或另一执行件），</a:t>
            </a:r>
            <a:r>
              <a:rPr sz="1750" spc="-20" dirty="0">
                <a:latin typeface="Microsoft YaHei"/>
                <a:cs typeface="Microsoft YaHei"/>
              </a:rPr>
              <a:t>使该执</a:t>
            </a:r>
            <a:r>
              <a:rPr sz="1750" spc="-50" dirty="0">
                <a:latin typeface="Microsoft YaHei"/>
                <a:cs typeface="Microsoft YaHei"/>
              </a:rPr>
              <a:t> </a:t>
            </a:r>
            <a:r>
              <a:rPr sz="1750" spc="-5" dirty="0">
                <a:latin typeface="Microsoft YaHei"/>
                <a:cs typeface="Microsoft YaHei"/>
              </a:rPr>
              <a:t>行件具有某种运动和出力的功能</a:t>
            </a:r>
            <a:endParaRPr sz="1750">
              <a:latin typeface="Microsoft YaHei"/>
              <a:cs typeface="Microsoft YaHei"/>
            </a:endParaRPr>
          </a:p>
          <a:p>
            <a:pPr marL="12700">
              <a:lnSpc>
                <a:spcPct val="100000"/>
              </a:lnSpc>
              <a:spcBef>
                <a:spcPts val="980"/>
              </a:spcBef>
            </a:pPr>
            <a:r>
              <a:rPr sz="3150" b="1" spc="-5" dirty="0">
                <a:solidFill>
                  <a:srgbClr val="26599C"/>
                </a:solidFill>
                <a:latin typeface="Microsoft YaHei"/>
                <a:cs typeface="Microsoft YaHei"/>
              </a:rPr>
              <a:t>为什么存在传动系统？</a:t>
            </a:r>
            <a:endParaRPr sz="3150">
              <a:latin typeface="Microsoft YaHei"/>
              <a:cs typeface="Microsoft YaHei"/>
            </a:endParaRPr>
          </a:p>
          <a:p>
            <a:pPr marL="355600">
              <a:lnSpc>
                <a:spcPct val="100000"/>
              </a:lnSpc>
              <a:spcBef>
                <a:spcPts val="1100"/>
              </a:spcBef>
            </a:pPr>
            <a:r>
              <a:rPr sz="1750" spc="-5" dirty="0">
                <a:latin typeface="Microsoft YaHei"/>
                <a:cs typeface="Microsoft YaHei"/>
              </a:rPr>
              <a:t>为了满足工作情况的多种要求</a:t>
            </a:r>
            <a:endParaRPr sz="1750">
              <a:latin typeface="Microsoft YaHei"/>
              <a:cs typeface="Microsoft YaHei"/>
            </a:endParaRPr>
          </a:p>
          <a:p>
            <a:pPr marL="355600">
              <a:lnSpc>
                <a:spcPct val="100000"/>
              </a:lnSpc>
            </a:pPr>
            <a:r>
              <a:rPr sz="1750" spc="-5" dirty="0">
                <a:latin typeface="Microsoft YaHei"/>
                <a:cs typeface="Microsoft YaHei"/>
              </a:rPr>
              <a:t>如速度变化、运动方式变化、空间影响等等</a:t>
            </a:r>
            <a:endParaRPr sz="1750">
              <a:latin typeface="Microsoft YaHei"/>
              <a:cs typeface="Microsoft YaHei"/>
            </a:endParaRPr>
          </a:p>
          <a:p>
            <a:pPr marL="12700">
              <a:lnSpc>
                <a:spcPct val="100000"/>
              </a:lnSpc>
              <a:spcBef>
                <a:spcPts val="1850"/>
              </a:spcBef>
            </a:pPr>
            <a:r>
              <a:rPr sz="3150" b="1" spc="-5" dirty="0">
                <a:solidFill>
                  <a:srgbClr val="26599C"/>
                </a:solidFill>
                <a:latin typeface="Microsoft YaHei"/>
                <a:cs typeface="Microsoft YaHei"/>
              </a:rPr>
              <a:t>传动系统有什么作用？</a:t>
            </a:r>
            <a:endParaRPr sz="3150">
              <a:latin typeface="Microsoft YaHei"/>
              <a:cs typeface="Microsoft YaHei"/>
            </a:endParaRPr>
          </a:p>
          <a:p>
            <a:pPr marL="524510" indent="-171450">
              <a:lnSpc>
                <a:spcPct val="100000"/>
              </a:lnSpc>
              <a:spcBef>
                <a:spcPts val="1100"/>
              </a:spcBef>
              <a:buSzPct val="94285"/>
              <a:buFont typeface="Calibri"/>
              <a:buAutoNum type="arabicPeriod"/>
              <a:tabLst>
                <a:tab pos="524510" algn="l"/>
              </a:tabLst>
            </a:pPr>
            <a:r>
              <a:rPr sz="1750" dirty="0">
                <a:latin typeface="Microsoft YaHei"/>
                <a:cs typeface="Microsoft YaHei"/>
              </a:rPr>
              <a:t>运动和动力的</a:t>
            </a:r>
            <a:r>
              <a:rPr sz="1750" b="1" spc="-25" dirty="0">
                <a:latin typeface="Microsoft YaHei"/>
                <a:cs typeface="Microsoft YaHei"/>
              </a:rPr>
              <a:t>传递</a:t>
            </a:r>
            <a:endParaRPr sz="1750">
              <a:latin typeface="Microsoft YaHei"/>
              <a:cs typeface="Microsoft YaHei"/>
            </a:endParaRPr>
          </a:p>
          <a:p>
            <a:pPr marL="524510" indent="-171450">
              <a:lnSpc>
                <a:spcPct val="100000"/>
              </a:lnSpc>
              <a:buSzPct val="94285"/>
              <a:buFont typeface="Calibri"/>
              <a:buAutoNum type="arabicPeriod"/>
              <a:tabLst>
                <a:tab pos="524510" algn="l"/>
              </a:tabLst>
            </a:pPr>
            <a:r>
              <a:rPr sz="1750" dirty="0">
                <a:latin typeface="Microsoft YaHei"/>
                <a:cs typeface="Microsoft YaHei"/>
              </a:rPr>
              <a:t>运动和动力的</a:t>
            </a:r>
            <a:r>
              <a:rPr sz="1750" b="1" spc="-25" dirty="0">
                <a:latin typeface="Microsoft YaHei"/>
                <a:cs typeface="Microsoft YaHei"/>
              </a:rPr>
              <a:t>变换</a:t>
            </a:r>
            <a:endParaRPr sz="1750">
              <a:latin typeface="Microsoft YaHei"/>
              <a:cs typeface="Microsoft YaHe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341842"/>
            <a:ext cx="220599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20" dirty="0"/>
              <a:t>.齿轮传动</a:t>
            </a:r>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7789164" y="1994916"/>
            <a:ext cx="2772156" cy="2078735"/>
          </a:xfrm>
          <a:prstGeom prst="rect">
            <a:avLst/>
          </a:prstGeom>
        </p:spPr>
      </p:pic>
      <p:pic>
        <p:nvPicPr>
          <p:cNvPr id="5" name="object 5"/>
          <p:cNvPicPr/>
          <p:nvPr/>
        </p:nvPicPr>
        <p:blipFill>
          <a:blip r:embed="rId4" cstate="print"/>
          <a:stretch>
            <a:fillRect/>
          </a:stretch>
        </p:blipFill>
        <p:spPr>
          <a:xfrm>
            <a:off x="6408420" y="4184903"/>
            <a:ext cx="3959351" cy="2514600"/>
          </a:xfrm>
          <a:prstGeom prst="rect">
            <a:avLst/>
          </a:prstGeom>
        </p:spPr>
      </p:pic>
      <p:sp>
        <p:nvSpPr>
          <p:cNvPr id="6" name="object 6"/>
          <p:cNvSpPr txBox="1"/>
          <p:nvPr/>
        </p:nvSpPr>
        <p:spPr>
          <a:xfrm>
            <a:off x="1157755" y="3198370"/>
            <a:ext cx="3759200" cy="3140075"/>
          </a:xfrm>
          <a:prstGeom prst="rect">
            <a:avLst/>
          </a:prstGeom>
        </p:spPr>
        <p:txBody>
          <a:bodyPr vert="horz" wrap="square" lIns="0" tIns="14604" rIns="0" bIns="0" rtlCol="0">
            <a:spAutoFit/>
          </a:bodyPr>
          <a:lstStyle/>
          <a:p>
            <a:pPr marL="12700" marR="5080" algn="just">
              <a:lnSpc>
                <a:spcPct val="99300"/>
              </a:lnSpc>
              <a:spcBef>
                <a:spcPts val="114"/>
              </a:spcBef>
            </a:pPr>
            <a:r>
              <a:rPr sz="2100" spc="-5" dirty="0">
                <a:latin typeface="Microsoft YaHei"/>
                <a:cs typeface="Microsoft YaHei"/>
              </a:rPr>
              <a:t>优点：结构紧凑，传动比准确，可实现平行轴、交错轴动力的传递，传动效率高，传动比大</a:t>
            </a:r>
            <a:endParaRPr sz="2100">
              <a:latin typeface="Microsoft YaHei"/>
              <a:cs typeface="Microsoft YaHei"/>
            </a:endParaRPr>
          </a:p>
          <a:p>
            <a:pPr marL="12700" marR="5080">
              <a:lnSpc>
                <a:spcPts val="2480"/>
              </a:lnSpc>
              <a:spcBef>
                <a:spcPts val="2685"/>
              </a:spcBef>
            </a:pPr>
            <a:r>
              <a:rPr sz="2100" spc="-5" dirty="0">
                <a:latin typeface="Microsoft YaHei"/>
                <a:cs typeface="Microsoft YaHei"/>
              </a:rPr>
              <a:t>缺点：有回程差，加工成本高，</a:t>
            </a:r>
            <a:r>
              <a:rPr sz="2100" spc="-10" dirty="0">
                <a:latin typeface="Microsoft YaHei"/>
                <a:cs typeface="Microsoft YaHei"/>
              </a:rPr>
              <a:t>只能用于短距离传动</a:t>
            </a:r>
            <a:endParaRPr sz="2100">
              <a:latin typeface="Microsoft YaHei"/>
              <a:cs typeface="Microsoft YaHei"/>
            </a:endParaRPr>
          </a:p>
          <a:p>
            <a:pPr marL="594360" marR="292100">
              <a:lnSpc>
                <a:spcPct val="101899"/>
              </a:lnSpc>
              <a:spcBef>
                <a:spcPts val="1775"/>
              </a:spcBef>
            </a:pPr>
            <a:r>
              <a:rPr sz="1550" dirty="0">
                <a:latin typeface="Microsoft YaHei"/>
                <a:cs typeface="Microsoft YaHei"/>
              </a:rPr>
              <a:t>制作一对能配合的齿轮需要确保</a:t>
            </a:r>
            <a:r>
              <a:rPr sz="1550" spc="-50" dirty="0">
                <a:latin typeface="Calibri"/>
                <a:cs typeface="Calibri"/>
              </a:rPr>
              <a:t>: </a:t>
            </a:r>
            <a:r>
              <a:rPr sz="1550" dirty="0">
                <a:latin typeface="Calibri"/>
                <a:cs typeface="Calibri"/>
              </a:rPr>
              <a:t>1.</a:t>
            </a:r>
            <a:r>
              <a:rPr sz="1550" spc="-15" dirty="0">
                <a:latin typeface="Microsoft YaHei"/>
                <a:cs typeface="Microsoft YaHei"/>
              </a:rPr>
              <a:t>模数相同</a:t>
            </a:r>
            <a:endParaRPr sz="1550">
              <a:latin typeface="Microsoft YaHei"/>
              <a:cs typeface="Microsoft YaHei"/>
            </a:endParaRPr>
          </a:p>
          <a:p>
            <a:pPr marL="746125" indent="-152400">
              <a:lnSpc>
                <a:spcPct val="100000"/>
              </a:lnSpc>
              <a:spcBef>
                <a:spcPts val="25"/>
              </a:spcBef>
              <a:buSzPct val="93548"/>
              <a:buFont typeface="Calibri"/>
              <a:buAutoNum type="arabicPeriod" startAt="2"/>
              <a:tabLst>
                <a:tab pos="746125" algn="l"/>
              </a:tabLst>
            </a:pPr>
            <a:r>
              <a:rPr sz="1550" spc="-10" dirty="0">
                <a:latin typeface="Microsoft YaHei"/>
                <a:cs typeface="Microsoft YaHei"/>
              </a:rPr>
              <a:t>压力角相同</a:t>
            </a:r>
            <a:endParaRPr sz="1550">
              <a:latin typeface="Microsoft YaHei"/>
              <a:cs typeface="Microsoft YaHei"/>
            </a:endParaRPr>
          </a:p>
          <a:p>
            <a:pPr marL="746125" indent="-152400">
              <a:lnSpc>
                <a:spcPct val="100000"/>
              </a:lnSpc>
              <a:spcBef>
                <a:spcPts val="35"/>
              </a:spcBef>
              <a:buSzPct val="93548"/>
              <a:buFont typeface="Calibri"/>
              <a:buAutoNum type="arabicPeriod" startAt="2"/>
              <a:tabLst>
                <a:tab pos="746125" algn="l"/>
              </a:tabLst>
            </a:pPr>
            <a:r>
              <a:rPr sz="1550" spc="-10" dirty="0">
                <a:latin typeface="Microsoft YaHei"/>
                <a:cs typeface="Microsoft YaHei"/>
              </a:rPr>
              <a:t>分度圆相切</a:t>
            </a:r>
            <a:endParaRPr sz="1550">
              <a:latin typeface="Microsoft YaHei"/>
              <a:cs typeface="Microsoft YaHe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20" dirty="0"/>
              <a:t>——分度圆</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4856988" y="2272283"/>
            <a:ext cx="5663183" cy="4215383"/>
          </a:xfrm>
          <a:prstGeom prst="rect">
            <a:avLst/>
          </a:prstGeom>
        </p:spPr>
      </p:pic>
      <p:sp>
        <p:nvSpPr>
          <p:cNvPr id="5" name="object 5"/>
          <p:cNvSpPr txBox="1"/>
          <p:nvPr/>
        </p:nvSpPr>
        <p:spPr>
          <a:xfrm>
            <a:off x="834669" y="3722653"/>
            <a:ext cx="3492500" cy="1628775"/>
          </a:xfrm>
          <a:prstGeom prst="rect">
            <a:avLst/>
          </a:prstGeom>
        </p:spPr>
        <p:txBody>
          <a:bodyPr vert="horz" wrap="square" lIns="0" tIns="12700" rIns="0" bIns="0" rtlCol="0">
            <a:spAutoFit/>
          </a:bodyPr>
          <a:lstStyle/>
          <a:p>
            <a:pPr marL="12700">
              <a:lnSpc>
                <a:spcPct val="100000"/>
              </a:lnSpc>
              <a:spcBef>
                <a:spcPts val="100"/>
              </a:spcBef>
            </a:pPr>
            <a:r>
              <a:rPr sz="2100" spc="-5" dirty="0">
                <a:latin typeface="Microsoft YaHei"/>
                <a:cs typeface="Microsoft YaHei"/>
              </a:rPr>
              <a:t>为便于设计而规定的参考圆</a:t>
            </a:r>
            <a:endParaRPr sz="2100">
              <a:latin typeface="Microsoft YaHei"/>
              <a:cs typeface="Microsoft YaHei"/>
            </a:endParaRPr>
          </a:p>
          <a:p>
            <a:pPr marL="12700" marR="5080">
              <a:lnSpc>
                <a:spcPct val="200500"/>
              </a:lnSpc>
            </a:pPr>
            <a:r>
              <a:rPr sz="2100" dirty="0">
                <a:latin typeface="Microsoft YaHei"/>
                <a:cs typeface="Microsoft YaHei"/>
              </a:rPr>
              <a:t>可以看作实际齿轮的</a:t>
            </a:r>
            <a:r>
              <a:rPr sz="2100" b="1" spc="-15" dirty="0">
                <a:latin typeface="Microsoft YaHei"/>
                <a:cs typeface="Microsoft YaHei"/>
              </a:rPr>
              <a:t>设计大小</a:t>
            </a:r>
            <a:r>
              <a:rPr sz="2100" dirty="0">
                <a:latin typeface="Microsoft YaHei"/>
                <a:cs typeface="Microsoft YaHei"/>
              </a:rPr>
              <a:t>分度圆直径</a:t>
            </a:r>
            <a:r>
              <a:rPr sz="2100" spc="-25" dirty="0">
                <a:latin typeface="Calibri"/>
                <a:cs typeface="Calibri"/>
              </a:rPr>
              <a:t>=</a:t>
            </a:r>
            <a:r>
              <a:rPr sz="2100" dirty="0">
                <a:latin typeface="Microsoft YaHei"/>
                <a:cs typeface="Microsoft YaHei"/>
              </a:rPr>
              <a:t>模数</a:t>
            </a:r>
            <a:r>
              <a:rPr sz="2100" spc="-25" dirty="0">
                <a:latin typeface="Calibri"/>
                <a:cs typeface="Calibri"/>
              </a:rPr>
              <a:t>*</a:t>
            </a:r>
            <a:r>
              <a:rPr sz="2100" spc="-25" dirty="0">
                <a:latin typeface="Microsoft YaHei"/>
                <a:cs typeface="Microsoft YaHei"/>
              </a:rPr>
              <a:t>齿数</a:t>
            </a:r>
            <a:endParaRPr sz="2100">
              <a:latin typeface="Microsoft YaHei"/>
              <a:cs typeface="Microsoft YaHe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341842"/>
            <a:ext cx="350647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20" dirty="0"/>
              <a:t>——模数</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4985003" y="1921764"/>
            <a:ext cx="5521451" cy="3142487"/>
          </a:xfrm>
          <a:prstGeom prst="rect">
            <a:avLst/>
          </a:prstGeom>
        </p:spPr>
      </p:pic>
      <p:pic>
        <p:nvPicPr>
          <p:cNvPr id="5" name="object 5"/>
          <p:cNvPicPr/>
          <p:nvPr/>
        </p:nvPicPr>
        <p:blipFill>
          <a:blip r:embed="rId4" cstate="print"/>
          <a:stretch>
            <a:fillRect/>
          </a:stretch>
        </p:blipFill>
        <p:spPr>
          <a:xfrm>
            <a:off x="4023359" y="5132832"/>
            <a:ext cx="6489192" cy="1575816"/>
          </a:xfrm>
          <a:prstGeom prst="rect">
            <a:avLst/>
          </a:prstGeom>
        </p:spPr>
      </p:pic>
      <p:sp>
        <p:nvSpPr>
          <p:cNvPr id="6" name="object 6"/>
          <p:cNvSpPr txBox="1"/>
          <p:nvPr/>
        </p:nvSpPr>
        <p:spPr>
          <a:xfrm>
            <a:off x="112243" y="3094790"/>
            <a:ext cx="4541520" cy="3491865"/>
          </a:xfrm>
          <a:prstGeom prst="rect">
            <a:avLst/>
          </a:prstGeom>
        </p:spPr>
        <p:txBody>
          <a:bodyPr vert="horz" wrap="square" lIns="0" tIns="12700" rIns="0" bIns="0" rtlCol="0">
            <a:spAutoFit/>
          </a:bodyPr>
          <a:lstStyle/>
          <a:p>
            <a:pPr marL="741045" marR="324485">
              <a:lnSpc>
                <a:spcPct val="111400"/>
              </a:lnSpc>
              <a:spcBef>
                <a:spcPts val="100"/>
              </a:spcBef>
            </a:pPr>
            <a:r>
              <a:rPr sz="2100" spc="-5" dirty="0">
                <a:latin typeface="Microsoft YaHei"/>
                <a:cs typeface="Microsoft YaHei"/>
              </a:rPr>
              <a:t>人为抽象出以度量齿规模的参</a:t>
            </a:r>
            <a:r>
              <a:rPr sz="2100" dirty="0">
                <a:latin typeface="Microsoft YaHei"/>
                <a:cs typeface="Microsoft YaHei"/>
              </a:rPr>
              <a:t>数，可直观理解为</a:t>
            </a:r>
            <a:r>
              <a:rPr sz="2100" b="1" spc="-15" dirty="0">
                <a:latin typeface="Microsoft YaHei"/>
                <a:cs typeface="Microsoft YaHei"/>
              </a:rPr>
              <a:t>齿的大小</a:t>
            </a:r>
            <a:endParaRPr sz="2100">
              <a:latin typeface="Microsoft YaHei"/>
              <a:cs typeface="Microsoft YaHei"/>
            </a:endParaRPr>
          </a:p>
          <a:p>
            <a:pPr>
              <a:lnSpc>
                <a:spcPct val="100000"/>
              </a:lnSpc>
              <a:spcBef>
                <a:spcPts val="760"/>
              </a:spcBef>
            </a:pPr>
            <a:endParaRPr sz="2100">
              <a:latin typeface="Microsoft YaHei"/>
              <a:cs typeface="Microsoft YaHei"/>
            </a:endParaRPr>
          </a:p>
          <a:p>
            <a:pPr marL="259079" algn="ctr">
              <a:lnSpc>
                <a:spcPts val="2095"/>
              </a:lnSpc>
            </a:pPr>
            <a:r>
              <a:rPr sz="1750" dirty="0">
                <a:latin typeface="Microsoft YaHei"/>
                <a:cs typeface="Microsoft YaHei"/>
              </a:rPr>
              <a:t>模数用</a:t>
            </a:r>
            <a:r>
              <a:rPr sz="1750" spc="-20" dirty="0">
                <a:latin typeface="Calibri"/>
                <a:cs typeface="Calibri"/>
              </a:rPr>
              <a:t>m</a:t>
            </a:r>
            <a:r>
              <a:rPr sz="1750" dirty="0">
                <a:latin typeface="Microsoft YaHei"/>
                <a:cs typeface="Microsoft YaHei"/>
              </a:rPr>
              <a:t>表示</a:t>
            </a:r>
            <a:r>
              <a:rPr sz="1750" spc="-20" dirty="0">
                <a:latin typeface="Calibri"/>
                <a:cs typeface="Calibri"/>
              </a:rPr>
              <a:t>,</a:t>
            </a:r>
            <a:r>
              <a:rPr sz="1750" dirty="0">
                <a:latin typeface="Microsoft YaHei"/>
                <a:cs typeface="Microsoft YaHei"/>
              </a:rPr>
              <a:t>模数的定义为齿距</a:t>
            </a:r>
            <a:r>
              <a:rPr sz="1750" spc="-10" dirty="0">
                <a:latin typeface="Calibri"/>
                <a:cs typeface="Calibri"/>
              </a:rPr>
              <a:t>p</a:t>
            </a:r>
            <a:r>
              <a:rPr sz="1750" dirty="0">
                <a:latin typeface="Microsoft YaHei"/>
                <a:cs typeface="Microsoft YaHei"/>
              </a:rPr>
              <a:t>与</a:t>
            </a:r>
            <a:r>
              <a:rPr sz="1750" dirty="0">
                <a:latin typeface="Calibri"/>
                <a:cs typeface="Calibri"/>
              </a:rPr>
              <a:t>π</a:t>
            </a:r>
            <a:r>
              <a:rPr sz="1750" spc="-20" dirty="0">
                <a:latin typeface="Microsoft YaHei"/>
                <a:cs typeface="Microsoft YaHei"/>
              </a:rPr>
              <a:t>的比值</a:t>
            </a:r>
            <a:endParaRPr sz="1750">
              <a:latin typeface="Microsoft YaHei"/>
              <a:cs typeface="Microsoft YaHei"/>
            </a:endParaRPr>
          </a:p>
          <a:p>
            <a:pPr marL="258445" algn="ctr">
              <a:lnSpc>
                <a:spcPts val="2095"/>
              </a:lnSpc>
            </a:pPr>
            <a:r>
              <a:rPr sz="1750" dirty="0">
                <a:latin typeface="Calibri"/>
                <a:cs typeface="Calibri"/>
              </a:rPr>
              <a:t>m</a:t>
            </a:r>
            <a:r>
              <a:rPr sz="1750" spc="-10" dirty="0">
                <a:latin typeface="Calibri"/>
                <a:cs typeface="Calibri"/>
              </a:rPr>
              <a:t> </a:t>
            </a:r>
            <a:r>
              <a:rPr sz="1750" spc="-20" dirty="0">
                <a:latin typeface="Calibri"/>
                <a:cs typeface="Calibri"/>
              </a:rPr>
              <a:t>=p/π</a:t>
            </a:r>
            <a:endParaRPr sz="1750">
              <a:latin typeface="Calibri"/>
              <a:cs typeface="Calibri"/>
            </a:endParaRPr>
          </a:p>
          <a:p>
            <a:pPr>
              <a:lnSpc>
                <a:spcPct val="100000"/>
              </a:lnSpc>
              <a:spcBef>
                <a:spcPts val="1250"/>
              </a:spcBef>
            </a:pPr>
            <a:endParaRPr sz="1750">
              <a:latin typeface="Calibri"/>
              <a:cs typeface="Calibri"/>
            </a:endParaRPr>
          </a:p>
          <a:p>
            <a:pPr marL="12700" marR="652780" algn="just">
              <a:lnSpc>
                <a:spcPct val="101600"/>
              </a:lnSpc>
            </a:pPr>
            <a:r>
              <a:rPr sz="1550" dirty="0">
                <a:latin typeface="Microsoft YaHei"/>
                <a:cs typeface="Microsoft YaHei"/>
              </a:rPr>
              <a:t>模数</a:t>
            </a:r>
            <a:r>
              <a:rPr sz="1550" dirty="0">
                <a:latin typeface="Calibri"/>
                <a:cs typeface="Calibri"/>
              </a:rPr>
              <a:t>m</a:t>
            </a:r>
            <a:r>
              <a:rPr sz="1550" dirty="0">
                <a:latin typeface="Microsoft YaHei"/>
                <a:cs typeface="Microsoft YaHei"/>
              </a:rPr>
              <a:t>已标准化了</a:t>
            </a:r>
            <a:r>
              <a:rPr sz="1550" spc="-20" dirty="0">
                <a:latin typeface="Calibri"/>
                <a:cs typeface="Calibri"/>
              </a:rPr>
              <a:t>,</a:t>
            </a:r>
            <a:r>
              <a:rPr sz="1550" dirty="0">
                <a:latin typeface="Microsoft YaHei"/>
                <a:cs typeface="Microsoft YaHei"/>
              </a:rPr>
              <a:t>右表为国家标准</a:t>
            </a:r>
            <a:r>
              <a:rPr sz="1550" spc="-10" dirty="0">
                <a:latin typeface="Calibri"/>
                <a:cs typeface="Calibri"/>
              </a:rPr>
              <a:t>GB/TI357- </a:t>
            </a:r>
            <a:r>
              <a:rPr sz="1550" dirty="0">
                <a:latin typeface="Calibri"/>
                <a:cs typeface="Calibri"/>
              </a:rPr>
              <a:t>2008</a:t>
            </a:r>
            <a:r>
              <a:rPr sz="1550" dirty="0">
                <a:latin typeface="Microsoft YaHei"/>
                <a:cs typeface="Microsoft YaHei"/>
              </a:rPr>
              <a:t>所规定的标准模数系列。在设计齿轮时</a:t>
            </a:r>
            <a:r>
              <a:rPr sz="1550" spc="-50" dirty="0">
                <a:latin typeface="Calibri"/>
                <a:cs typeface="Calibri"/>
              </a:rPr>
              <a:t>,</a:t>
            </a:r>
            <a:r>
              <a:rPr sz="1550" dirty="0">
                <a:latin typeface="Microsoft YaHei"/>
                <a:cs typeface="Microsoft YaHei"/>
              </a:rPr>
              <a:t>若无特殊需要</a:t>
            </a:r>
            <a:r>
              <a:rPr sz="1550" dirty="0">
                <a:latin typeface="Calibri"/>
                <a:cs typeface="Calibri"/>
              </a:rPr>
              <a:t>,</a:t>
            </a:r>
            <a:r>
              <a:rPr sz="1550" spc="-10" dirty="0">
                <a:latin typeface="Microsoft YaHei"/>
                <a:cs typeface="Microsoft YaHei"/>
              </a:rPr>
              <a:t>应选用标准模数。</a:t>
            </a:r>
            <a:endParaRPr sz="1550">
              <a:latin typeface="Microsoft YaHei"/>
              <a:cs typeface="Microsoft YaHei"/>
            </a:endParaRPr>
          </a:p>
          <a:p>
            <a:pPr marL="12700">
              <a:lnSpc>
                <a:spcPct val="100000"/>
              </a:lnSpc>
              <a:spcBef>
                <a:spcPts val="1935"/>
              </a:spcBef>
            </a:pPr>
            <a:r>
              <a:rPr sz="1550" spc="-5" dirty="0">
                <a:latin typeface="Microsoft YaHei"/>
                <a:cs typeface="Microsoft YaHei"/>
              </a:rPr>
              <a:t>一般功率越大模数越大，转速越高模数越小</a:t>
            </a:r>
            <a:endParaRPr sz="1550">
              <a:latin typeface="Microsoft YaHei"/>
              <a:cs typeface="Microsoft YaHe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341842"/>
            <a:ext cx="331597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100" spc="-20" dirty="0"/>
              <a:t>——齿数</a:t>
            </a:r>
            <a:endParaRPr sz="2100"/>
          </a:p>
        </p:txBody>
      </p:sp>
      <p:pic>
        <p:nvPicPr>
          <p:cNvPr id="3" name="object 3"/>
          <p:cNvPicPr/>
          <p:nvPr/>
        </p:nvPicPr>
        <p:blipFill>
          <a:blip r:embed="rId2" cstate="print"/>
          <a:stretch>
            <a:fillRect/>
          </a:stretch>
        </p:blipFill>
        <p:spPr>
          <a:xfrm>
            <a:off x="0" y="772668"/>
            <a:ext cx="10692384" cy="1075943"/>
          </a:xfrm>
          <a:prstGeom prst="rect">
            <a:avLst/>
          </a:prstGeom>
        </p:spPr>
      </p:pic>
      <p:sp>
        <p:nvSpPr>
          <p:cNvPr id="4" name="object 4"/>
          <p:cNvSpPr txBox="1"/>
          <p:nvPr/>
        </p:nvSpPr>
        <p:spPr>
          <a:xfrm>
            <a:off x="633517" y="3969553"/>
            <a:ext cx="3366135" cy="1007110"/>
          </a:xfrm>
          <a:prstGeom prst="rect">
            <a:avLst/>
          </a:prstGeom>
        </p:spPr>
        <p:txBody>
          <a:bodyPr vert="horz" wrap="square" lIns="0" tIns="12700" rIns="0" bIns="0" rtlCol="0">
            <a:spAutoFit/>
          </a:bodyPr>
          <a:lstStyle/>
          <a:p>
            <a:pPr marL="12700">
              <a:lnSpc>
                <a:spcPct val="100000"/>
              </a:lnSpc>
              <a:spcBef>
                <a:spcPts val="100"/>
              </a:spcBef>
            </a:pPr>
            <a:r>
              <a:rPr sz="1750" dirty="0">
                <a:latin typeface="Microsoft YaHei"/>
                <a:cs typeface="Microsoft YaHei"/>
              </a:rPr>
              <a:t>齿数：齿轮齿的个数，用</a:t>
            </a:r>
            <a:r>
              <a:rPr sz="1750" dirty="0">
                <a:latin typeface="Calibri"/>
                <a:cs typeface="Calibri"/>
              </a:rPr>
              <a:t>z</a:t>
            </a:r>
            <a:r>
              <a:rPr sz="1750" spc="-25" dirty="0">
                <a:latin typeface="Microsoft YaHei"/>
                <a:cs typeface="Microsoft YaHei"/>
              </a:rPr>
              <a:t>表示</a:t>
            </a:r>
            <a:endParaRPr sz="1750">
              <a:latin typeface="Microsoft YaHei"/>
              <a:cs typeface="Microsoft YaHei"/>
            </a:endParaRPr>
          </a:p>
          <a:p>
            <a:pPr>
              <a:lnSpc>
                <a:spcPct val="100000"/>
              </a:lnSpc>
              <a:spcBef>
                <a:spcPts val="300"/>
              </a:spcBef>
            </a:pPr>
            <a:endParaRPr sz="1750">
              <a:latin typeface="Microsoft YaHei"/>
              <a:cs typeface="Microsoft YaHei"/>
            </a:endParaRPr>
          </a:p>
          <a:p>
            <a:pPr marL="12700">
              <a:lnSpc>
                <a:spcPct val="100000"/>
              </a:lnSpc>
            </a:pPr>
            <a:r>
              <a:rPr sz="1750" dirty="0">
                <a:latin typeface="Microsoft YaHei"/>
                <a:cs typeface="Microsoft YaHei"/>
              </a:rPr>
              <a:t>一般需大于</a:t>
            </a:r>
            <a:r>
              <a:rPr sz="1750" spc="-10" dirty="0">
                <a:latin typeface="Calibri"/>
                <a:cs typeface="Calibri"/>
              </a:rPr>
              <a:t>17</a:t>
            </a:r>
            <a:r>
              <a:rPr sz="1750" spc="-10" dirty="0">
                <a:latin typeface="Microsoft YaHei"/>
                <a:cs typeface="Microsoft YaHei"/>
              </a:rPr>
              <a:t>，否则产生根切现象</a:t>
            </a:r>
            <a:endParaRPr sz="1750">
              <a:latin typeface="Microsoft YaHei"/>
              <a:cs typeface="Microsoft YaHei"/>
            </a:endParaRPr>
          </a:p>
        </p:txBody>
      </p:sp>
      <p:pic>
        <p:nvPicPr>
          <p:cNvPr id="5" name="object 5"/>
          <p:cNvPicPr/>
          <p:nvPr/>
        </p:nvPicPr>
        <p:blipFill>
          <a:blip r:embed="rId3" cstate="print"/>
          <a:stretch>
            <a:fillRect/>
          </a:stretch>
        </p:blipFill>
        <p:spPr>
          <a:xfrm>
            <a:off x="4239767" y="2319528"/>
            <a:ext cx="6284975" cy="3515867"/>
          </a:xfrm>
          <a:prstGeom prst="rect">
            <a:avLst/>
          </a:prstGeom>
        </p:spPr>
      </p:pic>
      <p:sp>
        <p:nvSpPr>
          <p:cNvPr id="6" name="object 6"/>
          <p:cNvSpPr txBox="1"/>
          <p:nvPr/>
        </p:nvSpPr>
        <p:spPr>
          <a:xfrm>
            <a:off x="4771170" y="6026944"/>
            <a:ext cx="5153660" cy="585470"/>
          </a:xfrm>
          <a:prstGeom prst="rect">
            <a:avLst/>
          </a:prstGeom>
        </p:spPr>
        <p:txBody>
          <a:bodyPr vert="horz" wrap="square" lIns="0" tIns="11430" rIns="0" bIns="0" rtlCol="0">
            <a:spAutoFit/>
          </a:bodyPr>
          <a:lstStyle/>
          <a:p>
            <a:pPr marL="12700" marR="5080">
              <a:lnSpc>
                <a:spcPct val="102099"/>
              </a:lnSpc>
              <a:spcBef>
                <a:spcPts val="90"/>
              </a:spcBef>
            </a:pPr>
            <a:r>
              <a:rPr sz="1200" spc="-5" dirty="0">
                <a:solidFill>
                  <a:srgbClr val="1C5D97"/>
                </a:solidFill>
                <a:latin typeface="Microsoft YaHei"/>
                <a:cs typeface="Microsoft YaHei"/>
              </a:rPr>
              <a:t>视频链接：【齿轮的根切现象，你了解多少，来看看吧！】</a:t>
            </a:r>
            <a:r>
              <a:rPr sz="1200" spc="-50" dirty="0">
                <a:solidFill>
                  <a:srgbClr val="1C5D97"/>
                </a:solidFill>
                <a:latin typeface="Microsoft YaHei"/>
                <a:cs typeface="Microsoft YaHei"/>
              </a:rPr>
              <a:t> </a:t>
            </a:r>
            <a:r>
              <a:rPr sz="1200" spc="-10" dirty="0">
                <a:solidFill>
                  <a:srgbClr val="1C5D97"/>
                </a:solidFill>
                <a:latin typeface="Calibri"/>
                <a:cs typeface="Calibri"/>
              </a:rPr>
              <a:t>https://</a:t>
            </a:r>
            <a:r>
              <a:rPr sz="1200" spc="-10" dirty="0">
                <a:solidFill>
                  <a:srgbClr val="1C5D97"/>
                </a:solidFill>
                <a:latin typeface="Calibri"/>
                <a:cs typeface="Calibri"/>
                <a:hlinkClick r:id="rId4"/>
              </a:rPr>
              <a:t>www.bilibili.com/video/BV1FT4y167pP/?share_source=copy_web&amp;vd_so</a:t>
            </a:r>
            <a:r>
              <a:rPr sz="1200" spc="500" dirty="0">
                <a:solidFill>
                  <a:srgbClr val="1C5D97"/>
                </a:solidFill>
                <a:latin typeface="Calibri"/>
                <a:cs typeface="Calibri"/>
              </a:rPr>
              <a:t> </a:t>
            </a:r>
            <a:r>
              <a:rPr sz="1200" spc="-10" dirty="0">
                <a:solidFill>
                  <a:srgbClr val="1C5D97"/>
                </a:solidFill>
                <a:latin typeface="Calibri"/>
                <a:cs typeface="Calibri"/>
              </a:rPr>
              <a:t>urce=230d4e2a953803e80721ff5782d70109</a:t>
            </a:r>
            <a:endParaRPr sz="12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341842"/>
            <a:ext cx="413131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20" dirty="0"/>
              <a:t>——其他参数</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6217920" y="2548128"/>
            <a:ext cx="4434840" cy="3412235"/>
          </a:xfrm>
          <a:prstGeom prst="rect">
            <a:avLst/>
          </a:prstGeom>
        </p:spPr>
      </p:pic>
      <p:pic>
        <p:nvPicPr>
          <p:cNvPr id="5" name="object 5"/>
          <p:cNvPicPr/>
          <p:nvPr/>
        </p:nvPicPr>
        <p:blipFill>
          <a:blip r:embed="rId4" cstate="print"/>
          <a:stretch>
            <a:fillRect/>
          </a:stretch>
        </p:blipFill>
        <p:spPr>
          <a:xfrm>
            <a:off x="624839" y="3108960"/>
            <a:ext cx="5306567" cy="34122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120859"/>
            <a:ext cx="444373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20" dirty="0"/>
              <a:t>——渐开线齿轮</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3878579" y="2951988"/>
            <a:ext cx="6646163" cy="3718559"/>
          </a:xfrm>
          <a:prstGeom prst="rect">
            <a:avLst/>
          </a:prstGeom>
        </p:spPr>
      </p:pic>
      <p:sp>
        <p:nvSpPr>
          <p:cNvPr id="5" name="object 5"/>
          <p:cNvSpPr txBox="1"/>
          <p:nvPr/>
        </p:nvSpPr>
        <p:spPr>
          <a:xfrm>
            <a:off x="5841020" y="2329736"/>
            <a:ext cx="4580890" cy="585470"/>
          </a:xfrm>
          <a:prstGeom prst="rect">
            <a:avLst/>
          </a:prstGeom>
        </p:spPr>
        <p:txBody>
          <a:bodyPr vert="horz" wrap="square" lIns="0" tIns="11430" rIns="0" bIns="0" rtlCol="0">
            <a:spAutoFit/>
          </a:bodyPr>
          <a:lstStyle/>
          <a:p>
            <a:pPr marL="12700" marR="5080">
              <a:lnSpc>
                <a:spcPct val="102099"/>
              </a:lnSpc>
              <a:spcBef>
                <a:spcPts val="90"/>
              </a:spcBef>
            </a:pPr>
            <a:r>
              <a:rPr sz="1200" dirty="0">
                <a:solidFill>
                  <a:srgbClr val="1C5D97"/>
                </a:solidFill>
                <a:latin typeface="Microsoft YaHei"/>
                <a:cs typeface="Microsoft YaHei"/>
              </a:rPr>
              <a:t>视频链接：【【中英双语】一个视频让你看懂渐开线齿轮</a:t>
            </a:r>
            <a:r>
              <a:rPr sz="1200" dirty="0">
                <a:solidFill>
                  <a:srgbClr val="1C5D97"/>
                </a:solidFill>
                <a:latin typeface="Calibri"/>
                <a:cs typeface="Calibri"/>
              </a:rPr>
              <a:t>#1</a:t>
            </a:r>
            <a:r>
              <a:rPr sz="1200" spc="229" dirty="0">
                <a:solidFill>
                  <a:srgbClr val="1C5D97"/>
                </a:solidFill>
                <a:latin typeface="Calibri"/>
                <a:cs typeface="Calibri"/>
              </a:rPr>
              <a:t>  </a:t>
            </a:r>
            <a:r>
              <a:rPr sz="1200" spc="-20" dirty="0">
                <a:solidFill>
                  <a:srgbClr val="1C5D97"/>
                </a:solidFill>
                <a:latin typeface="Microsoft YaHei"/>
                <a:cs typeface="Microsoft YaHei"/>
              </a:rPr>
              <a:t>概述】</a:t>
            </a:r>
            <a:r>
              <a:rPr sz="1200" spc="-50" dirty="0">
                <a:solidFill>
                  <a:srgbClr val="1C5D97"/>
                </a:solidFill>
                <a:latin typeface="Microsoft YaHei"/>
                <a:cs typeface="Microsoft YaHei"/>
              </a:rPr>
              <a:t> </a:t>
            </a:r>
            <a:r>
              <a:rPr sz="1200" spc="-10" dirty="0">
                <a:solidFill>
                  <a:srgbClr val="1C5D97"/>
                </a:solidFill>
                <a:latin typeface="Calibri"/>
                <a:cs typeface="Calibri"/>
              </a:rPr>
              <a:t>https://</a:t>
            </a:r>
            <a:r>
              <a:rPr sz="1200" spc="-10" dirty="0">
                <a:solidFill>
                  <a:srgbClr val="1C5D97"/>
                </a:solidFill>
                <a:latin typeface="Calibri"/>
                <a:cs typeface="Calibri"/>
                <a:hlinkClick r:id="rId4"/>
              </a:rPr>
              <a:t>www.bilibili.com/video/BV1fT411v7WZ/?share_source=copy_</a:t>
            </a:r>
            <a:r>
              <a:rPr sz="1200" spc="-10" dirty="0">
                <a:solidFill>
                  <a:srgbClr val="1C5D97"/>
                </a:solidFill>
                <a:latin typeface="Calibri"/>
                <a:cs typeface="Calibri"/>
              </a:rPr>
              <a:t> web&amp;vd_source=230d4e2a953803e80721ff5782d70109</a:t>
            </a:r>
            <a:endParaRPr sz="1200">
              <a:latin typeface="Calibri"/>
              <a:cs typeface="Calibri"/>
            </a:endParaRPr>
          </a:p>
        </p:txBody>
      </p:sp>
      <p:pic>
        <p:nvPicPr>
          <p:cNvPr id="6" name="object 6"/>
          <p:cNvPicPr/>
          <p:nvPr/>
        </p:nvPicPr>
        <p:blipFill>
          <a:blip r:embed="rId5" cstate="print"/>
          <a:stretch>
            <a:fillRect/>
          </a:stretch>
        </p:blipFill>
        <p:spPr>
          <a:xfrm>
            <a:off x="167639" y="3378708"/>
            <a:ext cx="3566159" cy="1999487"/>
          </a:xfrm>
          <a:prstGeom prst="rect">
            <a:avLst/>
          </a:prstGeom>
        </p:spPr>
      </p:pic>
      <p:sp>
        <p:nvSpPr>
          <p:cNvPr id="7" name="object 7"/>
          <p:cNvSpPr txBox="1"/>
          <p:nvPr/>
        </p:nvSpPr>
        <p:spPr>
          <a:xfrm>
            <a:off x="665454" y="5757117"/>
            <a:ext cx="2234565" cy="267335"/>
          </a:xfrm>
          <a:prstGeom prst="rect">
            <a:avLst/>
          </a:prstGeom>
        </p:spPr>
        <p:txBody>
          <a:bodyPr vert="horz" wrap="square" lIns="0" tIns="16510" rIns="0" bIns="0" rtlCol="0">
            <a:spAutoFit/>
          </a:bodyPr>
          <a:lstStyle/>
          <a:p>
            <a:pPr marL="12700">
              <a:lnSpc>
                <a:spcPct val="100000"/>
              </a:lnSpc>
              <a:spcBef>
                <a:spcPts val="130"/>
              </a:spcBef>
            </a:pPr>
            <a:r>
              <a:rPr sz="1550" spc="-5" dirty="0">
                <a:latin typeface="Microsoft YaHei"/>
                <a:cs typeface="Microsoft YaHei"/>
              </a:rPr>
              <a:t>绘制渐开线的圆即为基圆</a:t>
            </a:r>
            <a:endParaRPr sz="1550">
              <a:latin typeface="Microsoft YaHei"/>
              <a:cs typeface="Microsoft YaHe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120859"/>
            <a:ext cx="381889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20" dirty="0"/>
              <a:t>——压力角</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sp>
        <p:nvSpPr>
          <p:cNvPr id="4" name="object 4"/>
          <p:cNvSpPr txBox="1"/>
          <p:nvPr/>
        </p:nvSpPr>
        <p:spPr>
          <a:xfrm>
            <a:off x="5647468" y="2064532"/>
            <a:ext cx="4400550" cy="770255"/>
          </a:xfrm>
          <a:prstGeom prst="rect">
            <a:avLst/>
          </a:prstGeom>
        </p:spPr>
        <p:txBody>
          <a:bodyPr vert="horz" wrap="square" lIns="0" tIns="13335" rIns="0" bIns="0" rtlCol="0">
            <a:spAutoFit/>
          </a:bodyPr>
          <a:lstStyle/>
          <a:p>
            <a:pPr marL="12700" marR="5080">
              <a:lnSpc>
                <a:spcPct val="101200"/>
              </a:lnSpc>
              <a:spcBef>
                <a:spcPts val="105"/>
              </a:spcBef>
            </a:pPr>
            <a:r>
              <a:rPr sz="1200" spc="-5" dirty="0">
                <a:solidFill>
                  <a:srgbClr val="1C5D97"/>
                </a:solidFill>
                <a:latin typeface="Microsoft YaHei"/>
                <a:cs typeface="Microsoft YaHei"/>
              </a:rPr>
              <a:t>视频链接：【啥是齿轮的压力角和啮合角，它们之间有啥区别，</a:t>
            </a:r>
            <a:r>
              <a:rPr sz="1200" spc="-50" dirty="0">
                <a:solidFill>
                  <a:srgbClr val="1C5D97"/>
                </a:solidFill>
                <a:latin typeface="Microsoft YaHei"/>
                <a:cs typeface="Microsoft YaHei"/>
              </a:rPr>
              <a:t> </a:t>
            </a:r>
            <a:r>
              <a:rPr sz="1200" dirty="0">
                <a:solidFill>
                  <a:srgbClr val="1C5D97"/>
                </a:solidFill>
                <a:latin typeface="Calibri"/>
                <a:cs typeface="Calibri"/>
              </a:rPr>
              <a:t>3D</a:t>
            </a:r>
            <a:r>
              <a:rPr sz="1200" spc="-10" dirty="0">
                <a:solidFill>
                  <a:srgbClr val="1C5D97"/>
                </a:solidFill>
                <a:latin typeface="Microsoft YaHei"/>
                <a:cs typeface="Microsoft YaHei"/>
              </a:rPr>
              <a:t>动画直观演示】</a:t>
            </a:r>
            <a:r>
              <a:rPr sz="1200" spc="-50" dirty="0">
                <a:solidFill>
                  <a:srgbClr val="1C5D97"/>
                </a:solidFill>
                <a:latin typeface="Microsoft YaHei"/>
                <a:cs typeface="Microsoft YaHei"/>
              </a:rPr>
              <a:t> </a:t>
            </a:r>
            <a:r>
              <a:rPr sz="1200" spc="-10" dirty="0">
                <a:solidFill>
                  <a:srgbClr val="1C5D97"/>
                </a:solidFill>
                <a:latin typeface="Calibri"/>
                <a:cs typeface="Calibri"/>
              </a:rPr>
              <a:t>https://</a:t>
            </a:r>
            <a:r>
              <a:rPr sz="1200" spc="-10" dirty="0">
                <a:solidFill>
                  <a:srgbClr val="1C5D97"/>
                </a:solidFill>
                <a:latin typeface="Calibri"/>
                <a:cs typeface="Calibri"/>
                <a:hlinkClick r:id="rId3"/>
              </a:rPr>
              <a:t>www.bilibili.com/video/BV1YR4y1Z79W/?share_source=copy</a:t>
            </a:r>
            <a:endParaRPr sz="1200">
              <a:latin typeface="Calibri"/>
              <a:cs typeface="Calibri"/>
            </a:endParaRPr>
          </a:p>
          <a:p>
            <a:pPr marL="12700">
              <a:lnSpc>
                <a:spcPct val="100000"/>
              </a:lnSpc>
              <a:spcBef>
                <a:spcPts val="35"/>
              </a:spcBef>
            </a:pPr>
            <a:r>
              <a:rPr sz="1200" spc="-10" dirty="0">
                <a:solidFill>
                  <a:srgbClr val="1C5D97"/>
                </a:solidFill>
                <a:latin typeface="Calibri"/>
                <a:cs typeface="Calibri"/>
              </a:rPr>
              <a:t>_web&amp;vd_source=230d4e2a953803e80721ff5782d70109</a:t>
            </a:r>
            <a:endParaRPr sz="1200">
              <a:latin typeface="Calibri"/>
              <a:cs typeface="Calibri"/>
            </a:endParaRPr>
          </a:p>
        </p:txBody>
      </p:sp>
      <p:sp>
        <p:nvSpPr>
          <p:cNvPr id="5" name="object 5"/>
          <p:cNvSpPr txBox="1"/>
          <p:nvPr/>
        </p:nvSpPr>
        <p:spPr>
          <a:xfrm>
            <a:off x="599937" y="3286723"/>
            <a:ext cx="3121025" cy="508000"/>
          </a:xfrm>
          <a:prstGeom prst="rect">
            <a:avLst/>
          </a:prstGeom>
        </p:spPr>
        <p:txBody>
          <a:bodyPr vert="horz" wrap="square" lIns="0" tIns="12065" rIns="0" bIns="0" rtlCol="0">
            <a:spAutoFit/>
          </a:bodyPr>
          <a:lstStyle/>
          <a:p>
            <a:pPr marL="12700" marR="5080">
              <a:lnSpc>
                <a:spcPct val="102000"/>
              </a:lnSpc>
              <a:spcBef>
                <a:spcPts val="95"/>
              </a:spcBef>
            </a:pPr>
            <a:r>
              <a:rPr sz="1550" spc="30" dirty="0">
                <a:solidFill>
                  <a:srgbClr val="111111"/>
                </a:solidFill>
                <a:latin typeface="Microsoft YaHei"/>
                <a:cs typeface="Microsoft YaHei"/>
              </a:rPr>
              <a:t>压力角</a:t>
            </a:r>
            <a:r>
              <a:rPr sz="1550" spc="15" dirty="0">
                <a:solidFill>
                  <a:srgbClr val="111111"/>
                </a:solidFill>
                <a:latin typeface="Calibri"/>
                <a:cs typeface="Calibri"/>
              </a:rPr>
              <a:t>α</a:t>
            </a:r>
            <a:r>
              <a:rPr sz="1550" spc="10" dirty="0">
                <a:solidFill>
                  <a:srgbClr val="111111"/>
                </a:solidFill>
                <a:latin typeface="Microsoft YaHei"/>
                <a:cs typeface="Microsoft YaHei"/>
              </a:rPr>
              <a:t>是决定齿轮齿形的参数，</a:t>
            </a:r>
            <a:r>
              <a:rPr sz="1550" spc="15" dirty="0">
                <a:solidFill>
                  <a:srgbClr val="111111"/>
                </a:solidFill>
                <a:latin typeface="Microsoft YaHei"/>
                <a:cs typeface="Microsoft YaHei"/>
              </a:rPr>
              <a:t>即轮齿齿面的倾斜度，一般采用</a:t>
            </a:r>
            <a:r>
              <a:rPr sz="1550" dirty="0">
                <a:solidFill>
                  <a:srgbClr val="111111"/>
                </a:solidFill>
                <a:latin typeface="Calibri"/>
                <a:cs typeface="Calibri"/>
              </a:rPr>
              <a:t>20</a:t>
            </a:r>
            <a:r>
              <a:rPr sz="1550" dirty="0">
                <a:solidFill>
                  <a:srgbClr val="111111"/>
                </a:solidFill>
                <a:latin typeface="Microsoft YaHei"/>
                <a:cs typeface="Microsoft YaHei"/>
              </a:rPr>
              <a:t>°</a:t>
            </a:r>
            <a:endParaRPr sz="1550">
              <a:latin typeface="Microsoft YaHei"/>
              <a:cs typeface="Microsoft YaHei"/>
            </a:endParaRPr>
          </a:p>
        </p:txBody>
      </p:sp>
      <p:pic>
        <p:nvPicPr>
          <p:cNvPr id="6" name="object 6"/>
          <p:cNvPicPr/>
          <p:nvPr/>
        </p:nvPicPr>
        <p:blipFill>
          <a:blip r:embed="rId4" cstate="print"/>
          <a:stretch>
            <a:fillRect/>
          </a:stretch>
        </p:blipFill>
        <p:spPr>
          <a:xfrm>
            <a:off x="4160520" y="2951988"/>
            <a:ext cx="6455664" cy="3619499"/>
          </a:xfrm>
          <a:prstGeom prst="rect">
            <a:avLst/>
          </a:prstGeom>
        </p:spPr>
      </p:pic>
      <p:pic>
        <p:nvPicPr>
          <p:cNvPr id="7" name="object 7"/>
          <p:cNvPicPr/>
          <p:nvPr/>
        </p:nvPicPr>
        <p:blipFill>
          <a:blip r:embed="rId5" cstate="print"/>
          <a:stretch>
            <a:fillRect/>
          </a:stretch>
        </p:blipFill>
        <p:spPr>
          <a:xfrm>
            <a:off x="291084" y="4003548"/>
            <a:ext cx="3649980" cy="23728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040027"/>
            <a:ext cx="381889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20" dirty="0"/>
              <a:t>——传动比</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sp>
        <p:nvSpPr>
          <p:cNvPr id="4" name="object 4"/>
          <p:cNvSpPr txBox="1"/>
          <p:nvPr/>
        </p:nvSpPr>
        <p:spPr>
          <a:xfrm>
            <a:off x="450559" y="4793947"/>
            <a:ext cx="1584960" cy="292735"/>
          </a:xfrm>
          <a:prstGeom prst="rect">
            <a:avLst/>
          </a:prstGeom>
        </p:spPr>
        <p:txBody>
          <a:bodyPr vert="horz" wrap="square" lIns="0" tIns="12700" rIns="0" bIns="0" rtlCol="0">
            <a:spAutoFit/>
          </a:bodyPr>
          <a:lstStyle/>
          <a:p>
            <a:pPr marL="12700">
              <a:lnSpc>
                <a:spcPct val="100000"/>
              </a:lnSpc>
              <a:spcBef>
                <a:spcPts val="100"/>
              </a:spcBef>
            </a:pPr>
            <a:r>
              <a:rPr sz="1750" dirty="0">
                <a:solidFill>
                  <a:srgbClr val="05073B"/>
                </a:solidFill>
                <a:latin typeface="Microsoft YaHei"/>
                <a:cs typeface="Microsoft YaHei"/>
              </a:rPr>
              <a:t>传动比</a:t>
            </a:r>
            <a:r>
              <a:rPr sz="1750" spc="-10" dirty="0">
                <a:solidFill>
                  <a:srgbClr val="05073B"/>
                </a:solidFill>
                <a:latin typeface="Calibri"/>
                <a:cs typeface="Calibri"/>
              </a:rPr>
              <a:t>&gt;1</a:t>
            </a:r>
            <a:r>
              <a:rPr sz="1750" spc="-20" dirty="0">
                <a:solidFill>
                  <a:srgbClr val="05073B"/>
                </a:solidFill>
                <a:latin typeface="Microsoft YaHei"/>
                <a:cs typeface="Microsoft YaHei"/>
              </a:rPr>
              <a:t>：减速</a:t>
            </a:r>
            <a:endParaRPr sz="1750">
              <a:latin typeface="Microsoft YaHei"/>
              <a:cs typeface="Microsoft YaHei"/>
            </a:endParaRPr>
          </a:p>
        </p:txBody>
      </p:sp>
      <p:sp>
        <p:nvSpPr>
          <p:cNvPr id="5" name="object 5"/>
          <p:cNvSpPr txBox="1"/>
          <p:nvPr/>
        </p:nvSpPr>
        <p:spPr>
          <a:xfrm>
            <a:off x="3013099" y="4793947"/>
            <a:ext cx="1584325" cy="292735"/>
          </a:xfrm>
          <a:prstGeom prst="rect">
            <a:avLst/>
          </a:prstGeom>
        </p:spPr>
        <p:txBody>
          <a:bodyPr vert="horz" wrap="square" lIns="0" tIns="12700" rIns="0" bIns="0" rtlCol="0">
            <a:spAutoFit/>
          </a:bodyPr>
          <a:lstStyle/>
          <a:p>
            <a:pPr marL="12700">
              <a:lnSpc>
                <a:spcPct val="100000"/>
              </a:lnSpc>
              <a:spcBef>
                <a:spcPts val="100"/>
              </a:spcBef>
            </a:pPr>
            <a:r>
              <a:rPr sz="1750" spc="-5" dirty="0">
                <a:solidFill>
                  <a:srgbClr val="05073B"/>
                </a:solidFill>
                <a:latin typeface="Microsoft YaHei"/>
                <a:cs typeface="Microsoft YaHei"/>
              </a:rPr>
              <a:t>传动比</a:t>
            </a:r>
            <a:r>
              <a:rPr sz="1750" spc="-10" dirty="0">
                <a:solidFill>
                  <a:srgbClr val="05073B"/>
                </a:solidFill>
                <a:latin typeface="Calibri"/>
                <a:cs typeface="Calibri"/>
              </a:rPr>
              <a:t>&lt;1</a:t>
            </a:r>
            <a:r>
              <a:rPr sz="1750" spc="-20" dirty="0">
                <a:solidFill>
                  <a:srgbClr val="05073B"/>
                </a:solidFill>
                <a:latin typeface="Microsoft YaHei"/>
                <a:cs typeface="Microsoft YaHei"/>
              </a:rPr>
              <a:t>：加速</a:t>
            </a:r>
            <a:endParaRPr sz="1750">
              <a:latin typeface="Microsoft YaHei"/>
              <a:cs typeface="Microsoft YaHei"/>
            </a:endParaRPr>
          </a:p>
        </p:txBody>
      </p:sp>
      <p:sp>
        <p:nvSpPr>
          <p:cNvPr id="6" name="object 6"/>
          <p:cNvSpPr txBox="1"/>
          <p:nvPr/>
        </p:nvSpPr>
        <p:spPr>
          <a:xfrm>
            <a:off x="378963" y="2885933"/>
            <a:ext cx="6772275" cy="1452245"/>
          </a:xfrm>
          <a:prstGeom prst="rect">
            <a:avLst/>
          </a:prstGeom>
        </p:spPr>
        <p:txBody>
          <a:bodyPr vert="horz" wrap="square" lIns="0" tIns="25400" rIns="0" bIns="0" rtlCol="0">
            <a:spAutoFit/>
          </a:bodyPr>
          <a:lstStyle/>
          <a:p>
            <a:pPr marL="83820" marR="5080">
              <a:lnSpc>
                <a:spcPts val="2060"/>
              </a:lnSpc>
              <a:spcBef>
                <a:spcPts val="200"/>
              </a:spcBef>
            </a:pPr>
            <a:r>
              <a:rPr sz="1750" spc="-5" dirty="0">
                <a:solidFill>
                  <a:srgbClr val="05073B"/>
                </a:solidFill>
                <a:latin typeface="Microsoft YaHei"/>
                <a:cs typeface="Microsoft YaHei"/>
              </a:rPr>
              <a:t>齿轮传动的主要特点是具有可变的传动比，即输入轴和输出轴之间的转速和转矩之比可以改变。</a:t>
            </a:r>
            <a:endParaRPr sz="1750">
              <a:latin typeface="Microsoft YaHei"/>
              <a:cs typeface="Microsoft YaHei"/>
            </a:endParaRPr>
          </a:p>
          <a:p>
            <a:pPr marL="471170">
              <a:lnSpc>
                <a:spcPct val="100000"/>
              </a:lnSpc>
              <a:spcBef>
                <a:spcPts val="2810"/>
              </a:spcBef>
            </a:pPr>
            <a:r>
              <a:rPr sz="1750" spc="130" dirty="0">
                <a:solidFill>
                  <a:srgbClr val="05073B"/>
                </a:solidFill>
                <a:latin typeface="Microsoft YaHei"/>
                <a:cs typeface="Microsoft YaHei"/>
              </a:rPr>
              <a:t>传动比</a:t>
            </a:r>
            <a:r>
              <a:rPr sz="1750" spc="-10" dirty="0">
                <a:solidFill>
                  <a:srgbClr val="05073B"/>
                </a:solidFill>
                <a:latin typeface="Calibri"/>
                <a:cs typeface="Calibri"/>
              </a:rPr>
              <a:t>i=Z2/Z1=n1/n2</a:t>
            </a:r>
            <a:endParaRPr sz="1750">
              <a:latin typeface="Calibri"/>
              <a:cs typeface="Calibri"/>
            </a:endParaRPr>
          </a:p>
          <a:p>
            <a:pPr marL="12700">
              <a:lnSpc>
                <a:spcPct val="100000"/>
              </a:lnSpc>
              <a:spcBef>
                <a:spcPts val="5"/>
              </a:spcBef>
            </a:pPr>
            <a:r>
              <a:rPr sz="1750" dirty="0">
                <a:solidFill>
                  <a:srgbClr val="05073B"/>
                </a:solidFill>
                <a:latin typeface="Microsoft YaHei"/>
                <a:cs typeface="Microsoft YaHei"/>
              </a:rPr>
              <a:t>（其中</a:t>
            </a:r>
            <a:r>
              <a:rPr sz="1750" dirty="0">
                <a:solidFill>
                  <a:srgbClr val="05073B"/>
                </a:solidFill>
                <a:latin typeface="Calibri"/>
                <a:cs typeface="Calibri"/>
              </a:rPr>
              <a:t>1</a:t>
            </a:r>
            <a:r>
              <a:rPr sz="1750" spc="-5" dirty="0">
                <a:solidFill>
                  <a:srgbClr val="05073B"/>
                </a:solidFill>
                <a:latin typeface="Microsoft YaHei"/>
                <a:cs typeface="Microsoft YaHei"/>
              </a:rPr>
              <a:t>为主动轮，</a:t>
            </a:r>
            <a:r>
              <a:rPr sz="1750" spc="-10" dirty="0">
                <a:solidFill>
                  <a:srgbClr val="05073B"/>
                </a:solidFill>
                <a:latin typeface="Calibri"/>
                <a:cs typeface="Calibri"/>
              </a:rPr>
              <a:t>2</a:t>
            </a:r>
            <a:r>
              <a:rPr sz="1750" dirty="0">
                <a:solidFill>
                  <a:srgbClr val="05073B"/>
                </a:solidFill>
                <a:latin typeface="Microsoft YaHei"/>
                <a:cs typeface="Microsoft YaHei"/>
              </a:rPr>
              <a:t>为从动轮</a:t>
            </a:r>
            <a:r>
              <a:rPr sz="1750" spc="-50" dirty="0">
                <a:solidFill>
                  <a:srgbClr val="05073B"/>
                </a:solidFill>
                <a:latin typeface="Microsoft YaHei"/>
                <a:cs typeface="Microsoft YaHei"/>
              </a:rPr>
              <a:t>）</a:t>
            </a:r>
            <a:endParaRPr sz="1750">
              <a:latin typeface="Microsoft YaHei"/>
              <a:cs typeface="Microsoft YaHei"/>
            </a:endParaRPr>
          </a:p>
        </p:txBody>
      </p:sp>
      <p:grpSp>
        <p:nvGrpSpPr>
          <p:cNvPr id="7" name="object 7"/>
          <p:cNvGrpSpPr/>
          <p:nvPr/>
        </p:nvGrpSpPr>
        <p:grpSpPr>
          <a:xfrm>
            <a:off x="4732020" y="1961388"/>
            <a:ext cx="5960745" cy="4569460"/>
            <a:chOff x="4732020" y="1961388"/>
            <a:chExt cx="5960745" cy="4569460"/>
          </a:xfrm>
        </p:grpSpPr>
        <p:pic>
          <p:nvPicPr>
            <p:cNvPr id="8" name="object 8"/>
            <p:cNvPicPr/>
            <p:nvPr/>
          </p:nvPicPr>
          <p:blipFill>
            <a:blip r:embed="rId3" cstate="print"/>
            <a:stretch>
              <a:fillRect/>
            </a:stretch>
          </p:blipFill>
          <p:spPr>
            <a:xfrm>
              <a:off x="4732020" y="3781044"/>
              <a:ext cx="3015996" cy="2749295"/>
            </a:xfrm>
            <a:prstGeom prst="rect">
              <a:avLst/>
            </a:prstGeom>
          </p:spPr>
        </p:pic>
        <p:pic>
          <p:nvPicPr>
            <p:cNvPr id="9" name="object 9"/>
            <p:cNvPicPr/>
            <p:nvPr/>
          </p:nvPicPr>
          <p:blipFill>
            <a:blip r:embed="rId4" cstate="print"/>
            <a:stretch>
              <a:fillRect/>
            </a:stretch>
          </p:blipFill>
          <p:spPr>
            <a:xfrm>
              <a:off x="7178039" y="1961388"/>
              <a:ext cx="3514344" cy="3134867"/>
            </a:xfrm>
            <a:prstGeom prst="rect">
              <a:avLst/>
            </a:prstGeom>
          </p:spPr>
        </p:pic>
      </p:grpSp>
      <p:sp>
        <p:nvSpPr>
          <p:cNvPr id="10" name="object 10"/>
          <p:cNvSpPr txBox="1"/>
          <p:nvPr/>
        </p:nvSpPr>
        <p:spPr>
          <a:xfrm>
            <a:off x="677634" y="5636789"/>
            <a:ext cx="2230755" cy="504825"/>
          </a:xfrm>
          <a:prstGeom prst="rect">
            <a:avLst/>
          </a:prstGeom>
        </p:spPr>
        <p:txBody>
          <a:bodyPr vert="horz" wrap="square" lIns="0" tIns="15240" rIns="0" bIns="0" rtlCol="0">
            <a:spAutoFit/>
          </a:bodyPr>
          <a:lstStyle/>
          <a:p>
            <a:pPr marL="12700" marR="5080">
              <a:lnSpc>
                <a:spcPct val="100600"/>
              </a:lnSpc>
              <a:spcBef>
                <a:spcPts val="120"/>
              </a:spcBef>
            </a:pPr>
            <a:r>
              <a:rPr sz="1550" spc="-5" dirty="0">
                <a:latin typeface="Microsoft YaHei"/>
                <a:cs typeface="Microsoft YaHei"/>
              </a:rPr>
              <a:t>减速装置可以增大扭矩，</a:t>
            </a:r>
            <a:r>
              <a:rPr sz="1550" spc="-10" dirty="0">
                <a:latin typeface="Microsoft YaHei"/>
                <a:cs typeface="Microsoft YaHei"/>
              </a:rPr>
              <a:t>增速装置减小扭矩</a:t>
            </a:r>
            <a:endParaRPr sz="1550">
              <a:latin typeface="Microsoft YaHei"/>
              <a:cs typeface="Microsoft YaHe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040027"/>
            <a:ext cx="381889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20" dirty="0"/>
              <a:t>——减速箱</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1783079" y="2830068"/>
            <a:ext cx="6629400" cy="3707891"/>
          </a:xfrm>
          <a:prstGeom prst="rect">
            <a:avLst/>
          </a:prstGeom>
        </p:spPr>
      </p:pic>
      <p:sp>
        <p:nvSpPr>
          <p:cNvPr id="5" name="object 5"/>
          <p:cNvSpPr txBox="1"/>
          <p:nvPr/>
        </p:nvSpPr>
        <p:spPr>
          <a:xfrm>
            <a:off x="6197668" y="2180360"/>
            <a:ext cx="4189095" cy="585470"/>
          </a:xfrm>
          <a:prstGeom prst="rect">
            <a:avLst/>
          </a:prstGeom>
        </p:spPr>
        <p:txBody>
          <a:bodyPr vert="horz" wrap="square" lIns="0" tIns="11430" rIns="0" bIns="0" rtlCol="0">
            <a:spAutoFit/>
          </a:bodyPr>
          <a:lstStyle/>
          <a:p>
            <a:pPr marL="12700" marR="5080">
              <a:lnSpc>
                <a:spcPct val="102099"/>
              </a:lnSpc>
              <a:spcBef>
                <a:spcPts val="90"/>
              </a:spcBef>
            </a:pPr>
            <a:r>
              <a:rPr sz="1200" spc="-5" dirty="0">
                <a:solidFill>
                  <a:srgbClr val="1C5D97"/>
                </a:solidFill>
                <a:latin typeface="Microsoft YaHei"/>
                <a:cs typeface="Microsoft YaHei"/>
              </a:rPr>
              <a:t>【双组行星齿轮减速箱工作原理】</a:t>
            </a:r>
            <a:r>
              <a:rPr sz="1200" spc="-50" dirty="0">
                <a:solidFill>
                  <a:srgbClr val="1C5D97"/>
                </a:solidFill>
                <a:latin typeface="Microsoft YaHei"/>
                <a:cs typeface="Microsoft YaHei"/>
              </a:rPr>
              <a:t> </a:t>
            </a:r>
            <a:r>
              <a:rPr sz="1200" spc="-10" dirty="0">
                <a:solidFill>
                  <a:srgbClr val="1C5D97"/>
                </a:solidFill>
                <a:latin typeface="Calibri"/>
                <a:cs typeface="Calibri"/>
              </a:rPr>
              <a:t>https://</a:t>
            </a:r>
            <a:r>
              <a:rPr sz="1200" spc="-10" dirty="0">
                <a:solidFill>
                  <a:srgbClr val="1C5D97"/>
                </a:solidFill>
                <a:latin typeface="Calibri"/>
                <a:cs typeface="Calibri"/>
                <a:hlinkClick r:id="rId4"/>
              </a:rPr>
              <a:t>www.bilibili.com/video/BV12tDDYWEAK/?share_source=c</a:t>
            </a:r>
            <a:r>
              <a:rPr sz="1200" spc="-10" dirty="0">
                <a:solidFill>
                  <a:srgbClr val="1C5D97"/>
                </a:solidFill>
                <a:latin typeface="Calibri"/>
                <a:cs typeface="Calibri"/>
              </a:rPr>
              <a:t> opy_web&amp;vd_source=230d4e2a953803e80721ff5782d70109</a:t>
            </a:r>
            <a:endParaRPr sz="12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040027"/>
            <a:ext cx="475615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15" dirty="0"/>
              <a:t>——齿轮加工工艺</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7708392" y="2231136"/>
            <a:ext cx="2705100" cy="3898391"/>
          </a:xfrm>
          <a:prstGeom prst="rect">
            <a:avLst/>
          </a:prstGeom>
        </p:spPr>
      </p:pic>
      <p:pic>
        <p:nvPicPr>
          <p:cNvPr id="5" name="object 5"/>
          <p:cNvPicPr/>
          <p:nvPr/>
        </p:nvPicPr>
        <p:blipFill>
          <a:blip r:embed="rId4" cstate="print"/>
          <a:stretch>
            <a:fillRect/>
          </a:stretch>
        </p:blipFill>
        <p:spPr>
          <a:xfrm>
            <a:off x="3445764" y="4369308"/>
            <a:ext cx="4128516" cy="2310383"/>
          </a:xfrm>
          <a:prstGeom prst="rect">
            <a:avLst/>
          </a:prstGeom>
        </p:spPr>
      </p:pic>
      <p:sp>
        <p:nvSpPr>
          <p:cNvPr id="6" name="object 6"/>
          <p:cNvSpPr txBox="1"/>
          <p:nvPr/>
        </p:nvSpPr>
        <p:spPr>
          <a:xfrm>
            <a:off x="417040" y="2797556"/>
            <a:ext cx="5907405" cy="3147695"/>
          </a:xfrm>
          <a:prstGeom prst="rect">
            <a:avLst/>
          </a:prstGeom>
        </p:spPr>
        <p:txBody>
          <a:bodyPr vert="horz" wrap="square" lIns="0" tIns="16510" rIns="0" bIns="0" rtlCol="0">
            <a:spAutoFit/>
          </a:bodyPr>
          <a:lstStyle/>
          <a:p>
            <a:pPr marL="326390">
              <a:lnSpc>
                <a:spcPct val="100000"/>
              </a:lnSpc>
              <a:spcBef>
                <a:spcPts val="130"/>
              </a:spcBef>
            </a:pPr>
            <a:r>
              <a:rPr sz="1550" dirty="0">
                <a:latin typeface="Calibri"/>
                <a:cs typeface="Calibri"/>
              </a:rPr>
              <a:t>1.3D</a:t>
            </a:r>
            <a:r>
              <a:rPr sz="1550" spc="-5" dirty="0">
                <a:latin typeface="Microsoft YaHei"/>
                <a:cs typeface="Microsoft YaHei"/>
              </a:rPr>
              <a:t>打印：强度、精度较低，只能用在要求很低的部位</a:t>
            </a:r>
            <a:endParaRPr sz="1550">
              <a:latin typeface="Microsoft YaHei"/>
              <a:cs typeface="Microsoft YaHei"/>
            </a:endParaRPr>
          </a:p>
          <a:p>
            <a:pPr marL="478155" indent="-152400">
              <a:lnSpc>
                <a:spcPct val="100000"/>
              </a:lnSpc>
              <a:spcBef>
                <a:spcPts val="40"/>
              </a:spcBef>
              <a:buSzPct val="93548"/>
              <a:buFont typeface="Calibri"/>
              <a:buAutoNum type="arabicPeriod" startAt="2"/>
              <a:tabLst>
                <a:tab pos="478155" algn="l"/>
              </a:tabLst>
            </a:pPr>
            <a:r>
              <a:rPr sz="1550" dirty="0">
                <a:latin typeface="Microsoft YaHei"/>
                <a:cs typeface="Microsoft YaHei"/>
              </a:rPr>
              <a:t>玻纤板</a:t>
            </a:r>
            <a:r>
              <a:rPr sz="1550" dirty="0">
                <a:latin typeface="Calibri"/>
                <a:cs typeface="Calibri"/>
              </a:rPr>
              <a:t>/</a:t>
            </a:r>
            <a:r>
              <a:rPr sz="1550" spc="-5" dirty="0">
                <a:latin typeface="Microsoft YaHei"/>
                <a:cs typeface="Microsoft YaHei"/>
              </a:rPr>
              <a:t>碳板：精度不高，但成本较低，是最常用的使用方法</a:t>
            </a:r>
            <a:endParaRPr sz="1550">
              <a:latin typeface="Microsoft YaHei"/>
              <a:cs typeface="Microsoft YaHei"/>
            </a:endParaRPr>
          </a:p>
          <a:p>
            <a:pPr marL="474345" indent="-152400">
              <a:lnSpc>
                <a:spcPct val="100000"/>
              </a:lnSpc>
              <a:spcBef>
                <a:spcPts val="20"/>
              </a:spcBef>
              <a:buSzPct val="93548"/>
              <a:buAutoNum type="arabicPeriod" startAt="2"/>
              <a:tabLst>
                <a:tab pos="474345" algn="l"/>
              </a:tabLst>
            </a:pPr>
            <a:r>
              <a:rPr sz="1550" spc="-20" dirty="0">
                <a:latin typeface="Calibri"/>
                <a:cs typeface="Calibri"/>
              </a:rPr>
              <a:t>CNC</a:t>
            </a:r>
            <a:r>
              <a:rPr sz="1550" spc="-20" dirty="0">
                <a:latin typeface="Microsoft YaHei"/>
                <a:cs typeface="Microsoft YaHei"/>
              </a:rPr>
              <a:t>：</a:t>
            </a:r>
            <a:endParaRPr sz="1550">
              <a:latin typeface="Microsoft YaHei"/>
              <a:cs typeface="Microsoft YaHei"/>
            </a:endParaRPr>
          </a:p>
          <a:p>
            <a:pPr marL="478155" indent="-152400">
              <a:lnSpc>
                <a:spcPct val="100000"/>
              </a:lnSpc>
              <a:spcBef>
                <a:spcPts val="40"/>
              </a:spcBef>
              <a:buSzPct val="93548"/>
              <a:buFont typeface="Calibri"/>
              <a:buAutoNum type="arabicPeriod" startAt="2"/>
              <a:tabLst>
                <a:tab pos="478155" algn="l"/>
              </a:tabLst>
            </a:pPr>
            <a:r>
              <a:rPr sz="1550" spc="-15" dirty="0">
                <a:latin typeface="Microsoft YaHei"/>
                <a:cs typeface="Microsoft YaHei"/>
              </a:rPr>
              <a:t>仿形法：</a:t>
            </a:r>
            <a:endParaRPr sz="1550">
              <a:latin typeface="Microsoft YaHei"/>
              <a:cs typeface="Microsoft YaHei"/>
            </a:endParaRPr>
          </a:p>
          <a:p>
            <a:pPr marL="478155" indent="-152400">
              <a:lnSpc>
                <a:spcPct val="100000"/>
              </a:lnSpc>
              <a:spcBef>
                <a:spcPts val="35"/>
              </a:spcBef>
              <a:buSzPct val="93548"/>
              <a:buFont typeface="Calibri"/>
              <a:buAutoNum type="arabicPeriod" startAt="2"/>
              <a:tabLst>
                <a:tab pos="478155" algn="l"/>
              </a:tabLst>
            </a:pPr>
            <a:r>
              <a:rPr sz="1550" spc="-15" dirty="0">
                <a:latin typeface="Microsoft YaHei"/>
                <a:cs typeface="Microsoft YaHei"/>
              </a:rPr>
              <a:t>范成法：</a:t>
            </a:r>
            <a:endParaRPr sz="1550">
              <a:latin typeface="Microsoft YaHei"/>
              <a:cs typeface="Microsoft YaHei"/>
            </a:endParaRPr>
          </a:p>
          <a:p>
            <a:pPr marL="478155" indent="-152400">
              <a:lnSpc>
                <a:spcPct val="100000"/>
              </a:lnSpc>
              <a:spcBef>
                <a:spcPts val="35"/>
              </a:spcBef>
              <a:buSzPct val="93548"/>
              <a:buFont typeface="Calibri"/>
              <a:buAutoNum type="arabicPeriod" startAt="2"/>
              <a:tabLst>
                <a:tab pos="478155" algn="l"/>
              </a:tabLst>
            </a:pPr>
            <a:r>
              <a:rPr sz="1550" spc="-5" dirty="0">
                <a:latin typeface="Microsoft YaHei"/>
                <a:cs typeface="Microsoft YaHei"/>
              </a:rPr>
              <a:t>有些参数的齿轮淘宝中有量产的标准件，无需定制，价格较低</a:t>
            </a:r>
            <a:endParaRPr sz="1550">
              <a:latin typeface="Microsoft YaHei"/>
              <a:cs typeface="Microsoft YaHei"/>
            </a:endParaRPr>
          </a:p>
          <a:p>
            <a:pPr>
              <a:lnSpc>
                <a:spcPct val="100000"/>
              </a:lnSpc>
              <a:spcBef>
                <a:spcPts val="260"/>
              </a:spcBef>
            </a:pPr>
            <a:endParaRPr sz="1550">
              <a:latin typeface="Microsoft YaHei"/>
              <a:cs typeface="Microsoft YaHei"/>
            </a:endParaRPr>
          </a:p>
          <a:p>
            <a:pPr marL="12700">
              <a:lnSpc>
                <a:spcPct val="100000"/>
              </a:lnSpc>
              <a:spcBef>
                <a:spcPts val="5"/>
              </a:spcBef>
            </a:pPr>
            <a:r>
              <a:rPr sz="1550" spc="-10" dirty="0">
                <a:latin typeface="Microsoft YaHei"/>
                <a:cs typeface="Microsoft YaHei"/>
              </a:rPr>
              <a:t>常用材质：</a:t>
            </a:r>
            <a:endParaRPr sz="1550">
              <a:latin typeface="Microsoft YaHei"/>
              <a:cs typeface="Microsoft YaHei"/>
            </a:endParaRPr>
          </a:p>
          <a:p>
            <a:pPr marL="449580" marR="4845685">
              <a:lnSpc>
                <a:spcPct val="101600"/>
              </a:lnSpc>
              <a:spcBef>
                <a:spcPts val="665"/>
              </a:spcBef>
            </a:pPr>
            <a:r>
              <a:rPr sz="1550" spc="-25" dirty="0">
                <a:latin typeface="Microsoft YaHei"/>
                <a:cs typeface="Microsoft YaHei"/>
              </a:rPr>
              <a:t>板材</a:t>
            </a:r>
            <a:r>
              <a:rPr sz="1550" spc="-50" dirty="0">
                <a:latin typeface="Microsoft YaHei"/>
                <a:cs typeface="Microsoft YaHei"/>
              </a:rPr>
              <a:t> </a:t>
            </a:r>
            <a:r>
              <a:rPr sz="1550" spc="-20" dirty="0">
                <a:latin typeface="Microsoft YaHei"/>
                <a:cs typeface="Microsoft YaHei"/>
              </a:rPr>
              <a:t>铝合金</a:t>
            </a:r>
            <a:r>
              <a:rPr sz="1550" spc="-50" dirty="0">
                <a:latin typeface="Microsoft YaHei"/>
                <a:cs typeface="Microsoft YaHei"/>
              </a:rPr>
              <a:t> </a:t>
            </a:r>
            <a:r>
              <a:rPr sz="1550" dirty="0">
                <a:latin typeface="Calibri"/>
                <a:cs typeface="Calibri"/>
              </a:rPr>
              <a:t>45</a:t>
            </a:r>
            <a:r>
              <a:rPr sz="1550" spc="-50" dirty="0">
                <a:latin typeface="Microsoft YaHei"/>
                <a:cs typeface="Microsoft YaHei"/>
              </a:rPr>
              <a:t>钢</a:t>
            </a:r>
            <a:endParaRPr sz="1550">
              <a:latin typeface="Microsoft YaHei"/>
              <a:cs typeface="Microsoft YaHei"/>
            </a:endParaRPr>
          </a:p>
          <a:p>
            <a:pPr marL="449580">
              <a:lnSpc>
                <a:spcPct val="100000"/>
              </a:lnSpc>
              <a:spcBef>
                <a:spcPts val="35"/>
              </a:spcBef>
            </a:pPr>
            <a:r>
              <a:rPr sz="1550" dirty="0">
                <a:latin typeface="Calibri"/>
                <a:cs typeface="Calibri"/>
              </a:rPr>
              <a:t>Pom</a:t>
            </a:r>
            <a:r>
              <a:rPr sz="1550" spc="-25" dirty="0">
                <a:latin typeface="Microsoft YaHei"/>
                <a:cs typeface="Microsoft YaHei"/>
              </a:rPr>
              <a:t>材料</a:t>
            </a:r>
            <a:endParaRPr sz="1550">
              <a:latin typeface="Microsoft YaHei"/>
              <a:cs typeface="Microsoft YaHe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040027"/>
            <a:ext cx="631190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25" dirty="0"/>
              <a:t>——什么时候选择齿轮传动？</a:t>
            </a:r>
            <a:endParaRPr sz="2450"/>
          </a:p>
        </p:txBody>
      </p:sp>
      <p:grpSp>
        <p:nvGrpSpPr>
          <p:cNvPr id="3" name="object 3"/>
          <p:cNvGrpSpPr/>
          <p:nvPr/>
        </p:nvGrpSpPr>
        <p:grpSpPr>
          <a:xfrm>
            <a:off x="0" y="772668"/>
            <a:ext cx="10692765" cy="5977255"/>
            <a:chOff x="0" y="772668"/>
            <a:chExt cx="10692765" cy="5977255"/>
          </a:xfrm>
        </p:grpSpPr>
        <p:pic>
          <p:nvPicPr>
            <p:cNvPr id="4" name="object 4"/>
            <p:cNvPicPr/>
            <p:nvPr/>
          </p:nvPicPr>
          <p:blipFill>
            <a:blip r:embed="rId2" cstate="print"/>
            <a:stretch>
              <a:fillRect/>
            </a:stretch>
          </p:blipFill>
          <p:spPr>
            <a:xfrm>
              <a:off x="0" y="772668"/>
              <a:ext cx="10692384" cy="1075943"/>
            </a:xfrm>
            <a:prstGeom prst="rect">
              <a:avLst/>
            </a:prstGeom>
          </p:spPr>
        </p:pic>
        <p:pic>
          <p:nvPicPr>
            <p:cNvPr id="5" name="object 5"/>
            <p:cNvPicPr/>
            <p:nvPr/>
          </p:nvPicPr>
          <p:blipFill>
            <a:blip r:embed="rId3" cstate="print"/>
            <a:stretch>
              <a:fillRect/>
            </a:stretch>
          </p:blipFill>
          <p:spPr>
            <a:xfrm>
              <a:off x="7437119" y="1392936"/>
              <a:ext cx="3037332" cy="5356860"/>
            </a:xfrm>
            <a:prstGeom prst="rect">
              <a:avLst/>
            </a:prstGeom>
          </p:spPr>
        </p:pic>
      </p:grpSp>
      <p:sp>
        <p:nvSpPr>
          <p:cNvPr id="6" name="object 6"/>
          <p:cNvSpPr txBox="1"/>
          <p:nvPr/>
        </p:nvSpPr>
        <p:spPr>
          <a:xfrm>
            <a:off x="391125" y="3515336"/>
            <a:ext cx="2726055" cy="1307465"/>
          </a:xfrm>
          <a:prstGeom prst="rect">
            <a:avLst/>
          </a:prstGeom>
        </p:spPr>
        <p:txBody>
          <a:bodyPr vert="horz" wrap="square" lIns="0" tIns="12700" rIns="0" bIns="0" rtlCol="0">
            <a:spAutoFit/>
          </a:bodyPr>
          <a:lstStyle/>
          <a:p>
            <a:pPr marL="312420" indent="-299720">
              <a:lnSpc>
                <a:spcPct val="100000"/>
              </a:lnSpc>
              <a:spcBef>
                <a:spcPts val="100"/>
              </a:spcBef>
              <a:buFont typeface="Wingdings"/>
              <a:buChar char=""/>
              <a:tabLst>
                <a:tab pos="312420" algn="l"/>
              </a:tabLst>
            </a:pPr>
            <a:r>
              <a:rPr sz="2100" spc="-10" dirty="0">
                <a:latin typeface="Microsoft YaHei"/>
                <a:cs typeface="Microsoft YaHei"/>
              </a:rPr>
              <a:t>传动比要求精确</a:t>
            </a:r>
            <a:endParaRPr sz="2100">
              <a:latin typeface="Microsoft YaHei"/>
              <a:cs typeface="Microsoft YaHei"/>
            </a:endParaRPr>
          </a:p>
          <a:p>
            <a:pPr marL="312420" marR="5080" indent="-300355">
              <a:lnSpc>
                <a:spcPts val="2480"/>
              </a:lnSpc>
              <a:spcBef>
                <a:spcPts val="2680"/>
              </a:spcBef>
              <a:buFont typeface="Wingdings"/>
              <a:buChar char=""/>
              <a:tabLst>
                <a:tab pos="312420" algn="l"/>
              </a:tabLst>
            </a:pPr>
            <a:r>
              <a:rPr sz="2100" spc="-10" dirty="0">
                <a:latin typeface="Microsoft YaHei"/>
                <a:cs typeface="Microsoft YaHei"/>
              </a:rPr>
              <a:t>间距不大，且能承受一定径向力</a:t>
            </a:r>
            <a:endParaRPr sz="2100">
              <a:latin typeface="Microsoft YaHei"/>
              <a:cs typeface="Microsoft YaHei"/>
            </a:endParaRPr>
          </a:p>
        </p:txBody>
      </p:sp>
      <p:sp>
        <p:nvSpPr>
          <p:cNvPr id="7" name="object 7"/>
          <p:cNvSpPr txBox="1"/>
          <p:nvPr/>
        </p:nvSpPr>
        <p:spPr>
          <a:xfrm>
            <a:off x="391125" y="5118657"/>
            <a:ext cx="1925955" cy="345440"/>
          </a:xfrm>
          <a:prstGeom prst="rect">
            <a:avLst/>
          </a:prstGeom>
        </p:spPr>
        <p:txBody>
          <a:bodyPr vert="horz" wrap="square" lIns="0" tIns="12700" rIns="0" bIns="0" rtlCol="0">
            <a:spAutoFit/>
          </a:bodyPr>
          <a:lstStyle/>
          <a:p>
            <a:pPr marL="312420" indent="-299720">
              <a:lnSpc>
                <a:spcPct val="100000"/>
              </a:lnSpc>
              <a:spcBef>
                <a:spcPts val="100"/>
              </a:spcBef>
              <a:buFont typeface="Wingdings"/>
              <a:buChar char=""/>
              <a:tabLst>
                <a:tab pos="312420" algn="l"/>
              </a:tabLst>
            </a:pPr>
            <a:r>
              <a:rPr sz="2100" spc="-10" dirty="0">
                <a:latin typeface="Microsoft YaHei"/>
                <a:cs typeface="Microsoft YaHei"/>
              </a:rPr>
              <a:t>传递功率较大</a:t>
            </a:r>
            <a:endParaRPr sz="2100">
              <a:latin typeface="Microsoft YaHei"/>
              <a:cs typeface="Microsoft YaHei"/>
            </a:endParaRPr>
          </a:p>
        </p:txBody>
      </p:sp>
      <p:sp>
        <p:nvSpPr>
          <p:cNvPr id="8" name="object 8"/>
          <p:cNvSpPr txBox="1"/>
          <p:nvPr/>
        </p:nvSpPr>
        <p:spPr>
          <a:xfrm>
            <a:off x="3410194" y="2916410"/>
            <a:ext cx="2837815" cy="267335"/>
          </a:xfrm>
          <a:prstGeom prst="rect">
            <a:avLst/>
          </a:prstGeom>
        </p:spPr>
        <p:txBody>
          <a:bodyPr vert="horz" wrap="square" lIns="0" tIns="16510" rIns="0" bIns="0" rtlCol="0">
            <a:spAutoFit/>
          </a:bodyPr>
          <a:lstStyle/>
          <a:p>
            <a:pPr marL="12700">
              <a:lnSpc>
                <a:spcPct val="100000"/>
              </a:lnSpc>
              <a:spcBef>
                <a:spcPts val="130"/>
              </a:spcBef>
            </a:pPr>
            <a:r>
              <a:rPr sz="1550" spc="-5" dirty="0">
                <a:latin typeface="Microsoft YaHei"/>
                <a:cs typeface="Microsoft YaHei"/>
              </a:rPr>
              <a:t>要注意一点：齿轮本身有回程差</a:t>
            </a:r>
            <a:endParaRPr sz="1550">
              <a:latin typeface="Microsoft YaHei"/>
              <a:cs typeface="Microsoft YaHei"/>
            </a:endParaRPr>
          </a:p>
        </p:txBody>
      </p:sp>
      <p:sp>
        <p:nvSpPr>
          <p:cNvPr id="9" name="object 9"/>
          <p:cNvSpPr txBox="1"/>
          <p:nvPr/>
        </p:nvSpPr>
        <p:spPr>
          <a:xfrm>
            <a:off x="3410194" y="3401059"/>
            <a:ext cx="3831590" cy="503555"/>
          </a:xfrm>
          <a:prstGeom prst="rect">
            <a:avLst/>
          </a:prstGeom>
        </p:spPr>
        <p:txBody>
          <a:bodyPr vert="horz" wrap="square" lIns="0" tIns="16510" rIns="0" bIns="0" rtlCol="0">
            <a:spAutoFit/>
          </a:bodyPr>
          <a:lstStyle/>
          <a:p>
            <a:pPr marL="12700" marR="5080">
              <a:lnSpc>
                <a:spcPct val="100000"/>
              </a:lnSpc>
              <a:spcBef>
                <a:spcPts val="130"/>
              </a:spcBef>
            </a:pPr>
            <a:r>
              <a:rPr sz="1550" spc="20" dirty="0">
                <a:solidFill>
                  <a:srgbClr val="181A1F"/>
                </a:solidFill>
                <a:latin typeface="Microsoft YaHei"/>
                <a:cs typeface="Microsoft YaHei"/>
              </a:rPr>
              <a:t>在需要高精度定位的系统中，</a:t>
            </a:r>
            <a:r>
              <a:rPr sz="1550" spc="20" dirty="0">
                <a:latin typeface="Microsoft YaHei"/>
                <a:cs typeface="Microsoft YaHei"/>
              </a:rPr>
              <a:t>回程差</a:t>
            </a:r>
            <a:r>
              <a:rPr sz="1550" spc="30" dirty="0">
                <a:solidFill>
                  <a:srgbClr val="181A1F"/>
                </a:solidFill>
                <a:latin typeface="Microsoft YaHei"/>
                <a:cs typeface="Microsoft YaHei"/>
              </a:rPr>
              <a:t>会导致</a:t>
            </a:r>
            <a:r>
              <a:rPr sz="1550" spc="10" dirty="0">
                <a:solidFill>
                  <a:srgbClr val="181A1F"/>
                </a:solidFill>
                <a:latin typeface="Microsoft YaHei"/>
                <a:cs typeface="Microsoft YaHei"/>
              </a:rPr>
              <a:t>位置误差，影响机械系统的定位准确性。</a:t>
            </a:r>
            <a:endParaRPr sz="1550">
              <a:latin typeface="Microsoft YaHei"/>
              <a:cs typeface="Microsoft YaHei"/>
            </a:endParaRPr>
          </a:p>
        </p:txBody>
      </p:sp>
      <p:pic>
        <p:nvPicPr>
          <p:cNvPr id="10" name="object 10"/>
          <p:cNvPicPr/>
          <p:nvPr/>
        </p:nvPicPr>
        <p:blipFill>
          <a:blip r:embed="rId4" cstate="print"/>
          <a:stretch>
            <a:fillRect/>
          </a:stretch>
        </p:blipFill>
        <p:spPr>
          <a:xfrm>
            <a:off x="3493008" y="4070604"/>
            <a:ext cx="3508247" cy="2575559"/>
          </a:xfrm>
          <a:prstGeom prst="rect">
            <a:avLst/>
          </a:prstGeom>
        </p:spPr>
      </p:pic>
      <p:sp>
        <p:nvSpPr>
          <p:cNvPr id="11" name="object 11"/>
          <p:cNvSpPr txBox="1"/>
          <p:nvPr/>
        </p:nvSpPr>
        <p:spPr>
          <a:xfrm>
            <a:off x="8093431" y="5807409"/>
            <a:ext cx="2035175" cy="504825"/>
          </a:xfrm>
          <a:prstGeom prst="rect">
            <a:avLst/>
          </a:prstGeom>
        </p:spPr>
        <p:txBody>
          <a:bodyPr vert="horz" wrap="square" lIns="0" tIns="15240" rIns="0" bIns="0" rtlCol="0">
            <a:spAutoFit/>
          </a:bodyPr>
          <a:lstStyle/>
          <a:p>
            <a:pPr marL="12700" marR="5080">
              <a:lnSpc>
                <a:spcPct val="100699"/>
              </a:lnSpc>
              <a:spcBef>
                <a:spcPts val="120"/>
              </a:spcBef>
            </a:pPr>
            <a:r>
              <a:rPr sz="1550" spc="-5" dirty="0">
                <a:solidFill>
                  <a:srgbClr val="446070"/>
                </a:solidFill>
                <a:latin typeface="Microsoft YaHei"/>
                <a:cs typeface="Microsoft YaHei"/>
              </a:rPr>
              <a:t>这也是带减速箱电机精度不如直驱电机的原因</a:t>
            </a:r>
            <a:endParaRPr sz="1550">
              <a:latin typeface="Microsoft YaHei"/>
              <a:cs typeface="Microsoft YaHe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038507"/>
            <a:ext cx="5068570" cy="559435"/>
          </a:xfrm>
          <a:prstGeom prst="rect">
            <a:avLst/>
          </a:prstGeom>
        </p:spPr>
        <p:txBody>
          <a:bodyPr vert="horz" wrap="square" lIns="0" tIns="12700" rIns="0" bIns="0" rtlCol="0">
            <a:spAutoFit/>
          </a:bodyPr>
          <a:lstStyle/>
          <a:p>
            <a:pPr marL="12700">
              <a:lnSpc>
                <a:spcPct val="100000"/>
              </a:lnSpc>
              <a:spcBef>
                <a:spcPts val="100"/>
              </a:spcBef>
            </a:pPr>
            <a:r>
              <a:rPr spc="-25" dirty="0"/>
              <a:t>1</a:t>
            </a:r>
            <a:r>
              <a:rPr spc="-10" dirty="0"/>
              <a:t>.齿轮传动</a:t>
            </a:r>
            <a:r>
              <a:rPr sz="2450" spc="-15" dirty="0"/>
              <a:t>——如何消除回程差</a:t>
            </a:r>
            <a:endParaRPr sz="2450"/>
          </a:p>
        </p:txBody>
      </p:sp>
      <p:pic>
        <p:nvPicPr>
          <p:cNvPr id="3" name="object 3"/>
          <p:cNvPicPr/>
          <p:nvPr/>
        </p:nvPicPr>
        <p:blipFill>
          <a:blip r:embed="rId2" cstate="print"/>
          <a:stretch>
            <a:fillRect/>
          </a:stretch>
        </p:blipFill>
        <p:spPr>
          <a:xfrm>
            <a:off x="0" y="772668"/>
            <a:ext cx="10692384" cy="1075943"/>
          </a:xfrm>
          <a:prstGeom prst="rect">
            <a:avLst/>
          </a:prstGeom>
        </p:spPr>
      </p:pic>
      <p:pic>
        <p:nvPicPr>
          <p:cNvPr id="4" name="object 4"/>
          <p:cNvPicPr/>
          <p:nvPr/>
        </p:nvPicPr>
        <p:blipFill>
          <a:blip r:embed="rId3" cstate="print"/>
          <a:stretch>
            <a:fillRect/>
          </a:stretch>
        </p:blipFill>
        <p:spPr>
          <a:xfrm>
            <a:off x="4642103" y="3035808"/>
            <a:ext cx="5320284" cy="3029711"/>
          </a:xfrm>
          <a:prstGeom prst="rect">
            <a:avLst/>
          </a:prstGeom>
        </p:spPr>
      </p:pic>
      <p:sp>
        <p:nvSpPr>
          <p:cNvPr id="5" name="object 5"/>
          <p:cNvSpPr txBox="1"/>
          <p:nvPr/>
        </p:nvSpPr>
        <p:spPr>
          <a:xfrm>
            <a:off x="735588" y="3743967"/>
            <a:ext cx="3238500" cy="1228725"/>
          </a:xfrm>
          <a:prstGeom prst="rect">
            <a:avLst/>
          </a:prstGeom>
        </p:spPr>
        <p:txBody>
          <a:bodyPr vert="horz" wrap="square" lIns="0" tIns="16510" rIns="0" bIns="0" rtlCol="0">
            <a:spAutoFit/>
          </a:bodyPr>
          <a:lstStyle/>
          <a:p>
            <a:pPr marL="12700">
              <a:lnSpc>
                <a:spcPct val="100000"/>
              </a:lnSpc>
              <a:spcBef>
                <a:spcPts val="130"/>
              </a:spcBef>
            </a:pPr>
            <a:r>
              <a:rPr sz="1550" spc="-10" dirty="0">
                <a:latin typeface="Microsoft YaHei"/>
                <a:cs typeface="Microsoft YaHei"/>
              </a:rPr>
              <a:t>双叶片齿轮结构：</a:t>
            </a:r>
            <a:endParaRPr sz="1550">
              <a:latin typeface="Microsoft YaHei"/>
              <a:cs typeface="Microsoft YaHei"/>
            </a:endParaRPr>
          </a:p>
          <a:p>
            <a:pPr marL="12700" marR="5080" algn="just">
              <a:lnSpc>
                <a:spcPct val="101299"/>
              </a:lnSpc>
              <a:spcBef>
                <a:spcPts val="40"/>
              </a:spcBef>
            </a:pPr>
            <a:r>
              <a:rPr sz="1550" spc="-5" dirty="0">
                <a:solidFill>
                  <a:srgbClr val="181A1F"/>
                </a:solidFill>
                <a:latin typeface="Microsoft YaHei"/>
                <a:cs typeface="Microsoft YaHei"/>
              </a:rPr>
              <a:t>通过在两个方向上分别驱动齿轮，可以在一定程度上抵消回差对定位的影响。这意味着无论是正转还是反转，系统都能够更为稳定地工作。</a:t>
            </a:r>
            <a:endParaRPr sz="1550">
              <a:latin typeface="Microsoft YaHei"/>
              <a:cs typeface="Microsoft YaHe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136069"/>
            <a:ext cx="4264025" cy="559435"/>
          </a:xfrm>
          <a:prstGeom prst="rect">
            <a:avLst/>
          </a:prstGeom>
        </p:spPr>
        <p:txBody>
          <a:bodyPr vert="horz" wrap="square" lIns="0" tIns="12700" rIns="0" bIns="0" rtlCol="0">
            <a:spAutoFit/>
          </a:bodyPr>
          <a:lstStyle/>
          <a:p>
            <a:pPr marL="12700">
              <a:lnSpc>
                <a:spcPct val="100000"/>
              </a:lnSpc>
              <a:spcBef>
                <a:spcPts val="100"/>
              </a:spcBef>
            </a:pPr>
            <a:r>
              <a:rPr dirty="0"/>
              <a:t>1</a:t>
            </a:r>
            <a:r>
              <a:rPr spc="-10" dirty="0"/>
              <a:t>. 齿轮传动</a:t>
            </a:r>
            <a:r>
              <a:rPr sz="2450" spc="-20" dirty="0"/>
              <a:t>——其他类别</a:t>
            </a:r>
            <a:endParaRPr sz="2450"/>
          </a:p>
        </p:txBody>
      </p:sp>
      <p:pic>
        <p:nvPicPr>
          <p:cNvPr id="3" name="object 3"/>
          <p:cNvPicPr/>
          <p:nvPr/>
        </p:nvPicPr>
        <p:blipFill>
          <a:blip r:embed="rId2" cstate="print"/>
          <a:stretch>
            <a:fillRect/>
          </a:stretch>
        </p:blipFill>
        <p:spPr>
          <a:xfrm>
            <a:off x="0" y="772668"/>
            <a:ext cx="10692384" cy="1072895"/>
          </a:xfrm>
          <a:prstGeom prst="rect">
            <a:avLst/>
          </a:prstGeom>
        </p:spPr>
      </p:pic>
      <p:grpSp>
        <p:nvGrpSpPr>
          <p:cNvPr id="4" name="object 4"/>
          <p:cNvGrpSpPr/>
          <p:nvPr/>
        </p:nvGrpSpPr>
        <p:grpSpPr>
          <a:xfrm>
            <a:off x="2208275" y="3159251"/>
            <a:ext cx="640080" cy="1005840"/>
            <a:chOff x="2208275" y="3159251"/>
            <a:chExt cx="640080" cy="1005840"/>
          </a:xfrm>
        </p:grpSpPr>
        <p:pic>
          <p:nvPicPr>
            <p:cNvPr id="5" name="object 5"/>
            <p:cNvPicPr/>
            <p:nvPr/>
          </p:nvPicPr>
          <p:blipFill>
            <a:blip r:embed="rId3" cstate="print"/>
            <a:stretch>
              <a:fillRect/>
            </a:stretch>
          </p:blipFill>
          <p:spPr>
            <a:xfrm>
              <a:off x="2208275" y="3645408"/>
              <a:ext cx="626364" cy="519683"/>
            </a:xfrm>
            <a:prstGeom prst="rect">
              <a:avLst/>
            </a:prstGeom>
          </p:spPr>
        </p:pic>
        <p:pic>
          <p:nvPicPr>
            <p:cNvPr id="6" name="object 6"/>
            <p:cNvPicPr/>
            <p:nvPr/>
          </p:nvPicPr>
          <p:blipFill>
            <a:blip r:embed="rId4" cstate="print"/>
            <a:stretch>
              <a:fillRect/>
            </a:stretch>
          </p:blipFill>
          <p:spPr>
            <a:xfrm>
              <a:off x="2249423" y="3159251"/>
              <a:ext cx="598932" cy="469391"/>
            </a:xfrm>
            <a:prstGeom prst="rect">
              <a:avLst/>
            </a:prstGeom>
          </p:spPr>
        </p:pic>
      </p:grpSp>
      <p:pic>
        <p:nvPicPr>
          <p:cNvPr id="7" name="object 7"/>
          <p:cNvPicPr/>
          <p:nvPr/>
        </p:nvPicPr>
        <p:blipFill>
          <a:blip r:embed="rId5" cstate="print"/>
          <a:stretch>
            <a:fillRect/>
          </a:stretch>
        </p:blipFill>
        <p:spPr>
          <a:xfrm>
            <a:off x="2133600" y="4776215"/>
            <a:ext cx="594359" cy="469391"/>
          </a:xfrm>
          <a:prstGeom prst="rect">
            <a:avLst/>
          </a:prstGeom>
        </p:spPr>
      </p:pic>
      <p:pic>
        <p:nvPicPr>
          <p:cNvPr id="8" name="object 8"/>
          <p:cNvPicPr/>
          <p:nvPr/>
        </p:nvPicPr>
        <p:blipFill>
          <a:blip r:embed="rId6" cstate="print"/>
          <a:stretch>
            <a:fillRect/>
          </a:stretch>
        </p:blipFill>
        <p:spPr>
          <a:xfrm>
            <a:off x="2103120" y="5295900"/>
            <a:ext cx="627887" cy="519683"/>
          </a:xfrm>
          <a:prstGeom prst="rect">
            <a:avLst/>
          </a:prstGeom>
        </p:spPr>
      </p:pic>
      <p:sp>
        <p:nvSpPr>
          <p:cNvPr id="9" name="object 9"/>
          <p:cNvSpPr txBox="1"/>
          <p:nvPr/>
        </p:nvSpPr>
        <p:spPr>
          <a:xfrm>
            <a:off x="1381751" y="2824593"/>
            <a:ext cx="5276850" cy="3040380"/>
          </a:xfrm>
          <a:prstGeom prst="rect">
            <a:avLst/>
          </a:prstGeom>
        </p:spPr>
        <p:txBody>
          <a:bodyPr vert="horz" wrap="square" lIns="0" tIns="180340" rIns="0" bIns="0" rtlCol="0">
            <a:spAutoFit/>
          </a:bodyPr>
          <a:lstStyle/>
          <a:p>
            <a:pPr marL="1384300">
              <a:lnSpc>
                <a:spcPct val="100000"/>
              </a:lnSpc>
              <a:spcBef>
                <a:spcPts val="1420"/>
              </a:spcBef>
            </a:pPr>
            <a:r>
              <a:rPr sz="1550" b="1" dirty="0">
                <a:latin typeface="Microsoft YaHei"/>
                <a:cs typeface="Microsoft YaHei"/>
              </a:rPr>
              <a:t>直齿轮</a:t>
            </a:r>
            <a:r>
              <a:rPr sz="2100" b="1" spc="-10" dirty="0">
                <a:solidFill>
                  <a:srgbClr val="05073B"/>
                </a:solidFill>
                <a:latin typeface="Microsoft YaHei"/>
                <a:cs typeface="Microsoft YaHei"/>
              </a:rPr>
              <a:t>：</a:t>
            </a:r>
            <a:r>
              <a:rPr sz="1550" spc="-5" dirty="0">
                <a:latin typeface="Microsoft YaHei"/>
                <a:cs typeface="Microsoft YaHei"/>
              </a:rPr>
              <a:t>最常用的齿轮，易加工，成本最低</a:t>
            </a:r>
            <a:endParaRPr sz="1550">
              <a:latin typeface="Microsoft YaHei"/>
              <a:cs typeface="Microsoft YaHei"/>
            </a:endParaRPr>
          </a:p>
          <a:p>
            <a:pPr marL="12700">
              <a:lnSpc>
                <a:spcPct val="100000"/>
              </a:lnSpc>
              <a:spcBef>
                <a:spcPts val="1105"/>
              </a:spcBef>
            </a:pPr>
            <a:r>
              <a:rPr sz="1750" b="1" spc="-15" dirty="0">
                <a:latin typeface="Microsoft YaHei"/>
                <a:cs typeface="Microsoft YaHei"/>
              </a:rPr>
              <a:t>圆柱齿轮</a:t>
            </a:r>
            <a:endParaRPr sz="1750">
              <a:latin typeface="Microsoft YaHei"/>
              <a:cs typeface="Microsoft YaHei"/>
            </a:endParaRPr>
          </a:p>
          <a:p>
            <a:pPr marL="1379220">
              <a:lnSpc>
                <a:spcPct val="100000"/>
              </a:lnSpc>
              <a:spcBef>
                <a:spcPts val="1845"/>
              </a:spcBef>
            </a:pPr>
            <a:r>
              <a:rPr sz="1550" b="1" dirty="0">
                <a:latin typeface="Microsoft YaHei"/>
                <a:cs typeface="Microsoft YaHei"/>
              </a:rPr>
              <a:t>斜齿轮：</a:t>
            </a:r>
            <a:r>
              <a:rPr sz="1550" spc="-5" dirty="0">
                <a:latin typeface="Microsoft YaHei"/>
                <a:cs typeface="Microsoft YaHei"/>
              </a:rPr>
              <a:t>振动更小，传动更平稳</a:t>
            </a:r>
            <a:endParaRPr sz="1550">
              <a:latin typeface="Microsoft YaHei"/>
              <a:cs typeface="Microsoft YaHei"/>
            </a:endParaRPr>
          </a:p>
          <a:p>
            <a:pPr marL="1379220">
              <a:lnSpc>
                <a:spcPct val="100000"/>
              </a:lnSpc>
              <a:spcBef>
                <a:spcPts val="2825"/>
              </a:spcBef>
            </a:pPr>
            <a:r>
              <a:rPr sz="1550" b="1" dirty="0">
                <a:latin typeface="Microsoft YaHei"/>
                <a:cs typeface="Microsoft YaHei"/>
              </a:rPr>
              <a:t>直齿锥齿轮</a:t>
            </a:r>
            <a:r>
              <a:rPr sz="2100" b="1" dirty="0">
                <a:solidFill>
                  <a:srgbClr val="05073B"/>
                </a:solidFill>
                <a:latin typeface="Microsoft YaHei"/>
                <a:cs typeface="Microsoft YaHei"/>
              </a:rPr>
              <a:t>：</a:t>
            </a:r>
            <a:r>
              <a:rPr sz="1550" spc="-5" dirty="0">
                <a:latin typeface="Microsoft YaHei"/>
                <a:cs typeface="Microsoft YaHei"/>
              </a:rPr>
              <a:t>用于在交错轴之间传递动力</a:t>
            </a:r>
            <a:endParaRPr sz="1550">
              <a:latin typeface="Microsoft YaHei"/>
              <a:cs typeface="Microsoft YaHei"/>
            </a:endParaRPr>
          </a:p>
          <a:p>
            <a:pPr marL="96520">
              <a:lnSpc>
                <a:spcPct val="100000"/>
              </a:lnSpc>
              <a:spcBef>
                <a:spcPts val="1730"/>
              </a:spcBef>
            </a:pPr>
            <a:r>
              <a:rPr sz="1750" b="1" spc="-20" dirty="0">
                <a:latin typeface="Microsoft YaHei"/>
                <a:cs typeface="Microsoft YaHei"/>
              </a:rPr>
              <a:t>锥齿轮</a:t>
            </a:r>
            <a:endParaRPr sz="1750">
              <a:latin typeface="Microsoft YaHei"/>
              <a:cs typeface="Microsoft YaHei"/>
            </a:endParaRPr>
          </a:p>
          <a:p>
            <a:pPr marL="1315720">
              <a:lnSpc>
                <a:spcPct val="100000"/>
              </a:lnSpc>
              <a:spcBef>
                <a:spcPts val="1290"/>
              </a:spcBef>
            </a:pPr>
            <a:r>
              <a:rPr sz="1550" b="1" dirty="0">
                <a:latin typeface="Microsoft YaHei"/>
                <a:cs typeface="Microsoft YaHei"/>
              </a:rPr>
              <a:t>螺旋锥齿轮</a:t>
            </a:r>
            <a:r>
              <a:rPr sz="2100" b="1" dirty="0">
                <a:solidFill>
                  <a:srgbClr val="05073B"/>
                </a:solidFill>
                <a:latin typeface="Microsoft YaHei"/>
                <a:cs typeface="Microsoft YaHei"/>
              </a:rPr>
              <a:t>：</a:t>
            </a:r>
            <a:r>
              <a:rPr sz="1550" spc="-5" dirty="0">
                <a:latin typeface="Microsoft YaHei"/>
                <a:cs typeface="Microsoft YaHei"/>
              </a:rPr>
              <a:t>在垂直轴之间传递动力</a:t>
            </a:r>
            <a:endParaRPr sz="1550">
              <a:latin typeface="Microsoft YaHei"/>
              <a:cs typeface="Microsoft YaHei"/>
            </a:endParaRPr>
          </a:p>
        </p:txBody>
      </p:sp>
      <p:pic>
        <p:nvPicPr>
          <p:cNvPr id="10" name="object 10"/>
          <p:cNvPicPr/>
          <p:nvPr/>
        </p:nvPicPr>
        <p:blipFill>
          <a:blip r:embed="rId7" cstate="print"/>
          <a:stretch>
            <a:fillRect/>
          </a:stretch>
        </p:blipFill>
        <p:spPr>
          <a:xfrm>
            <a:off x="6825996" y="2875788"/>
            <a:ext cx="854964" cy="769619"/>
          </a:xfrm>
          <a:prstGeom prst="rect">
            <a:avLst/>
          </a:prstGeom>
        </p:spPr>
      </p:pic>
      <p:grpSp>
        <p:nvGrpSpPr>
          <p:cNvPr id="11" name="object 11"/>
          <p:cNvGrpSpPr/>
          <p:nvPr/>
        </p:nvGrpSpPr>
        <p:grpSpPr>
          <a:xfrm>
            <a:off x="6469379" y="3770376"/>
            <a:ext cx="1203960" cy="1515110"/>
            <a:chOff x="6469379" y="3770376"/>
            <a:chExt cx="1203960" cy="1515110"/>
          </a:xfrm>
        </p:grpSpPr>
        <p:pic>
          <p:nvPicPr>
            <p:cNvPr id="12" name="object 12"/>
            <p:cNvPicPr/>
            <p:nvPr/>
          </p:nvPicPr>
          <p:blipFill>
            <a:blip r:embed="rId8" cstate="print"/>
            <a:stretch>
              <a:fillRect/>
            </a:stretch>
          </p:blipFill>
          <p:spPr>
            <a:xfrm>
              <a:off x="6829044" y="3770376"/>
              <a:ext cx="844295" cy="847343"/>
            </a:xfrm>
            <a:prstGeom prst="rect">
              <a:avLst/>
            </a:prstGeom>
          </p:spPr>
        </p:pic>
        <p:pic>
          <p:nvPicPr>
            <p:cNvPr id="13" name="object 13"/>
            <p:cNvPicPr/>
            <p:nvPr/>
          </p:nvPicPr>
          <p:blipFill>
            <a:blip r:embed="rId9" cstate="print"/>
            <a:stretch>
              <a:fillRect/>
            </a:stretch>
          </p:blipFill>
          <p:spPr>
            <a:xfrm>
              <a:off x="6469379" y="4582668"/>
              <a:ext cx="903731" cy="702564"/>
            </a:xfrm>
            <a:prstGeom prst="rect">
              <a:avLst/>
            </a:prstGeom>
          </p:spPr>
        </p:pic>
      </p:grpSp>
      <p:pic>
        <p:nvPicPr>
          <p:cNvPr id="14" name="object 14"/>
          <p:cNvPicPr/>
          <p:nvPr/>
        </p:nvPicPr>
        <p:blipFill>
          <a:blip r:embed="rId10" cstate="print"/>
          <a:stretch>
            <a:fillRect/>
          </a:stretch>
        </p:blipFill>
        <p:spPr>
          <a:xfrm>
            <a:off x="6062471" y="5338571"/>
            <a:ext cx="1066800" cy="9662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136069"/>
            <a:ext cx="3951604" cy="559435"/>
          </a:xfrm>
          <a:prstGeom prst="rect">
            <a:avLst/>
          </a:prstGeom>
        </p:spPr>
        <p:txBody>
          <a:bodyPr vert="horz" wrap="square" lIns="0" tIns="12700" rIns="0" bIns="0" rtlCol="0">
            <a:spAutoFit/>
          </a:bodyPr>
          <a:lstStyle/>
          <a:p>
            <a:pPr marL="12700">
              <a:lnSpc>
                <a:spcPct val="100000"/>
              </a:lnSpc>
              <a:spcBef>
                <a:spcPts val="100"/>
              </a:spcBef>
            </a:pPr>
            <a:r>
              <a:rPr dirty="0"/>
              <a:t>1</a:t>
            </a:r>
            <a:r>
              <a:rPr spc="-10" dirty="0"/>
              <a:t>. 齿轮传动</a:t>
            </a:r>
            <a:r>
              <a:rPr sz="2450" spc="-20" dirty="0"/>
              <a:t>——斜齿轮</a:t>
            </a:r>
            <a:endParaRPr sz="2450"/>
          </a:p>
        </p:txBody>
      </p:sp>
      <p:pic>
        <p:nvPicPr>
          <p:cNvPr id="3" name="object 3"/>
          <p:cNvPicPr/>
          <p:nvPr/>
        </p:nvPicPr>
        <p:blipFill>
          <a:blip r:embed="rId2" cstate="print"/>
          <a:stretch>
            <a:fillRect/>
          </a:stretch>
        </p:blipFill>
        <p:spPr>
          <a:xfrm>
            <a:off x="0" y="772668"/>
            <a:ext cx="10692384" cy="1072895"/>
          </a:xfrm>
          <a:prstGeom prst="rect">
            <a:avLst/>
          </a:prstGeom>
        </p:spPr>
      </p:pic>
      <p:pic>
        <p:nvPicPr>
          <p:cNvPr id="4" name="object 4"/>
          <p:cNvPicPr/>
          <p:nvPr/>
        </p:nvPicPr>
        <p:blipFill>
          <a:blip r:embed="rId3" cstate="print"/>
          <a:stretch>
            <a:fillRect/>
          </a:stretch>
        </p:blipFill>
        <p:spPr>
          <a:xfrm>
            <a:off x="4102608" y="2860548"/>
            <a:ext cx="6306312" cy="3544823"/>
          </a:xfrm>
          <a:prstGeom prst="rect">
            <a:avLst/>
          </a:prstGeom>
        </p:spPr>
      </p:pic>
      <p:sp>
        <p:nvSpPr>
          <p:cNvPr id="5" name="object 5"/>
          <p:cNvSpPr txBox="1"/>
          <p:nvPr/>
        </p:nvSpPr>
        <p:spPr>
          <a:xfrm>
            <a:off x="526759" y="3554980"/>
            <a:ext cx="2637155" cy="1888489"/>
          </a:xfrm>
          <a:prstGeom prst="rect">
            <a:avLst/>
          </a:prstGeom>
        </p:spPr>
        <p:txBody>
          <a:bodyPr vert="horz" wrap="square" lIns="0" tIns="16510" rIns="0" bIns="0" rtlCol="0">
            <a:spAutoFit/>
          </a:bodyPr>
          <a:lstStyle/>
          <a:p>
            <a:pPr marL="12700">
              <a:lnSpc>
                <a:spcPct val="100000"/>
              </a:lnSpc>
              <a:spcBef>
                <a:spcPts val="130"/>
              </a:spcBef>
            </a:pPr>
            <a:r>
              <a:rPr sz="1550" spc="-5" dirty="0">
                <a:latin typeface="Microsoft YaHei"/>
                <a:cs typeface="Microsoft YaHei"/>
              </a:rPr>
              <a:t>斜齿轮相对于直齿轮的优缺点</a:t>
            </a:r>
            <a:endParaRPr sz="1550">
              <a:latin typeface="Microsoft YaHei"/>
              <a:cs typeface="Microsoft YaHei"/>
            </a:endParaRPr>
          </a:p>
          <a:p>
            <a:pPr>
              <a:lnSpc>
                <a:spcPct val="100000"/>
              </a:lnSpc>
              <a:spcBef>
                <a:spcPts val="495"/>
              </a:spcBef>
            </a:pPr>
            <a:endParaRPr sz="1550">
              <a:latin typeface="Microsoft YaHei"/>
              <a:cs typeface="Microsoft YaHei"/>
            </a:endParaRPr>
          </a:p>
          <a:p>
            <a:pPr marL="368935" marR="50165" indent="-250190">
              <a:lnSpc>
                <a:spcPct val="100600"/>
              </a:lnSpc>
              <a:buFont typeface="Wingdings"/>
              <a:buChar char=""/>
              <a:tabLst>
                <a:tab pos="368935" algn="l"/>
              </a:tabLst>
            </a:pPr>
            <a:r>
              <a:rPr sz="1550" spc="-5" dirty="0">
                <a:latin typeface="Microsoft YaHei"/>
                <a:cs typeface="Microsoft YaHei"/>
              </a:rPr>
              <a:t>优点：振动更小，传动更</a:t>
            </a:r>
            <a:r>
              <a:rPr sz="1550" spc="-10" dirty="0">
                <a:latin typeface="Microsoft YaHei"/>
                <a:cs typeface="Microsoft YaHei"/>
              </a:rPr>
              <a:t>平稳，噪音更小</a:t>
            </a:r>
            <a:endParaRPr sz="1550">
              <a:latin typeface="Microsoft YaHei"/>
              <a:cs typeface="Microsoft YaHei"/>
            </a:endParaRPr>
          </a:p>
          <a:p>
            <a:pPr marL="368935" marR="50165" indent="-250190">
              <a:lnSpc>
                <a:spcPct val="100000"/>
              </a:lnSpc>
              <a:spcBef>
                <a:spcPts val="1955"/>
              </a:spcBef>
              <a:buFont typeface="Wingdings"/>
              <a:buChar char=""/>
              <a:tabLst>
                <a:tab pos="368935" algn="l"/>
              </a:tabLst>
            </a:pPr>
            <a:r>
              <a:rPr sz="1550" spc="-5" dirty="0">
                <a:latin typeface="Microsoft YaHei"/>
                <a:cs typeface="Microsoft YaHei"/>
              </a:rPr>
              <a:t>缺点：成本高，难加工，</a:t>
            </a:r>
            <a:r>
              <a:rPr sz="1550" spc="-10" dirty="0">
                <a:latin typeface="Microsoft YaHei"/>
                <a:cs typeface="Microsoft YaHei"/>
              </a:rPr>
              <a:t>会产生轴向力</a:t>
            </a:r>
            <a:endParaRPr sz="1550">
              <a:latin typeface="Microsoft YaHei"/>
              <a:cs typeface="Microsoft YaHe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136069"/>
            <a:ext cx="4888865" cy="559435"/>
          </a:xfrm>
          <a:prstGeom prst="rect">
            <a:avLst/>
          </a:prstGeom>
        </p:spPr>
        <p:txBody>
          <a:bodyPr vert="horz" wrap="square" lIns="0" tIns="12700" rIns="0" bIns="0" rtlCol="0">
            <a:spAutoFit/>
          </a:bodyPr>
          <a:lstStyle/>
          <a:p>
            <a:pPr marL="12700">
              <a:lnSpc>
                <a:spcPct val="100000"/>
              </a:lnSpc>
              <a:spcBef>
                <a:spcPts val="100"/>
              </a:spcBef>
            </a:pPr>
            <a:r>
              <a:rPr dirty="0"/>
              <a:t>1</a:t>
            </a:r>
            <a:r>
              <a:rPr spc="-10" dirty="0"/>
              <a:t>. 齿轮传动</a:t>
            </a:r>
            <a:r>
              <a:rPr sz="2450" spc="-15" dirty="0"/>
              <a:t>——斜齿轮螺旋角</a:t>
            </a:r>
            <a:endParaRPr sz="2450"/>
          </a:p>
        </p:txBody>
      </p:sp>
      <p:pic>
        <p:nvPicPr>
          <p:cNvPr id="3" name="object 3"/>
          <p:cNvPicPr/>
          <p:nvPr/>
        </p:nvPicPr>
        <p:blipFill>
          <a:blip r:embed="rId2" cstate="print"/>
          <a:stretch>
            <a:fillRect/>
          </a:stretch>
        </p:blipFill>
        <p:spPr>
          <a:xfrm>
            <a:off x="0" y="772668"/>
            <a:ext cx="10692384" cy="1072895"/>
          </a:xfrm>
          <a:prstGeom prst="rect">
            <a:avLst/>
          </a:prstGeom>
        </p:spPr>
      </p:pic>
      <p:sp>
        <p:nvSpPr>
          <p:cNvPr id="4" name="object 4"/>
          <p:cNvSpPr txBox="1"/>
          <p:nvPr/>
        </p:nvSpPr>
        <p:spPr>
          <a:xfrm>
            <a:off x="526759" y="3554980"/>
            <a:ext cx="3837940" cy="2370455"/>
          </a:xfrm>
          <a:prstGeom prst="rect">
            <a:avLst/>
          </a:prstGeom>
        </p:spPr>
        <p:txBody>
          <a:bodyPr vert="horz" wrap="square" lIns="0" tIns="16510" rIns="0" bIns="0" rtlCol="0">
            <a:spAutoFit/>
          </a:bodyPr>
          <a:lstStyle/>
          <a:p>
            <a:pPr marL="12700">
              <a:lnSpc>
                <a:spcPct val="100000"/>
              </a:lnSpc>
              <a:spcBef>
                <a:spcPts val="130"/>
              </a:spcBef>
            </a:pPr>
            <a:r>
              <a:rPr sz="1550" spc="-5" dirty="0">
                <a:solidFill>
                  <a:srgbClr val="111111"/>
                </a:solidFill>
                <a:latin typeface="Microsoft YaHei"/>
                <a:cs typeface="Microsoft YaHei"/>
              </a:rPr>
              <a:t>斜齿螺旋角是指螺旋齿轮齿面与轴线的夹角</a:t>
            </a:r>
            <a:endParaRPr sz="1550">
              <a:latin typeface="Microsoft YaHei"/>
              <a:cs typeface="Microsoft YaHei"/>
            </a:endParaRPr>
          </a:p>
          <a:p>
            <a:pPr>
              <a:lnSpc>
                <a:spcPct val="100000"/>
              </a:lnSpc>
              <a:spcBef>
                <a:spcPts val="484"/>
              </a:spcBef>
            </a:pPr>
            <a:endParaRPr sz="1550">
              <a:latin typeface="Microsoft YaHei"/>
              <a:cs typeface="Microsoft YaHei"/>
            </a:endParaRPr>
          </a:p>
          <a:p>
            <a:pPr marL="118745" marR="497840" algn="just">
              <a:lnSpc>
                <a:spcPct val="101000"/>
              </a:lnSpc>
            </a:pPr>
            <a:r>
              <a:rPr sz="1550" spc="-5" dirty="0">
                <a:latin typeface="Microsoft YaHei"/>
                <a:cs typeface="Microsoft YaHei"/>
              </a:rPr>
              <a:t>一般来说，斜齿螺旋角越小，齿轮的传动效率越高，但是齿轮的承载能力</a:t>
            </a:r>
            <a:r>
              <a:rPr sz="1550" spc="-15" dirty="0">
                <a:latin typeface="Microsoft YaHei"/>
                <a:cs typeface="Microsoft YaHei"/>
              </a:rPr>
              <a:t>会降低；</a:t>
            </a:r>
            <a:endParaRPr sz="1550">
              <a:latin typeface="Microsoft YaHei"/>
              <a:cs typeface="Microsoft YaHei"/>
            </a:endParaRPr>
          </a:p>
          <a:p>
            <a:pPr marL="118745" marR="497840">
              <a:lnSpc>
                <a:spcPct val="100000"/>
              </a:lnSpc>
              <a:spcBef>
                <a:spcPts val="75"/>
              </a:spcBef>
            </a:pPr>
            <a:r>
              <a:rPr sz="1550" spc="-5" dirty="0">
                <a:latin typeface="Microsoft YaHei"/>
                <a:cs typeface="Microsoft YaHei"/>
              </a:rPr>
              <a:t>反之，斜齿旋角越大，齿轮的承载能力越高，但是传动效率会降低。</a:t>
            </a:r>
            <a:endParaRPr sz="1550">
              <a:latin typeface="Microsoft YaHei"/>
              <a:cs typeface="Microsoft YaHei"/>
            </a:endParaRPr>
          </a:p>
          <a:p>
            <a:pPr marL="118745">
              <a:lnSpc>
                <a:spcPct val="100000"/>
              </a:lnSpc>
              <a:spcBef>
                <a:spcPts val="1930"/>
              </a:spcBef>
            </a:pPr>
            <a:r>
              <a:rPr sz="1550" dirty="0">
                <a:latin typeface="Microsoft YaHei"/>
                <a:cs typeface="Microsoft YaHei"/>
              </a:rPr>
              <a:t>常用角度为</a:t>
            </a:r>
            <a:r>
              <a:rPr sz="1550" dirty="0">
                <a:latin typeface="Calibri"/>
                <a:cs typeface="Calibri"/>
              </a:rPr>
              <a:t>20</a:t>
            </a:r>
            <a:r>
              <a:rPr sz="1550" dirty="0">
                <a:latin typeface="Microsoft YaHei"/>
                <a:cs typeface="Microsoft YaHei"/>
              </a:rPr>
              <a:t>°和</a:t>
            </a:r>
            <a:r>
              <a:rPr sz="1550" spc="-25" dirty="0">
                <a:latin typeface="Calibri"/>
                <a:cs typeface="Calibri"/>
              </a:rPr>
              <a:t>25</a:t>
            </a:r>
            <a:r>
              <a:rPr sz="1550" spc="-25" dirty="0">
                <a:latin typeface="Microsoft YaHei"/>
                <a:cs typeface="Microsoft YaHei"/>
              </a:rPr>
              <a:t>°</a:t>
            </a:r>
            <a:endParaRPr sz="1550">
              <a:latin typeface="Microsoft YaHei"/>
              <a:cs typeface="Microsoft YaHei"/>
            </a:endParaRPr>
          </a:p>
        </p:txBody>
      </p:sp>
      <p:pic>
        <p:nvPicPr>
          <p:cNvPr id="5" name="object 5"/>
          <p:cNvPicPr/>
          <p:nvPr/>
        </p:nvPicPr>
        <p:blipFill>
          <a:blip r:embed="rId3" cstate="print"/>
          <a:stretch>
            <a:fillRect/>
          </a:stretch>
        </p:blipFill>
        <p:spPr>
          <a:xfrm>
            <a:off x="4451603" y="3342132"/>
            <a:ext cx="6051803" cy="278434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136069"/>
            <a:ext cx="5201285" cy="559435"/>
          </a:xfrm>
          <a:prstGeom prst="rect">
            <a:avLst/>
          </a:prstGeom>
        </p:spPr>
        <p:txBody>
          <a:bodyPr vert="horz" wrap="square" lIns="0" tIns="12700" rIns="0" bIns="0" rtlCol="0">
            <a:spAutoFit/>
          </a:bodyPr>
          <a:lstStyle/>
          <a:p>
            <a:pPr marL="12700">
              <a:lnSpc>
                <a:spcPct val="100000"/>
              </a:lnSpc>
              <a:spcBef>
                <a:spcPts val="100"/>
              </a:spcBef>
            </a:pPr>
            <a:r>
              <a:rPr dirty="0"/>
              <a:t>1</a:t>
            </a:r>
            <a:r>
              <a:rPr spc="-10" dirty="0"/>
              <a:t>. 齿轮传动</a:t>
            </a:r>
            <a:r>
              <a:rPr sz="2450" spc="-15" dirty="0"/>
              <a:t>——斜齿轮力的方向</a:t>
            </a:r>
            <a:endParaRPr sz="2450"/>
          </a:p>
        </p:txBody>
      </p:sp>
      <p:sp>
        <p:nvSpPr>
          <p:cNvPr id="3" name="object 3"/>
          <p:cNvSpPr txBox="1"/>
          <p:nvPr/>
        </p:nvSpPr>
        <p:spPr>
          <a:xfrm>
            <a:off x="5428267" y="2263222"/>
            <a:ext cx="637540" cy="2079625"/>
          </a:xfrm>
          <a:prstGeom prst="rect">
            <a:avLst/>
          </a:prstGeom>
        </p:spPr>
        <p:txBody>
          <a:bodyPr vert="horz" wrap="square" lIns="0" tIns="19050" rIns="0" bIns="0" rtlCol="0">
            <a:spAutoFit/>
          </a:bodyPr>
          <a:lstStyle/>
          <a:p>
            <a:pPr>
              <a:lnSpc>
                <a:spcPct val="100000"/>
              </a:lnSpc>
              <a:spcBef>
                <a:spcPts val="150"/>
              </a:spcBef>
            </a:pPr>
            <a:r>
              <a:rPr sz="2450" b="1" spc="-25" dirty="0">
                <a:solidFill>
                  <a:srgbClr val="26599C"/>
                </a:solidFill>
                <a:latin typeface="Microsoft YaHei"/>
                <a:cs typeface="Microsoft YaHei"/>
              </a:rPr>
              <a:t>判断</a:t>
            </a:r>
            <a:endParaRPr sz="2450">
              <a:latin typeface="Microsoft YaHei"/>
              <a:cs typeface="Microsoft YaHei"/>
            </a:endParaRPr>
          </a:p>
          <a:p>
            <a:pPr>
              <a:lnSpc>
                <a:spcPct val="100000"/>
              </a:lnSpc>
            </a:pPr>
            <a:endParaRPr sz="2450">
              <a:latin typeface="Microsoft YaHei"/>
              <a:cs typeface="Microsoft YaHei"/>
            </a:endParaRPr>
          </a:p>
          <a:p>
            <a:pPr>
              <a:lnSpc>
                <a:spcPct val="100000"/>
              </a:lnSpc>
              <a:spcBef>
                <a:spcPts val="2285"/>
              </a:spcBef>
            </a:pPr>
            <a:endParaRPr sz="2450">
              <a:latin typeface="Microsoft YaHei"/>
              <a:cs typeface="Microsoft YaHei"/>
            </a:endParaRPr>
          </a:p>
          <a:p>
            <a:pPr marL="234950">
              <a:lnSpc>
                <a:spcPct val="100000"/>
              </a:lnSpc>
            </a:pPr>
            <a:r>
              <a:rPr sz="1550" spc="-25" dirty="0">
                <a:latin typeface="Microsoft YaHei"/>
                <a:cs typeface="Microsoft YaHei"/>
              </a:rPr>
              <a:t>方向</a:t>
            </a:r>
            <a:endParaRPr sz="1550">
              <a:latin typeface="Microsoft YaHei"/>
              <a:cs typeface="Microsoft YaHei"/>
            </a:endParaRPr>
          </a:p>
        </p:txBody>
      </p:sp>
      <p:pic>
        <p:nvPicPr>
          <p:cNvPr id="4" name="object 4"/>
          <p:cNvPicPr/>
          <p:nvPr/>
        </p:nvPicPr>
        <p:blipFill>
          <a:blip r:embed="rId2" cstate="print"/>
          <a:stretch>
            <a:fillRect/>
          </a:stretch>
        </p:blipFill>
        <p:spPr>
          <a:xfrm>
            <a:off x="0" y="772668"/>
            <a:ext cx="10692384" cy="1072895"/>
          </a:xfrm>
          <a:prstGeom prst="rect">
            <a:avLst/>
          </a:prstGeom>
        </p:spPr>
      </p:pic>
      <p:grpSp>
        <p:nvGrpSpPr>
          <p:cNvPr id="5" name="object 5"/>
          <p:cNvGrpSpPr/>
          <p:nvPr/>
        </p:nvGrpSpPr>
        <p:grpSpPr>
          <a:xfrm>
            <a:off x="3508247" y="2415540"/>
            <a:ext cx="7115809" cy="4060190"/>
            <a:chOff x="3508247" y="2415540"/>
            <a:chExt cx="7115809" cy="4060190"/>
          </a:xfrm>
        </p:grpSpPr>
        <p:pic>
          <p:nvPicPr>
            <p:cNvPr id="6" name="object 6"/>
            <p:cNvPicPr/>
            <p:nvPr/>
          </p:nvPicPr>
          <p:blipFill>
            <a:blip r:embed="rId3" cstate="print"/>
            <a:stretch>
              <a:fillRect/>
            </a:stretch>
          </p:blipFill>
          <p:spPr>
            <a:xfrm>
              <a:off x="3508247" y="4439411"/>
              <a:ext cx="2136648" cy="2036063"/>
            </a:xfrm>
            <a:prstGeom prst="rect">
              <a:avLst/>
            </a:prstGeom>
          </p:spPr>
        </p:pic>
        <p:pic>
          <p:nvPicPr>
            <p:cNvPr id="7" name="object 7"/>
            <p:cNvPicPr/>
            <p:nvPr/>
          </p:nvPicPr>
          <p:blipFill>
            <a:blip r:embed="rId4" cstate="print"/>
            <a:stretch>
              <a:fillRect/>
            </a:stretch>
          </p:blipFill>
          <p:spPr>
            <a:xfrm>
              <a:off x="5637276" y="2415540"/>
              <a:ext cx="4986527" cy="4059935"/>
            </a:xfrm>
            <a:prstGeom prst="rect">
              <a:avLst/>
            </a:prstGeom>
          </p:spPr>
        </p:pic>
      </p:grpSp>
      <p:sp>
        <p:nvSpPr>
          <p:cNvPr id="8" name="object 8"/>
          <p:cNvSpPr txBox="1"/>
          <p:nvPr/>
        </p:nvSpPr>
        <p:spPr>
          <a:xfrm>
            <a:off x="435310" y="2828006"/>
            <a:ext cx="5243195" cy="3770629"/>
          </a:xfrm>
          <a:prstGeom prst="rect">
            <a:avLst/>
          </a:prstGeom>
        </p:spPr>
        <p:txBody>
          <a:bodyPr vert="horz" wrap="square" lIns="0" tIns="16510" rIns="0" bIns="0" rtlCol="0">
            <a:spAutoFit/>
          </a:bodyPr>
          <a:lstStyle/>
          <a:p>
            <a:pPr marL="12700">
              <a:lnSpc>
                <a:spcPct val="100000"/>
              </a:lnSpc>
              <a:spcBef>
                <a:spcPts val="130"/>
              </a:spcBef>
            </a:pPr>
            <a:r>
              <a:rPr sz="1550" spc="-10" dirty="0">
                <a:latin typeface="Microsoft YaHei"/>
                <a:cs typeface="Microsoft YaHei"/>
              </a:rPr>
              <a:t>径向力：朝向圆心</a:t>
            </a:r>
            <a:endParaRPr sz="1550">
              <a:latin typeface="Microsoft YaHei"/>
              <a:cs typeface="Microsoft YaHei"/>
            </a:endParaRPr>
          </a:p>
          <a:p>
            <a:pPr marL="12700">
              <a:lnSpc>
                <a:spcPct val="100000"/>
              </a:lnSpc>
              <a:spcBef>
                <a:spcPts val="2295"/>
              </a:spcBef>
            </a:pPr>
            <a:r>
              <a:rPr sz="1550" spc="-5" dirty="0">
                <a:latin typeface="Microsoft YaHei"/>
                <a:cs typeface="Microsoft YaHei"/>
              </a:rPr>
              <a:t>轴向力：分主动轮和从动轮，用左右手法则</a:t>
            </a:r>
            <a:endParaRPr sz="1550">
              <a:latin typeface="Microsoft YaHei"/>
              <a:cs typeface="Microsoft YaHei"/>
            </a:endParaRPr>
          </a:p>
          <a:p>
            <a:pPr marL="814069" marR="807720">
              <a:lnSpc>
                <a:spcPct val="101299"/>
              </a:lnSpc>
              <a:spcBef>
                <a:spcPts val="10"/>
              </a:spcBef>
            </a:pPr>
            <a:r>
              <a:rPr sz="1550" spc="-5" dirty="0">
                <a:latin typeface="Microsoft YaHei"/>
                <a:cs typeface="Microsoft YaHei"/>
              </a:rPr>
              <a:t>若为主动轮，则左旋用左手，右旋用右手若为从动轮，则左旋用右手，右旋用左手</a:t>
            </a:r>
            <a:endParaRPr sz="1550">
              <a:latin typeface="Microsoft YaHei"/>
              <a:cs typeface="Microsoft YaHei"/>
            </a:endParaRPr>
          </a:p>
          <a:p>
            <a:pPr marL="814069">
              <a:lnSpc>
                <a:spcPct val="100000"/>
              </a:lnSpc>
              <a:spcBef>
                <a:spcPts val="35"/>
              </a:spcBef>
            </a:pPr>
            <a:r>
              <a:rPr sz="1550" spc="-5" dirty="0">
                <a:latin typeface="Microsoft YaHei"/>
                <a:cs typeface="Microsoft YaHei"/>
              </a:rPr>
              <a:t>四指按齿轮旋转方向弯曲，大拇指朝向即为轴向力</a:t>
            </a:r>
            <a:endParaRPr sz="1550">
              <a:latin typeface="Microsoft YaHei"/>
              <a:cs typeface="Microsoft YaHei"/>
            </a:endParaRPr>
          </a:p>
          <a:p>
            <a:pPr marL="12700">
              <a:lnSpc>
                <a:spcPct val="100000"/>
              </a:lnSpc>
              <a:spcBef>
                <a:spcPts val="2750"/>
              </a:spcBef>
            </a:pPr>
            <a:r>
              <a:rPr sz="1550" spc="-5" dirty="0">
                <a:latin typeface="Microsoft YaHei"/>
                <a:cs typeface="Microsoft YaHei"/>
              </a:rPr>
              <a:t>周向力：分主动轮和从动轮</a:t>
            </a:r>
            <a:endParaRPr sz="1550">
              <a:latin typeface="Microsoft YaHei"/>
              <a:cs typeface="Microsoft YaHei"/>
            </a:endParaRPr>
          </a:p>
          <a:p>
            <a:pPr marL="814069" marR="2211705">
              <a:lnSpc>
                <a:spcPct val="101299"/>
              </a:lnSpc>
              <a:spcBef>
                <a:spcPts val="10"/>
              </a:spcBef>
            </a:pPr>
            <a:r>
              <a:rPr sz="1550" spc="-5" dirty="0">
                <a:latin typeface="Microsoft YaHei"/>
                <a:cs typeface="Microsoft YaHei"/>
              </a:rPr>
              <a:t>主动轮：和转向方向相反从动轮：和转向方向相同</a:t>
            </a:r>
            <a:endParaRPr sz="1550">
              <a:latin typeface="Microsoft YaHei"/>
              <a:cs typeface="Microsoft YaHei"/>
            </a:endParaRPr>
          </a:p>
          <a:p>
            <a:pPr>
              <a:lnSpc>
                <a:spcPct val="100000"/>
              </a:lnSpc>
              <a:spcBef>
                <a:spcPts val="875"/>
              </a:spcBef>
            </a:pPr>
            <a:endParaRPr sz="1550">
              <a:latin typeface="Microsoft YaHei"/>
              <a:cs typeface="Microsoft YaHei"/>
            </a:endParaRPr>
          </a:p>
          <a:p>
            <a:pPr marL="108585">
              <a:lnSpc>
                <a:spcPct val="100000"/>
              </a:lnSpc>
            </a:pPr>
            <a:r>
              <a:rPr sz="1550" spc="-5" dirty="0">
                <a:latin typeface="Microsoft YaHei"/>
                <a:cs typeface="Microsoft YaHei"/>
              </a:rPr>
              <a:t>旋向判断：轴线在竖直方向，</a:t>
            </a:r>
            <a:endParaRPr sz="1550">
              <a:latin typeface="Microsoft YaHei"/>
              <a:cs typeface="Microsoft YaHei"/>
            </a:endParaRPr>
          </a:p>
          <a:p>
            <a:pPr marL="1094740" marR="2331720">
              <a:lnSpc>
                <a:spcPct val="101299"/>
              </a:lnSpc>
              <a:spcBef>
                <a:spcPts val="15"/>
              </a:spcBef>
            </a:pPr>
            <a:r>
              <a:rPr sz="1550" spc="-10" dirty="0">
                <a:latin typeface="Microsoft YaHei"/>
                <a:cs typeface="Microsoft YaHei"/>
              </a:rPr>
              <a:t>从下向上看，偏右</a:t>
            </a:r>
            <a:r>
              <a:rPr sz="1550" spc="-50" dirty="0">
                <a:latin typeface="Microsoft YaHei"/>
                <a:cs typeface="Microsoft YaHei"/>
              </a:rPr>
              <a:t> </a:t>
            </a:r>
            <a:r>
              <a:rPr sz="1550" spc="-10" dirty="0">
                <a:latin typeface="Microsoft YaHei"/>
                <a:cs typeface="Microsoft YaHei"/>
              </a:rPr>
              <a:t>为右旋，偏左为左旋</a:t>
            </a:r>
            <a:endParaRPr sz="1550">
              <a:latin typeface="Microsoft YaHei"/>
              <a:cs typeface="Microsoft YaHe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136069"/>
            <a:ext cx="4264025" cy="559435"/>
          </a:xfrm>
          <a:prstGeom prst="rect">
            <a:avLst/>
          </a:prstGeom>
        </p:spPr>
        <p:txBody>
          <a:bodyPr vert="horz" wrap="square" lIns="0" tIns="12700" rIns="0" bIns="0" rtlCol="0">
            <a:spAutoFit/>
          </a:bodyPr>
          <a:lstStyle/>
          <a:p>
            <a:pPr marL="12700">
              <a:lnSpc>
                <a:spcPct val="100000"/>
              </a:lnSpc>
              <a:spcBef>
                <a:spcPts val="100"/>
              </a:spcBef>
            </a:pPr>
            <a:r>
              <a:rPr dirty="0"/>
              <a:t>1</a:t>
            </a:r>
            <a:r>
              <a:rPr spc="-10" dirty="0"/>
              <a:t>. 齿轮传动</a:t>
            </a:r>
            <a:r>
              <a:rPr sz="2450" spc="-20" dirty="0"/>
              <a:t>——圆锥齿轮</a:t>
            </a:r>
            <a:endParaRPr sz="2450"/>
          </a:p>
        </p:txBody>
      </p:sp>
      <p:pic>
        <p:nvPicPr>
          <p:cNvPr id="3" name="object 3"/>
          <p:cNvPicPr/>
          <p:nvPr/>
        </p:nvPicPr>
        <p:blipFill>
          <a:blip r:embed="rId2" cstate="print"/>
          <a:stretch>
            <a:fillRect/>
          </a:stretch>
        </p:blipFill>
        <p:spPr>
          <a:xfrm>
            <a:off x="0" y="772668"/>
            <a:ext cx="10692384" cy="1072895"/>
          </a:xfrm>
          <a:prstGeom prst="rect">
            <a:avLst/>
          </a:prstGeom>
        </p:spPr>
      </p:pic>
      <p:pic>
        <p:nvPicPr>
          <p:cNvPr id="4" name="object 4"/>
          <p:cNvPicPr/>
          <p:nvPr/>
        </p:nvPicPr>
        <p:blipFill>
          <a:blip r:embed="rId3" cstate="print"/>
          <a:stretch>
            <a:fillRect/>
          </a:stretch>
        </p:blipFill>
        <p:spPr>
          <a:xfrm>
            <a:off x="4085844" y="3075432"/>
            <a:ext cx="3520440" cy="3022091"/>
          </a:xfrm>
          <a:prstGeom prst="rect">
            <a:avLst/>
          </a:prstGeom>
        </p:spPr>
      </p:pic>
      <p:sp>
        <p:nvSpPr>
          <p:cNvPr id="5" name="object 5"/>
          <p:cNvSpPr txBox="1"/>
          <p:nvPr/>
        </p:nvSpPr>
        <p:spPr>
          <a:xfrm>
            <a:off x="505444" y="3570204"/>
            <a:ext cx="2944495" cy="2597150"/>
          </a:xfrm>
          <a:prstGeom prst="rect">
            <a:avLst/>
          </a:prstGeom>
        </p:spPr>
        <p:txBody>
          <a:bodyPr vert="horz" wrap="square" lIns="0" tIns="16510" rIns="0" bIns="0" rtlCol="0">
            <a:spAutoFit/>
          </a:bodyPr>
          <a:lstStyle/>
          <a:p>
            <a:pPr marL="262255" indent="-249554">
              <a:lnSpc>
                <a:spcPct val="100000"/>
              </a:lnSpc>
              <a:spcBef>
                <a:spcPts val="130"/>
              </a:spcBef>
              <a:buFont typeface="Wingdings"/>
              <a:buChar char=""/>
              <a:tabLst>
                <a:tab pos="262255" algn="l"/>
              </a:tabLst>
            </a:pPr>
            <a:r>
              <a:rPr sz="1550" spc="-5" dirty="0">
                <a:latin typeface="Microsoft YaHei"/>
                <a:cs typeface="Microsoft YaHei"/>
              </a:rPr>
              <a:t>优点：可实现交错轴的传动</a:t>
            </a:r>
            <a:endParaRPr sz="1550">
              <a:latin typeface="Microsoft YaHei"/>
              <a:cs typeface="Microsoft YaHei"/>
            </a:endParaRPr>
          </a:p>
          <a:p>
            <a:pPr marL="262255" indent="-249554">
              <a:lnSpc>
                <a:spcPct val="100000"/>
              </a:lnSpc>
              <a:spcBef>
                <a:spcPts val="1920"/>
              </a:spcBef>
              <a:buFont typeface="Wingdings"/>
              <a:buChar char=""/>
              <a:tabLst>
                <a:tab pos="262255" algn="l"/>
              </a:tabLst>
            </a:pPr>
            <a:r>
              <a:rPr sz="1550" spc="-5" dirty="0">
                <a:latin typeface="Microsoft YaHei"/>
                <a:cs typeface="Microsoft YaHei"/>
              </a:rPr>
              <a:t>缺点：刚度、精度要求较高</a:t>
            </a:r>
            <a:endParaRPr sz="1550">
              <a:latin typeface="Microsoft YaHei"/>
              <a:cs typeface="Microsoft YaHei"/>
            </a:endParaRPr>
          </a:p>
          <a:p>
            <a:pPr>
              <a:lnSpc>
                <a:spcPct val="100000"/>
              </a:lnSpc>
              <a:spcBef>
                <a:spcPts val="350"/>
              </a:spcBef>
            </a:pPr>
            <a:endParaRPr sz="1550">
              <a:latin typeface="Microsoft YaHei"/>
              <a:cs typeface="Microsoft YaHei"/>
            </a:endParaRPr>
          </a:p>
          <a:p>
            <a:pPr marL="260985" marR="5080" algn="just">
              <a:lnSpc>
                <a:spcPct val="101800"/>
              </a:lnSpc>
            </a:pPr>
            <a:r>
              <a:rPr sz="1550" dirty="0">
                <a:latin typeface="Microsoft YaHei"/>
                <a:cs typeface="Microsoft YaHei"/>
              </a:rPr>
              <a:t>大端端面模数</a:t>
            </a:r>
            <a:r>
              <a:rPr sz="1550" dirty="0">
                <a:latin typeface="Calibri"/>
                <a:cs typeface="Calibri"/>
              </a:rPr>
              <a:t>m:</a:t>
            </a:r>
            <a:r>
              <a:rPr sz="1550" spc="-10" dirty="0">
                <a:latin typeface="Microsoft YaHei"/>
                <a:cs typeface="Microsoft YaHei"/>
              </a:rPr>
              <a:t>锥齿轮的端面</a:t>
            </a:r>
            <a:r>
              <a:rPr sz="1550" spc="-5" dirty="0">
                <a:latin typeface="Microsoft YaHei"/>
                <a:cs typeface="Microsoft YaHei"/>
              </a:rPr>
              <a:t>模数与直齿圆柱齿轮的模数定义相同，但在锥齿轮中，由于其齿线是螺旋线端面模数通常</a:t>
            </a:r>
            <a:r>
              <a:rPr sz="1550" dirty="0">
                <a:latin typeface="Microsoft YaHei"/>
                <a:cs typeface="Microsoft YaHei"/>
              </a:rPr>
              <a:t>是用来描述齿轮端面</a:t>
            </a:r>
            <a:r>
              <a:rPr sz="1550" spc="-10" dirty="0">
                <a:latin typeface="Calibri"/>
                <a:cs typeface="Calibri"/>
              </a:rPr>
              <a:t>(</a:t>
            </a:r>
            <a:r>
              <a:rPr sz="1550" spc="-15" dirty="0">
                <a:latin typeface="Microsoft YaHei"/>
                <a:cs typeface="Microsoft YaHei"/>
              </a:rPr>
              <a:t>垂直于齿</a:t>
            </a:r>
            <a:r>
              <a:rPr sz="1550" dirty="0">
                <a:latin typeface="Microsoft YaHei"/>
                <a:cs typeface="Microsoft YaHei"/>
              </a:rPr>
              <a:t>轮轴线的截面</a:t>
            </a:r>
            <a:r>
              <a:rPr sz="1550" dirty="0">
                <a:latin typeface="Calibri"/>
                <a:cs typeface="Calibri"/>
              </a:rPr>
              <a:t>)</a:t>
            </a:r>
            <a:r>
              <a:rPr sz="1550" spc="-15" dirty="0">
                <a:latin typeface="Microsoft YaHei"/>
                <a:cs typeface="Microsoft YaHei"/>
              </a:rPr>
              <a:t>上的尺寸</a:t>
            </a:r>
            <a:endParaRPr sz="1550">
              <a:latin typeface="Microsoft YaHei"/>
              <a:cs typeface="Microsoft YaHei"/>
            </a:endParaRPr>
          </a:p>
        </p:txBody>
      </p:sp>
      <p:pic>
        <p:nvPicPr>
          <p:cNvPr id="6" name="object 6"/>
          <p:cNvPicPr/>
          <p:nvPr/>
        </p:nvPicPr>
        <p:blipFill>
          <a:blip r:embed="rId4" cstate="print"/>
          <a:stretch>
            <a:fillRect/>
          </a:stretch>
        </p:blipFill>
        <p:spPr>
          <a:xfrm>
            <a:off x="8008619" y="2081784"/>
            <a:ext cx="2404871" cy="2215895"/>
          </a:xfrm>
          <a:prstGeom prst="rect">
            <a:avLst/>
          </a:prstGeom>
        </p:spPr>
      </p:pic>
      <p:pic>
        <p:nvPicPr>
          <p:cNvPr id="7" name="object 7"/>
          <p:cNvPicPr/>
          <p:nvPr/>
        </p:nvPicPr>
        <p:blipFill>
          <a:blip r:embed="rId5" cstate="print"/>
          <a:stretch>
            <a:fillRect/>
          </a:stretch>
        </p:blipFill>
        <p:spPr>
          <a:xfrm>
            <a:off x="8008619" y="4535423"/>
            <a:ext cx="2461259" cy="19629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24" y="2136069"/>
            <a:ext cx="4264025" cy="559435"/>
          </a:xfrm>
          <a:prstGeom prst="rect">
            <a:avLst/>
          </a:prstGeom>
        </p:spPr>
        <p:txBody>
          <a:bodyPr vert="horz" wrap="square" lIns="0" tIns="12700" rIns="0" bIns="0" rtlCol="0">
            <a:spAutoFit/>
          </a:bodyPr>
          <a:lstStyle/>
          <a:p>
            <a:pPr marL="12700">
              <a:lnSpc>
                <a:spcPct val="100000"/>
              </a:lnSpc>
              <a:spcBef>
                <a:spcPts val="100"/>
              </a:spcBef>
            </a:pPr>
            <a:r>
              <a:rPr dirty="0"/>
              <a:t>1</a:t>
            </a:r>
            <a:r>
              <a:rPr spc="-10" dirty="0"/>
              <a:t>. 齿轮传动</a:t>
            </a:r>
            <a:r>
              <a:rPr sz="2450" spc="-20" dirty="0"/>
              <a:t>——齿轮齿条</a:t>
            </a:r>
            <a:endParaRPr sz="2450"/>
          </a:p>
        </p:txBody>
      </p:sp>
      <p:pic>
        <p:nvPicPr>
          <p:cNvPr id="3" name="object 3"/>
          <p:cNvPicPr/>
          <p:nvPr/>
        </p:nvPicPr>
        <p:blipFill>
          <a:blip r:embed="rId2" cstate="print"/>
          <a:stretch>
            <a:fillRect/>
          </a:stretch>
        </p:blipFill>
        <p:spPr>
          <a:xfrm>
            <a:off x="0" y="772668"/>
            <a:ext cx="10692384" cy="1072895"/>
          </a:xfrm>
          <a:prstGeom prst="rect">
            <a:avLst/>
          </a:prstGeom>
        </p:spPr>
      </p:pic>
      <p:sp>
        <p:nvSpPr>
          <p:cNvPr id="4" name="object 4"/>
          <p:cNvSpPr txBox="1"/>
          <p:nvPr/>
        </p:nvSpPr>
        <p:spPr>
          <a:xfrm>
            <a:off x="659364" y="3180050"/>
            <a:ext cx="2435860" cy="267335"/>
          </a:xfrm>
          <a:prstGeom prst="rect">
            <a:avLst/>
          </a:prstGeom>
        </p:spPr>
        <p:txBody>
          <a:bodyPr vert="horz" wrap="square" lIns="0" tIns="16510" rIns="0" bIns="0" rtlCol="0">
            <a:spAutoFit/>
          </a:bodyPr>
          <a:lstStyle/>
          <a:p>
            <a:pPr marL="12700">
              <a:lnSpc>
                <a:spcPct val="100000"/>
              </a:lnSpc>
              <a:spcBef>
                <a:spcPts val="130"/>
              </a:spcBef>
            </a:pPr>
            <a:r>
              <a:rPr sz="1550" spc="-5" dirty="0">
                <a:latin typeface="Microsoft YaHei"/>
                <a:cs typeface="Microsoft YaHei"/>
              </a:rPr>
              <a:t>将旋转运动转化为直线运动</a:t>
            </a:r>
            <a:endParaRPr sz="1550">
              <a:latin typeface="Microsoft YaHei"/>
              <a:cs typeface="Microsoft YaHei"/>
            </a:endParaRPr>
          </a:p>
        </p:txBody>
      </p:sp>
      <p:pic>
        <p:nvPicPr>
          <p:cNvPr id="5" name="object 5"/>
          <p:cNvPicPr/>
          <p:nvPr/>
        </p:nvPicPr>
        <p:blipFill>
          <a:blip r:embed="rId3" cstate="print"/>
          <a:stretch>
            <a:fillRect/>
          </a:stretch>
        </p:blipFill>
        <p:spPr>
          <a:xfrm>
            <a:off x="490727" y="3677411"/>
            <a:ext cx="4757927" cy="2921508"/>
          </a:xfrm>
          <a:prstGeom prst="rect">
            <a:avLst/>
          </a:prstGeom>
        </p:spPr>
      </p:pic>
      <p:pic>
        <p:nvPicPr>
          <p:cNvPr id="6" name="object 6"/>
          <p:cNvPicPr/>
          <p:nvPr/>
        </p:nvPicPr>
        <p:blipFill>
          <a:blip r:embed="rId4" cstate="print"/>
          <a:stretch>
            <a:fillRect/>
          </a:stretch>
        </p:blipFill>
        <p:spPr>
          <a:xfrm>
            <a:off x="5890260" y="2199132"/>
            <a:ext cx="4439411" cy="440588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354139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a:t>
            </a:r>
          </a:p>
        </p:txBody>
      </p:sp>
      <p:grpSp>
        <p:nvGrpSpPr>
          <p:cNvPr id="3" name="object 3"/>
          <p:cNvGrpSpPr/>
          <p:nvPr/>
        </p:nvGrpSpPr>
        <p:grpSpPr>
          <a:xfrm>
            <a:off x="0" y="772668"/>
            <a:ext cx="10692765" cy="6014085"/>
            <a:chOff x="0" y="772668"/>
            <a:chExt cx="10692765" cy="6014085"/>
          </a:xfrm>
        </p:grpSpPr>
        <p:pic>
          <p:nvPicPr>
            <p:cNvPr id="4" name="object 4"/>
            <p:cNvPicPr/>
            <p:nvPr/>
          </p:nvPicPr>
          <p:blipFill>
            <a:blip r:embed="rId2" cstate="print"/>
            <a:stretch>
              <a:fillRect/>
            </a:stretch>
          </p:blipFill>
          <p:spPr>
            <a:xfrm>
              <a:off x="0" y="772668"/>
              <a:ext cx="10692384" cy="1071372"/>
            </a:xfrm>
            <a:prstGeom prst="rect">
              <a:avLst/>
            </a:prstGeom>
          </p:spPr>
        </p:pic>
        <p:pic>
          <p:nvPicPr>
            <p:cNvPr id="5" name="object 5"/>
            <p:cNvPicPr/>
            <p:nvPr/>
          </p:nvPicPr>
          <p:blipFill>
            <a:blip r:embed="rId3" cstate="print"/>
            <a:stretch>
              <a:fillRect/>
            </a:stretch>
          </p:blipFill>
          <p:spPr>
            <a:xfrm>
              <a:off x="6128003" y="1880616"/>
              <a:ext cx="4017264" cy="2572511"/>
            </a:xfrm>
            <a:prstGeom prst="rect">
              <a:avLst/>
            </a:prstGeom>
          </p:spPr>
        </p:pic>
        <p:pic>
          <p:nvPicPr>
            <p:cNvPr id="6" name="object 6"/>
            <p:cNvPicPr/>
            <p:nvPr/>
          </p:nvPicPr>
          <p:blipFill>
            <a:blip r:embed="rId4" cstate="print"/>
            <a:stretch>
              <a:fillRect/>
            </a:stretch>
          </p:blipFill>
          <p:spPr>
            <a:xfrm>
              <a:off x="6097523" y="4447032"/>
              <a:ext cx="4052316" cy="2339339"/>
            </a:xfrm>
            <a:prstGeom prst="rect">
              <a:avLst/>
            </a:prstGeom>
          </p:spPr>
        </p:pic>
      </p:grpSp>
      <p:sp>
        <p:nvSpPr>
          <p:cNvPr id="7" name="object 7"/>
          <p:cNvSpPr txBox="1"/>
          <p:nvPr/>
        </p:nvSpPr>
        <p:spPr>
          <a:xfrm>
            <a:off x="778218" y="3009430"/>
            <a:ext cx="4766945" cy="3559175"/>
          </a:xfrm>
          <a:prstGeom prst="rect">
            <a:avLst/>
          </a:prstGeom>
        </p:spPr>
        <p:txBody>
          <a:bodyPr vert="horz" wrap="square" lIns="0" tIns="16510" rIns="0" bIns="0" rtlCol="0">
            <a:spAutoFit/>
          </a:bodyPr>
          <a:lstStyle/>
          <a:p>
            <a:pPr marL="516890" indent="-504190">
              <a:lnSpc>
                <a:spcPct val="100000"/>
              </a:lnSpc>
              <a:spcBef>
                <a:spcPts val="130"/>
              </a:spcBef>
              <a:buSzPct val="93548"/>
              <a:buAutoNum type="arabicPlain"/>
              <a:tabLst>
                <a:tab pos="516890" algn="l"/>
              </a:tabLst>
            </a:pPr>
            <a:r>
              <a:rPr sz="1550" spc="-20" dirty="0">
                <a:latin typeface="Microsoft YaHei"/>
                <a:cs typeface="Microsoft YaHei"/>
              </a:rPr>
              <a:t>带传动</a:t>
            </a:r>
            <a:endParaRPr sz="1550">
              <a:latin typeface="Microsoft YaHei"/>
              <a:cs typeface="Microsoft YaHei"/>
            </a:endParaRPr>
          </a:p>
          <a:p>
            <a:pPr marL="144780" marR="398780">
              <a:lnSpc>
                <a:spcPct val="100600"/>
              </a:lnSpc>
              <a:spcBef>
                <a:spcPts val="1310"/>
              </a:spcBef>
            </a:pPr>
            <a:r>
              <a:rPr sz="1550" dirty="0">
                <a:solidFill>
                  <a:srgbClr val="36363D"/>
                </a:solidFill>
                <a:latin typeface="Microsoft YaHei"/>
                <a:cs typeface="Microsoft YaHei"/>
              </a:rPr>
              <a:t>定义：带传动通过张紧在带轮上的柔性带（</a:t>
            </a:r>
            <a:r>
              <a:rPr sz="1550" spc="-25" dirty="0">
                <a:solidFill>
                  <a:srgbClr val="36363D"/>
                </a:solidFill>
                <a:latin typeface="Microsoft YaHei"/>
                <a:cs typeface="Microsoft YaHei"/>
              </a:rPr>
              <a:t>如橡</a:t>
            </a:r>
            <a:r>
              <a:rPr sz="1550" dirty="0">
                <a:solidFill>
                  <a:srgbClr val="36363D"/>
                </a:solidFill>
                <a:latin typeface="Microsoft YaHei"/>
                <a:cs typeface="Microsoft YaHei"/>
              </a:rPr>
              <a:t>胶带、帆布带、金属带等）</a:t>
            </a:r>
            <a:r>
              <a:rPr sz="1550" spc="-10" dirty="0">
                <a:solidFill>
                  <a:srgbClr val="36363D"/>
                </a:solidFill>
                <a:latin typeface="Microsoft YaHei"/>
                <a:cs typeface="Microsoft YaHei"/>
              </a:rPr>
              <a:t>来传递动力或运动。</a:t>
            </a:r>
            <a:endParaRPr sz="1550">
              <a:latin typeface="Microsoft YaHei"/>
              <a:cs typeface="Microsoft YaHei"/>
            </a:endParaRPr>
          </a:p>
          <a:p>
            <a:pPr marL="144780">
              <a:lnSpc>
                <a:spcPct val="100000"/>
              </a:lnSpc>
              <a:spcBef>
                <a:spcPts val="2595"/>
              </a:spcBef>
            </a:pPr>
            <a:r>
              <a:rPr sz="1550" spc="-5" dirty="0">
                <a:latin typeface="Microsoft YaHei"/>
                <a:cs typeface="Microsoft YaHei"/>
              </a:rPr>
              <a:t>原理：通过摩擦或者啮合传动</a:t>
            </a:r>
            <a:endParaRPr sz="1550">
              <a:latin typeface="Microsoft YaHei"/>
              <a:cs typeface="Microsoft YaHei"/>
            </a:endParaRPr>
          </a:p>
          <a:p>
            <a:pPr marL="516890" indent="-504190">
              <a:lnSpc>
                <a:spcPct val="100000"/>
              </a:lnSpc>
              <a:spcBef>
                <a:spcPts val="2580"/>
              </a:spcBef>
              <a:buSzPct val="93548"/>
              <a:buAutoNum type="arabicPlain" startAt="2"/>
              <a:tabLst>
                <a:tab pos="516890" algn="l"/>
              </a:tabLst>
            </a:pPr>
            <a:r>
              <a:rPr sz="1550" spc="-20" dirty="0">
                <a:latin typeface="Microsoft YaHei"/>
                <a:cs typeface="Microsoft YaHei"/>
              </a:rPr>
              <a:t>链传动</a:t>
            </a:r>
            <a:endParaRPr sz="1550">
              <a:latin typeface="Microsoft YaHei"/>
              <a:cs typeface="Microsoft YaHei"/>
            </a:endParaRPr>
          </a:p>
          <a:p>
            <a:pPr marL="144780" marR="5080">
              <a:lnSpc>
                <a:spcPct val="100699"/>
              </a:lnSpc>
              <a:spcBef>
                <a:spcPts val="2135"/>
              </a:spcBef>
            </a:pPr>
            <a:r>
              <a:rPr sz="1550" spc="10" dirty="0">
                <a:solidFill>
                  <a:srgbClr val="36363D"/>
                </a:solidFill>
                <a:latin typeface="Microsoft YaHei"/>
                <a:cs typeface="Microsoft YaHei"/>
              </a:rPr>
              <a:t>定义：通过链条将具有特殊齿形的主动链轮的运动和动力传递到具有特殊齿形的从动链轮的传动方式。</a:t>
            </a:r>
            <a:endParaRPr sz="1550">
              <a:latin typeface="Microsoft YaHei"/>
              <a:cs typeface="Microsoft YaHei"/>
            </a:endParaRPr>
          </a:p>
          <a:p>
            <a:pPr marL="144780" marR="398780">
              <a:lnSpc>
                <a:spcPct val="100600"/>
              </a:lnSpc>
              <a:spcBef>
                <a:spcPts val="2350"/>
              </a:spcBef>
            </a:pPr>
            <a:r>
              <a:rPr sz="1550" spc="-5" dirty="0">
                <a:latin typeface="Microsoft YaHei"/>
                <a:cs typeface="Microsoft YaHei"/>
              </a:rPr>
              <a:t>原理：通过链条这个中间挠性元件来实现动力和</a:t>
            </a:r>
            <a:r>
              <a:rPr sz="1550" spc="-10" dirty="0">
                <a:latin typeface="Microsoft YaHei"/>
                <a:cs typeface="Microsoft YaHei"/>
              </a:rPr>
              <a:t>运动的传递。</a:t>
            </a:r>
            <a:endParaRPr sz="1550">
              <a:latin typeface="Microsoft YaHei"/>
              <a:cs typeface="Microsoft YaHe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354139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619799" y="3340054"/>
            <a:ext cx="4567555" cy="2874010"/>
          </a:xfrm>
          <a:prstGeom prst="rect">
            <a:avLst/>
          </a:prstGeom>
        </p:spPr>
        <p:txBody>
          <a:bodyPr vert="horz" wrap="square" lIns="0" tIns="12700" rIns="0" bIns="0" rtlCol="0">
            <a:spAutoFit/>
          </a:bodyPr>
          <a:lstStyle/>
          <a:p>
            <a:pPr marL="12700">
              <a:lnSpc>
                <a:spcPct val="100000"/>
              </a:lnSpc>
              <a:spcBef>
                <a:spcPts val="100"/>
              </a:spcBef>
            </a:pPr>
            <a:r>
              <a:rPr sz="2100" spc="-10" dirty="0">
                <a:latin typeface="Microsoft YaHei"/>
                <a:cs typeface="Microsoft YaHei"/>
              </a:rPr>
              <a:t>摩擦型带传动</a:t>
            </a:r>
            <a:endParaRPr sz="2100">
              <a:latin typeface="Microsoft YaHei"/>
              <a:cs typeface="Microsoft YaHei"/>
            </a:endParaRPr>
          </a:p>
          <a:p>
            <a:pPr marL="12700" marR="279400" algn="just">
              <a:lnSpc>
                <a:spcPct val="99500"/>
              </a:lnSpc>
              <a:spcBef>
                <a:spcPts val="2580"/>
              </a:spcBef>
            </a:pPr>
            <a:r>
              <a:rPr sz="2100" spc="-5" dirty="0">
                <a:latin typeface="Microsoft YaHei"/>
                <a:cs typeface="Microsoft YaHei"/>
              </a:rPr>
              <a:t>优点：结构简单，传动平稳，承载力强，造价低廉，能够远距离传输，噪</a:t>
            </a:r>
            <a:r>
              <a:rPr sz="2100" spc="-10" dirty="0">
                <a:latin typeface="Microsoft YaHei"/>
                <a:cs typeface="Microsoft YaHei"/>
              </a:rPr>
              <a:t>声低，有过载保护</a:t>
            </a:r>
            <a:endParaRPr sz="2100">
              <a:latin typeface="Microsoft YaHei"/>
              <a:cs typeface="Microsoft YaHei"/>
            </a:endParaRPr>
          </a:p>
          <a:p>
            <a:pPr marL="12700" marR="5080">
              <a:lnSpc>
                <a:spcPct val="99300"/>
              </a:lnSpc>
              <a:spcBef>
                <a:spcPts val="2295"/>
              </a:spcBef>
            </a:pPr>
            <a:r>
              <a:rPr sz="2100" spc="-5" dirty="0">
                <a:latin typeface="Microsoft YaHei"/>
                <a:cs typeface="Microsoft YaHei"/>
              </a:rPr>
              <a:t>缺点：传动效率较低；传动比不准确；寿命较短；结构不够紧凑，占用空间</a:t>
            </a:r>
            <a:r>
              <a:rPr sz="2100" spc="-50" dirty="0">
                <a:latin typeface="Microsoft YaHei"/>
                <a:cs typeface="Microsoft YaHei"/>
              </a:rPr>
              <a:t> </a:t>
            </a:r>
            <a:r>
              <a:rPr sz="2100" spc="-10" dirty="0">
                <a:latin typeface="Microsoft YaHei"/>
                <a:cs typeface="Microsoft YaHei"/>
              </a:rPr>
              <a:t>较大；径向压力大</a:t>
            </a:r>
            <a:endParaRPr sz="2100">
              <a:latin typeface="Microsoft YaHei"/>
              <a:cs typeface="Microsoft YaHei"/>
            </a:endParaRPr>
          </a:p>
        </p:txBody>
      </p:sp>
      <p:pic>
        <p:nvPicPr>
          <p:cNvPr id="5" name="object 5"/>
          <p:cNvPicPr/>
          <p:nvPr/>
        </p:nvPicPr>
        <p:blipFill>
          <a:blip r:embed="rId3" cstate="print"/>
          <a:stretch>
            <a:fillRect/>
          </a:stretch>
        </p:blipFill>
        <p:spPr>
          <a:xfrm>
            <a:off x="5530596" y="2851404"/>
            <a:ext cx="4811267" cy="314705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354139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5699261" y="2773196"/>
            <a:ext cx="345440" cy="267335"/>
          </a:xfrm>
          <a:prstGeom prst="rect">
            <a:avLst/>
          </a:prstGeom>
        </p:spPr>
        <p:txBody>
          <a:bodyPr vert="horz" wrap="square" lIns="0" tIns="16510" rIns="0" bIns="0" rtlCol="0">
            <a:spAutoFit/>
          </a:bodyPr>
          <a:lstStyle/>
          <a:p>
            <a:pPr marL="12700">
              <a:lnSpc>
                <a:spcPct val="100000"/>
              </a:lnSpc>
              <a:spcBef>
                <a:spcPts val="130"/>
              </a:spcBef>
            </a:pPr>
            <a:r>
              <a:rPr sz="1550" b="1" dirty="0">
                <a:latin typeface="Calibri"/>
                <a:cs typeface="Calibri"/>
              </a:rPr>
              <a:t>V</a:t>
            </a:r>
            <a:r>
              <a:rPr sz="1550" b="1" spc="-50" dirty="0">
                <a:latin typeface="Microsoft YaHei"/>
                <a:cs typeface="Microsoft YaHei"/>
              </a:rPr>
              <a:t>带</a:t>
            </a:r>
            <a:endParaRPr sz="1550">
              <a:latin typeface="Microsoft YaHei"/>
              <a:cs typeface="Microsoft YaHei"/>
            </a:endParaRPr>
          </a:p>
        </p:txBody>
      </p:sp>
      <p:sp>
        <p:nvSpPr>
          <p:cNvPr id="5" name="object 5"/>
          <p:cNvSpPr txBox="1"/>
          <p:nvPr/>
        </p:nvSpPr>
        <p:spPr>
          <a:xfrm>
            <a:off x="8236149" y="2773196"/>
            <a:ext cx="427990" cy="267335"/>
          </a:xfrm>
          <a:prstGeom prst="rect">
            <a:avLst/>
          </a:prstGeom>
        </p:spPr>
        <p:txBody>
          <a:bodyPr vert="horz" wrap="square" lIns="0" tIns="16510" rIns="0" bIns="0" rtlCol="0">
            <a:spAutoFit/>
          </a:bodyPr>
          <a:lstStyle/>
          <a:p>
            <a:pPr marL="12700">
              <a:lnSpc>
                <a:spcPct val="100000"/>
              </a:lnSpc>
              <a:spcBef>
                <a:spcPts val="130"/>
              </a:spcBef>
            </a:pPr>
            <a:r>
              <a:rPr sz="1550" b="1" spc="-25" dirty="0">
                <a:latin typeface="Microsoft YaHei"/>
                <a:cs typeface="Microsoft YaHei"/>
              </a:rPr>
              <a:t>楔带</a:t>
            </a:r>
            <a:endParaRPr sz="1550">
              <a:latin typeface="Microsoft YaHei"/>
              <a:cs typeface="Microsoft YaHei"/>
            </a:endParaRPr>
          </a:p>
        </p:txBody>
      </p:sp>
      <p:pic>
        <p:nvPicPr>
          <p:cNvPr id="6" name="object 6"/>
          <p:cNvPicPr/>
          <p:nvPr/>
        </p:nvPicPr>
        <p:blipFill>
          <a:blip r:embed="rId3" cstate="print"/>
          <a:stretch>
            <a:fillRect/>
          </a:stretch>
        </p:blipFill>
        <p:spPr>
          <a:xfrm>
            <a:off x="2001011" y="3285744"/>
            <a:ext cx="2264663" cy="1674875"/>
          </a:xfrm>
          <a:prstGeom prst="rect">
            <a:avLst/>
          </a:prstGeom>
        </p:spPr>
      </p:pic>
      <p:pic>
        <p:nvPicPr>
          <p:cNvPr id="7" name="object 7"/>
          <p:cNvPicPr/>
          <p:nvPr/>
        </p:nvPicPr>
        <p:blipFill>
          <a:blip r:embed="rId4" cstate="print"/>
          <a:stretch>
            <a:fillRect/>
          </a:stretch>
        </p:blipFill>
        <p:spPr>
          <a:xfrm>
            <a:off x="4590288" y="3300984"/>
            <a:ext cx="2394204" cy="1606295"/>
          </a:xfrm>
          <a:prstGeom prst="rect">
            <a:avLst/>
          </a:prstGeom>
        </p:spPr>
      </p:pic>
      <p:pic>
        <p:nvPicPr>
          <p:cNvPr id="8" name="object 8"/>
          <p:cNvPicPr/>
          <p:nvPr/>
        </p:nvPicPr>
        <p:blipFill>
          <a:blip r:embed="rId5" cstate="print"/>
          <a:stretch>
            <a:fillRect/>
          </a:stretch>
        </p:blipFill>
        <p:spPr>
          <a:xfrm>
            <a:off x="7254240" y="3368040"/>
            <a:ext cx="2394204" cy="1467611"/>
          </a:xfrm>
          <a:prstGeom prst="rect">
            <a:avLst/>
          </a:prstGeom>
        </p:spPr>
      </p:pic>
      <p:sp>
        <p:nvSpPr>
          <p:cNvPr id="9" name="object 9"/>
          <p:cNvSpPr txBox="1"/>
          <p:nvPr/>
        </p:nvSpPr>
        <p:spPr>
          <a:xfrm>
            <a:off x="830111" y="2749504"/>
            <a:ext cx="2645410" cy="2239010"/>
          </a:xfrm>
          <a:prstGeom prst="rect">
            <a:avLst/>
          </a:prstGeom>
        </p:spPr>
        <p:txBody>
          <a:bodyPr vert="horz" wrap="square" lIns="0" tIns="40640" rIns="0" bIns="0" rtlCol="0">
            <a:spAutoFit/>
          </a:bodyPr>
          <a:lstStyle/>
          <a:p>
            <a:pPr marR="5080" algn="r">
              <a:lnSpc>
                <a:spcPct val="100000"/>
              </a:lnSpc>
              <a:spcBef>
                <a:spcPts val="320"/>
              </a:spcBef>
            </a:pPr>
            <a:r>
              <a:rPr sz="1550" b="1" spc="-25" dirty="0">
                <a:latin typeface="Microsoft YaHei"/>
                <a:cs typeface="Microsoft YaHei"/>
              </a:rPr>
              <a:t>平带</a:t>
            </a:r>
            <a:endParaRPr sz="1550">
              <a:latin typeface="Microsoft YaHei"/>
              <a:cs typeface="Microsoft YaHei"/>
            </a:endParaRPr>
          </a:p>
          <a:p>
            <a:pPr marL="12700" marR="2357755" algn="just">
              <a:lnSpc>
                <a:spcPct val="99800"/>
              </a:lnSpc>
              <a:spcBef>
                <a:spcPts val="259"/>
              </a:spcBef>
            </a:pPr>
            <a:r>
              <a:rPr sz="2100" spc="-50" dirty="0">
                <a:latin typeface="Microsoft YaHei"/>
                <a:cs typeface="Microsoft YaHei"/>
              </a:rPr>
              <a:t>摩擦型带分类</a:t>
            </a:r>
            <a:endParaRPr sz="2100">
              <a:latin typeface="Microsoft YaHei"/>
              <a:cs typeface="Microsoft YaHei"/>
            </a:endParaRPr>
          </a:p>
        </p:txBody>
      </p:sp>
      <p:sp>
        <p:nvSpPr>
          <p:cNvPr id="10" name="object 10"/>
          <p:cNvSpPr txBox="1"/>
          <p:nvPr/>
        </p:nvSpPr>
        <p:spPr>
          <a:xfrm>
            <a:off x="897088" y="5137219"/>
            <a:ext cx="8781415" cy="1459865"/>
          </a:xfrm>
          <a:prstGeom prst="rect">
            <a:avLst/>
          </a:prstGeom>
        </p:spPr>
        <p:txBody>
          <a:bodyPr vert="horz" wrap="square" lIns="0" tIns="134620" rIns="0" bIns="0" rtlCol="0">
            <a:spAutoFit/>
          </a:bodyPr>
          <a:lstStyle/>
          <a:p>
            <a:pPr marL="312420" indent="-299720">
              <a:lnSpc>
                <a:spcPct val="100000"/>
              </a:lnSpc>
              <a:spcBef>
                <a:spcPts val="1060"/>
              </a:spcBef>
              <a:buFont typeface="Wingdings"/>
              <a:buChar char=""/>
              <a:tabLst>
                <a:tab pos="312420" algn="l"/>
              </a:tabLst>
            </a:pPr>
            <a:r>
              <a:rPr sz="1750" b="1" dirty="0">
                <a:latin typeface="Microsoft YaHei"/>
                <a:cs typeface="Microsoft YaHei"/>
              </a:rPr>
              <a:t>平带传动</a:t>
            </a:r>
            <a:r>
              <a:rPr sz="1750" dirty="0">
                <a:latin typeface="Microsoft YaHei"/>
                <a:cs typeface="Microsoft YaHei"/>
              </a:rPr>
              <a:t>：平带是最简单的带型，通常用于传动比为3</a:t>
            </a:r>
            <a:r>
              <a:rPr sz="1750" spc="-10" dirty="0">
                <a:latin typeface="Microsoft YaHei"/>
                <a:cs typeface="Microsoft YaHei"/>
              </a:rPr>
              <a:t>左右的传动。</a:t>
            </a:r>
            <a:endParaRPr sz="1750">
              <a:latin typeface="Microsoft YaHei"/>
              <a:cs typeface="Microsoft YaHei"/>
            </a:endParaRPr>
          </a:p>
          <a:p>
            <a:pPr marL="312420" indent="-299720">
              <a:lnSpc>
                <a:spcPct val="100000"/>
              </a:lnSpc>
              <a:spcBef>
                <a:spcPts val="960"/>
              </a:spcBef>
              <a:buFont typeface="Wingdings"/>
              <a:buChar char=""/>
              <a:tabLst>
                <a:tab pos="312420" algn="l"/>
              </a:tabLst>
            </a:pPr>
            <a:r>
              <a:rPr sz="1750" b="1" spc="-10" dirty="0">
                <a:latin typeface="Microsoft YaHei"/>
                <a:cs typeface="Microsoft YaHei"/>
              </a:rPr>
              <a:t>V</a:t>
            </a:r>
            <a:r>
              <a:rPr sz="1750" b="1" spc="-5" dirty="0">
                <a:latin typeface="Microsoft YaHei"/>
                <a:cs typeface="Microsoft YaHei"/>
              </a:rPr>
              <a:t>带传动：</a:t>
            </a:r>
            <a:r>
              <a:rPr sz="1750" spc="-10" dirty="0">
                <a:latin typeface="Microsoft YaHei"/>
                <a:cs typeface="Microsoft YaHei"/>
              </a:rPr>
              <a:t>V</a:t>
            </a:r>
            <a:r>
              <a:rPr sz="1750" spc="-5" dirty="0">
                <a:latin typeface="Microsoft YaHei"/>
                <a:cs typeface="Microsoft YaHei"/>
              </a:rPr>
              <a:t>带传动的横截面为等腰梯形，带轮上也做成相应的轮槽。</a:t>
            </a:r>
            <a:endParaRPr sz="1750">
              <a:latin typeface="Microsoft YaHei"/>
              <a:cs typeface="Microsoft YaHei"/>
            </a:endParaRPr>
          </a:p>
          <a:p>
            <a:pPr marL="312420" marR="5080" indent="-300355">
              <a:lnSpc>
                <a:spcPct val="100000"/>
              </a:lnSpc>
              <a:spcBef>
                <a:spcPts val="969"/>
              </a:spcBef>
              <a:buFont typeface="Wingdings"/>
              <a:buChar char=""/>
              <a:tabLst>
                <a:tab pos="312420" algn="l"/>
              </a:tabLst>
            </a:pPr>
            <a:r>
              <a:rPr sz="1750" b="1" dirty="0">
                <a:latin typeface="Microsoft YaHei"/>
                <a:cs typeface="Microsoft YaHei"/>
              </a:rPr>
              <a:t>多楔带传动：</a:t>
            </a:r>
            <a:r>
              <a:rPr sz="1750" spc="-5" dirty="0">
                <a:latin typeface="Microsoft YaHei"/>
                <a:cs typeface="Microsoft YaHei"/>
              </a:rPr>
              <a:t>多楔带传动是一种由多层橡胶或塑料基体组成的传动带，具有较高的承载</a:t>
            </a:r>
            <a:r>
              <a:rPr sz="1750" spc="-10" dirty="0">
                <a:latin typeface="Microsoft YaHei"/>
                <a:cs typeface="Microsoft YaHei"/>
              </a:rPr>
              <a:t>能力和传递功率。</a:t>
            </a:r>
            <a:endParaRPr sz="1750">
              <a:latin typeface="Microsoft YaHei"/>
              <a:cs typeface="Microsoft YaHe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346192" y="2098548"/>
            <a:ext cx="5346700" cy="4506595"/>
            <a:chOff x="5346192" y="2098548"/>
            <a:chExt cx="5346700" cy="4506595"/>
          </a:xfrm>
        </p:grpSpPr>
        <p:pic>
          <p:nvPicPr>
            <p:cNvPr id="3" name="object 3"/>
            <p:cNvPicPr/>
            <p:nvPr/>
          </p:nvPicPr>
          <p:blipFill>
            <a:blip r:embed="rId2" cstate="print"/>
            <a:stretch>
              <a:fillRect/>
            </a:stretch>
          </p:blipFill>
          <p:spPr>
            <a:xfrm>
              <a:off x="5346192" y="3928872"/>
              <a:ext cx="1943100" cy="1860804"/>
            </a:xfrm>
            <a:prstGeom prst="rect">
              <a:avLst/>
            </a:prstGeom>
          </p:spPr>
        </p:pic>
        <p:pic>
          <p:nvPicPr>
            <p:cNvPr id="4" name="object 4"/>
            <p:cNvPicPr/>
            <p:nvPr/>
          </p:nvPicPr>
          <p:blipFill>
            <a:blip r:embed="rId3" cstate="print"/>
            <a:stretch>
              <a:fillRect/>
            </a:stretch>
          </p:blipFill>
          <p:spPr>
            <a:xfrm>
              <a:off x="6313932" y="2098548"/>
              <a:ext cx="4378452" cy="4506467"/>
            </a:xfrm>
            <a:prstGeom prst="rect">
              <a:avLst/>
            </a:prstGeom>
          </p:spPr>
        </p:pic>
      </p:grpSp>
      <p:sp>
        <p:nvSpPr>
          <p:cNvPr id="5" name="object 5"/>
          <p:cNvSpPr txBox="1">
            <a:spLocks noGrp="1"/>
          </p:cNvSpPr>
          <p:nvPr>
            <p:ph type="title"/>
          </p:nvPr>
        </p:nvSpPr>
        <p:spPr>
          <a:xfrm>
            <a:off x="283030" y="2088918"/>
            <a:ext cx="354139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a:t>
            </a:r>
          </a:p>
        </p:txBody>
      </p:sp>
      <p:pic>
        <p:nvPicPr>
          <p:cNvPr id="6" name="object 6"/>
          <p:cNvPicPr/>
          <p:nvPr/>
        </p:nvPicPr>
        <p:blipFill>
          <a:blip r:embed="rId4" cstate="print"/>
          <a:stretch>
            <a:fillRect/>
          </a:stretch>
        </p:blipFill>
        <p:spPr>
          <a:xfrm>
            <a:off x="0" y="772668"/>
            <a:ext cx="10692384" cy="1071372"/>
          </a:xfrm>
          <a:prstGeom prst="rect">
            <a:avLst/>
          </a:prstGeom>
        </p:spPr>
      </p:pic>
      <p:sp>
        <p:nvSpPr>
          <p:cNvPr id="7" name="object 7"/>
          <p:cNvSpPr txBox="1"/>
          <p:nvPr/>
        </p:nvSpPr>
        <p:spPr>
          <a:xfrm>
            <a:off x="621231" y="3192249"/>
            <a:ext cx="4292600" cy="3200400"/>
          </a:xfrm>
          <a:prstGeom prst="rect">
            <a:avLst/>
          </a:prstGeom>
        </p:spPr>
        <p:txBody>
          <a:bodyPr vert="horz" wrap="square" lIns="0" tIns="12700" rIns="0" bIns="0" rtlCol="0">
            <a:spAutoFit/>
          </a:bodyPr>
          <a:lstStyle/>
          <a:p>
            <a:pPr marL="12700">
              <a:lnSpc>
                <a:spcPct val="100000"/>
              </a:lnSpc>
              <a:spcBef>
                <a:spcPts val="100"/>
              </a:spcBef>
            </a:pPr>
            <a:r>
              <a:rPr sz="2100" dirty="0">
                <a:latin typeface="Microsoft YaHei"/>
                <a:cs typeface="Microsoft YaHei"/>
              </a:rPr>
              <a:t>啮合型带传动（同步带</a:t>
            </a:r>
            <a:r>
              <a:rPr sz="2100" spc="-50" dirty="0">
                <a:latin typeface="Microsoft YaHei"/>
                <a:cs typeface="Microsoft YaHei"/>
              </a:rPr>
              <a:t>）</a:t>
            </a:r>
            <a:endParaRPr sz="2100">
              <a:latin typeface="Microsoft YaHei"/>
              <a:cs typeface="Microsoft YaHei"/>
            </a:endParaRPr>
          </a:p>
          <a:p>
            <a:pPr marL="12700" marR="5080" algn="just">
              <a:lnSpc>
                <a:spcPct val="99700"/>
              </a:lnSpc>
              <a:spcBef>
                <a:spcPts val="2575"/>
              </a:spcBef>
            </a:pPr>
            <a:r>
              <a:rPr sz="2100" spc="-5" dirty="0">
                <a:latin typeface="Microsoft YaHei"/>
                <a:cs typeface="Microsoft YaHei"/>
              </a:rPr>
              <a:t>优点：结构简单，传动平稳，承载力强，具有精确传动比，效率高，径向压力相对较小，涨紧后无回程差；可讲旋转运动转为直线运动</a:t>
            </a:r>
            <a:endParaRPr sz="2100">
              <a:latin typeface="Microsoft YaHei"/>
              <a:cs typeface="Microsoft YaHei"/>
            </a:endParaRPr>
          </a:p>
          <a:p>
            <a:pPr marL="12700" marR="5080" algn="just">
              <a:lnSpc>
                <a:spcPct val="99300"/>
              </a:lnSpc>
              <a:spcBef>
                <a:spcPts val="2345"/>
              </a:spcBef>
            </a:pPr>
            <a:r>
              <a:rPr sz="2100" spc="-5" dirty="0">
                <a:latin typeface="Microsoft YaHei"/>
                <a:cs typeface="Microsoft YaHei"/>
              </a:rPr>
              <a:t>缺点：结构不够紧凑，往往需要设置胀紧装置，占用空间较大，负载过大</a:t>
            </a:r>
            <a:r>
              <a:rPr sz="2100" spc="-15" dirty="0">
                <a:latin typeface="Microsoft YaHei"/>
                <a:cs typeface="Microsoft YaHei"/>
              </a:rPr>
              <a:t>时会跳齿</a:t>
            </a:r>
            <a:endParaRPr sz="2100">
              <a:latin typeface="Microsoft YaHei"/>
              <a:cs typeface="Microsoft YaHe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354139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619799" y="3190687"/>
            <a:ext cx="3492500" cy="345440"/>
          </a:xfrm>
          <a:prstGeom prst="rect">
            <a:avLst/>
          </a:prstGeom>
        </p:spPr>
        <p:txBody>
          <a:bodyPr vert="horz" wrap="square" lIns="0" tIns="12700" rIns="0" bIns="0" rtlCol="0">
            <a:spAutoFit/>
          </a:bodyPr>
          <a:lstStyle/>
          <a:p>
            <a:pPr marL="12700">
              <a:lnSpc>
                <a:spcPct val="100000"/>
              </a:lnSpc>
              <a:spcBef>
                <a:spcPts val="100"/>
              </a:spcBef>
            </a:pPr>
            <a:r>
              <a:rPr sz="2100" dirty="0">
                <a:latin typeface="Microsoft YaHei"/>
                <a:cs typeface="Microsoft YaHei"/>
              </a:rPr>
              <a:t>啮合型带传动（同步带）</a:t>
            </a:r>
            <a:r>
              <a:rPr sz="2100" spc="-25" dirty="0">
                <a:latin typeface="Microsoft YaHei"/>
                <a:cs typeface="Microsoft YaHei"/>
              </a:rPr>
              <a:t>设计</a:t>
            </a:r>
            <a:endParaRPr sz="2100">
              <a:latin typeface="Microsoft YaHei"/>
              <a:cs typeface="Microsoft YaHei"/>
            </a:endParaRPr>
          </a:p>
        </p:txBody>
      </p:sp>
      <p:sp>
        <p:nvSpPr>
          <p:cNvPr id="5" name="object 5"/>
          <p:cNvSpPr txBox="1"/>
          <p:nvPr/>
        </p:nvSpPr>
        <p:spPr>
          <a:xfrm>
            <a:off x="542038" y="3879595"/>
            <a:ext cx="4082415" cy="826135"/>
          </a:xfrm>
          <a:prstGeom prst="rect">
            <a:avLst/>
          </a:prstGeom>
        </p:spPr>
        <p:txBody>
          <a:bodyPr vert="horz" wrap="square" lIns="0" tIns="12700" rIns="0" bIns="0" rtlCol="0">
            <a:spAutoFit/>
          </a:bodyPr>
          <a:lstStyle/>
          <a:p>
            <a:pPr marL="312420" marR="5080" indent="-300355">
              <a:lnSpc>
                <a:spcPct val="100000"/>
              </a:lnSpc>
              <a:spcBef>
                <a:spcPts val="100"/>
              </a:spcBef>
              <a:buFont typeface="Wingdings"/>
              <a:buChar char=""/>
              <a:tabLst>
                <a:tab pos="312420" algn="l"/>
              </a:tabLst>
            </a:pPr>
            <a:r>
              <a:rPr sz="1750" b="1" dirty="0">
                <a:latin typeface="Microsoft YaHei"/>
                <a:cs typeface="Microsoft YaHei"/>
              </a:rPr>
              <a:t>传递功率</a:t>
            </a:r>
            <a:r>
              <a:rPr sz="1750" b="1" dirty="0">
                <a:latin typeface="Calibri"/>
                <a:cs typeface="Calibri"/>
              </a:rPr>
              <a:t>/</a:t>
            </a:r>
            <a:r>
              <a:rPr sz="1750" b="1" dirty="0">
                <a:latin typeface="Microsoft YaHei"/>
                <a:cs typeface="Microsoft YaHei"/>
              </a:rPr>
              <a:t>转速：</a:t>
            </a:r>
            <a:r>
              <a:rPr sz="1750" spc="-10" dirty="0">
                <a:latin typeface="Microsoft YaHei"/>
                <a:cs typeface="Microsoft YaHei"/>
              </a:rPr>
              <a:t>查看电机使用手册，</a:t>
            </a:r>
            <a:r>
              <a:rPr sz="1750" dirty="0">
                <a:latin typeface="Microsoft YaHei"/>
                <a:cs typeface="Microsoft YaHei"/>
              </a:rPr>
              <a:t>一般选择最大功率，以</a:t>
            </a:r>
            <a:r>
              <a:rPr sz="1750" spc="-10" dirty="0">
                <a:latin typeface="Calibri"/>
                <a:cs typeface="Calibri"/>
              </a:rPr>
              <a:t>M3508</a:t>
            </a:r>
            <a:r>
              <a:rPr sz="1750" spc="-15" dirty="0">
                <a:latin typeface="Microsoft YaHei"/>
                <a:cs typeface="Microsoft YaHei"/>
              </a:rPr>
              <a:t>为例，一</a:t>
            </a:r>
            <a:r>
              <a:rPr sz="1750" dirty="0">
                <a:latin typeface="Microsoft YaHei"/>
                <a:cs typeface="Microsoft YaHei"/>
              </a:rPr>
              <a:t>般选择</a:t>
            </a:r>
            <a:r>
              <a:rPr sz="1750" spc="-10" dirty="0">
                <a:latin typeface="Calibri"/>
                <a:cs typeface="Calibri"/>
              </a:rPr>
              <a:t>0.3KW</a:t>
            </a:r>
            <a:r>
              <a:rPr sz="1750" spc="-5" dirty="0">
                <a:latin typeface="Microsoft YaHei"/>
                <a:cs typeface="Microsoft YaHei"/>
              </a:rPr>
              <a:t>，转速为</a:t>
            </a:r>
            <a:r>
              <a:rPr sz="1750" spc="-10" dirty="0">
                <a:latin typeface="Calibri"/>
                <a:cs typeface="Calibri"/>
              </a:rPr>
              <a:t>482rpm</a:t>
            </a:r>
            <a:endParaRPr sz="1750">
              <a:latin typeface="Calibri"/>
              <a:cs typeface="Calibri"/>
            </a:endParaRPr>
          </a:p>
        </p:txBody>
      </p:sp>
      <p:sp>
        <p:nvSpPr>
          <p:cNvPr id="6" name="object 6"/>
          <p:cNvSpPr txBox="1"/>
          <p:nvPr/>
        </p:nvSpPr>
        <p:spPr>
          <a:xfrm>
            <a:off x="542038" y="4952459"/>
            <a:ext cx="4108450" cy="1356360"/>
          </a:xfrm>
          <a:prstGeom prst="rect">
            <a:avLst/>
          </a:prstGeom>
        </p:spPr>
        <p:txBody>
          <a:bodyPr vert="horz" wrap="square" lIns="0" tIns="25400" rIns="0" bIns="0" rtlCol="0">
            <a:spAutoFit/>
          </a:bodyPr>
          <a:lstStyle/>
          <a:p>
            <a:pPr marL="312420" marR="5080" indent="-300355">
              <a:lnSpc>
                <a:spcPts val="2060"/>
              </a:lnSpc>
              <a:spcBef>
                <a:spcPts val="200"/>
              </a:spcBef>
              <a:buFont typeface="Wingdings"/>
              <a:buChar char=""/>
              <a:tabLst>
                <a:tab pos="312420" algn="l"/>
              </a:tabLst>
            </a:pPr>
            <a:r>
              <a:rPr sz="1750" b="1" dirty="0">
                <a:latin typeface="Microsoft YaHei"/>
                <a:cs typeface="Microsoft YaHei"/>
              </a:rPr>
              <a:t>传动比：</a:t>
            </a:r>
            <a:r>
              <a:rPr sz="1750" spc="-5" dirty="0">
                <a:latin typeface="Microsoft YaHei"/>
                <a:cs typeface="Microsoft YaHei"/>
              </a:rPr>
              <a:t>根据设计要求，由于传动比过</a:t>
            </a:r>
            <a:r>
              <a:rPr sz="1750" dirty="0">
                <a:latin typeface="Microsoft YaHei"/>
                <a:cs typeface="Microsoft YaHei"/>
              </a:rPr>
              <a:t>大，包角过小，一般不超过</a:t>
            </a:r>
            <a:r>
              <a:rPr sz="1750" spc="-50" dirty="0">
                <a:latin typeface="Calibri"/>
                <a:cs typeface="Calibri"/>
              </a:rPr>
              <a:t>5</a:t>
            </a:r>
            <a:endParaRPr sz="1750">
              <a:latin typeface="Calibri"/>
              <a:cs typeface="Calibri"/>
            </a:endParaRPr>
          </a:p>
          <a:p>
            <a:pPr marL="312420" marR="131445" indent="-300355">
              <a:lnSpc>
                <a:spcPct val="100000"/>
              </a:lnSpc>
              <a:spcBef>
                <a:spcPts val="2055"/>
              </a:spcBef>
              <a:buFont typeface="Wingdings"/>
              <a:buChar char=""/>
              <a:tabLst>
                <a:tab pos="312420" algn="l"/>
              </a:tabLst>
            </a:pPr>
            <a:r>
              <a:rPr sz="1750" b="1" dirty="0">
                <a:latin typeface="Microsoft YaHei"/>
                <a:cs typeface="Microsoft YaHei"/>
              </a:rPr>
              <a:t>中心距</a:t>
            </a:r>
            <a:r>
              <a:rPr sz="1750" b="1" dirty="0">
                <a:latin typeface="Calibri"/>
                <a:cs typeface="Calibri"/>
              </a:rPr>
              <a:t>/</a:t>
            </a:r>
            <a:r>
              <a:rPr sz="1750" b="1" dirty="0">
                <a:latin typeface="Microsoft YaHei"/>
                <a:cs typeface="Microsoft YaHei"/>
              </a:rPr>
              <a:t>带轮基准直径：</a:t>
            </a:r>
            <a:r>
              <a:rPr sz="1750" spc="-10" dirty="0">
                <a:latin typeface="Microsoft YaHei"/>
                <a:cs typeface="Microsoft YaHei"/>
              </a:rPr>
              <a:t>根据需求来进</a:t>
            </a:r>
            <a:r>
              <a:rPr sz="1750" dirty="0">
                <a:latin typeface="Microsoft YaHei"/>
                <a:cs typeface="Microsoft YaHei"/>
              </a:rPr>
              <a:t>行选择，一般</a:t>
            </a:r>
            <a:r>
              <a:rPr sz="1750" spc="-10" dirty="0">
                <a:latin typeface="Calibri"/>
                <a:cs typeface="Calibri"/>
              </a:rPr>
              <a:t>0.7(d1+d2)~2(d1+d2)</a:t>
            </a:r>
            <a:endParaRPr sz="1750">
              <a:latin typeface="Calibri"/>
              <a:cs typeface="Calibri"/>
            </a:endParaRPr>
          </a:p>
        </p:txBody>
      </p:sp>
      <p:sp>
        <p:nvSpPr>
          <p:cNvPr id="7" name="object 7"/>
          <p:cNvSpPr txBox="1"/>
          <p:nvPr/>
        </p:nvSpPr>
        <p:spPr>
          <a:xfrm>
            <a:off x="5714491" y="3794200"/>
            <a:ext cx="2116455" cy="292735"/>
          </a:xfrm>
          <a:prstGeom prst="rect">
            <a:avLst/>
          </a:prstGeom>
        </p:spPr>
        <p:txBody>
          <a:bodyPr vert="horz" wrap="square" lIns="0" tIns="12700" rIns="0" bIns="0" rtlCol="0">
            <a:spAutoFit/>
          </a:bodyPr>
          <a:lstStyle/>
          <a:p>
            <a:pPr marL="12700">
              <a:lnSpc>
                <a:spcPct val="100000"/>
              </a:lnSpc>
              <a:spcBef>
                <a:spcPts val="100"/>
              </a:spcBef>
            </a:pPr>
            <a:r>
              <a:rPr sz="1750" spc="-5" dirty="0">
                <a:latin typeface="Microsoft YaHei"/>
                <a:cs typeface="Microsoft YaHei"/>
              </a:rPr>
              <a:t>常用齿形：</a:t>
            </a:r>
            <a:r>
              <a:rPr sz="1750" spc="-10" dirty="0">
                <a:latin typeface="Calibri"/>
                <a:cs typeface="Calibri"/>
              </a:rPr>
              <a:t>s3m</a:t>
            </a:r>
            <a:r>
              <a:rPr sz="1750" spc="-10" dirty="0">
                <a:latin typeface="Microsoft YaHei"/>
                <a:cs typeface="Microsoft YaHei"/>
              </a:rPr>
              <a:t>，</a:t>
            </a:r>
            <a:r>
              <a:rPr sz="1750" spc="-10" dirty="0">
                <a:latin typeface="Calibri"/>
                <a:cs typeface="Calibri"/>
              </a:rPr>
              <a:t>s5m</a:t>
            </a:r>
            <a:endParaRPr sz="1750">
              <a:latin typeface="Calibri"/>
              <a:cs typeface="Calibri"/>
            </a:endParaRPr>
          </a:p>
        </p:txBody>
      </p:sp>
      <p:sp>
        <p:nvSpPr>
          <p:cNvPr id="8" name="object 8"/>
          <p:cNvSpPr txBox="1"/>
          <p:nvPr/>
        </p:nvSpPr>
        <p:spPr>
          <a:xfrm>
            <a:off x="5714491" y="4524291"/>
            <a:ext cx="3360420" cy="1094105"/>
          </a:xfrm>
          <a:prstGeom prst="rect">
            <a:avLst/>
          </a:prstGeom>
        </p:spPr>
        <p:txBody>
          <a:bodyPr vert="horz" wrap="square" lIns="0" tIns="12700" rIns="0" bIns="0" rtlCol="0">
            <a:spAutoFit/>
          </a:bodyPr>
          <a:lstStyle/>
          <a:p>
            <a:pPr marL="12700">
              <a:lnSpc>
                <a:spcPct val="100000"/>
              </a:lnSpc>
              <a:spcBef>
                <a:spcPts val="100"/>
              </a:spcBef>
            </a:pPr>
            <a:r>
              <a:rPr sz="1750" spc="-10" dirty="0">
                <a:latin typeface="Microsoft YaHei"/>
                <a:cs typeface="Microsoft YaHei"/>
              </a:rPr>
              <a:t>常用加工方式：</a:t>
            </a:r>
            <a:endParaRPr sz="1750">
              <a:latin typeface="Microsoft YaHei"/>
              <a:cs typeface="Microsoft YaHei"/>
            </a:endParaRPr>
          </a:p>
          <a:p>
            <a:pPr marL="814069" marR="535305">
              <a:lnSpc>
                <a:spcPct val="100000"/>
              </a:lnSpc>
            </a:pPr>
            <a:r>
              <a:rPr sz="1750" spc="-10" dirty="0">
                <a:latin typeface="Microsoft YaHei"/>
                <a:cs typeface="Microsoft YaHei"/>
              </a:rPr>
              <a:t>定制铝合金同步带轮直接买标准件</a:t>
            </a:r>
            <a:endParaRPr sz="1750">
              <a:latin typeface="Microsoft YaHei"/>
              <a:cs typeface="Microsoft YaHei"/>
            </a:endParaRPr>
          </a:p>
          <a:p>
            <a:pPr marL="814069">
              <a:lnSpc>
                <a:spcPct val="100000"/>
              </a:lnSpc>
              <a:spcBef>
                <a:spcPts val="10"/>
              </a:spcBef>
            </a:pPr>
            <a:r>
              <a:rPr sz="1750" spc="-5" dirty="0">
                <a:latin typeface="Microsoft YaHei"/>
                <a:cs typeface="Microsoft YaHei"/>
              </a:rPr>
              <a:t>玻纤板</a:t>
            </a:r>
            <a:r>
              <a:rPr sz="1750" spc="-10" dirty="0">
                <a:latin typeface="Calibri"/>
                <a:cs typeface="Calibri"/>
              </a:rPr>
              <a:t>/</a:t>
            </a:r>
            <a:r>
              <a:rPr sz="1750" spc="-10" dirty="0">
                <a:latin typeface="Microsoft YaHei"/>
                <a:cs typeface="Microsoft YaHei"/>
              </a:rPr>
              <a:t>碳板切出对应形状</a:t>
            </a:r>
            <a:endParaRPr sz="1750">
              <a:latin typeface="Microsoft YaHei"/>
              <a:cs typeface="Microsoft YaHe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354139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592321" y="3010847"/>
            <a:ext cx="5100955" cy="2439670"/>
          </a:xfrm>
          <a:prstGeom prst="rect">
            <a:avLst/>
          </a:prstGeom>
        </p:spPr>
        <p:txBody>
          <a:bodyPr vert="horz" wrap="square" lIns="0" tIns="13970" rIns="0" bIns="0" rtlCol="0">
            <a:spAutoFit/>
          </a:bodyPr>
          <a:lstStyle/>
          <a:p>
            <a:pPr marL="12700" marR="5080">
              <a:lnSpc>
                <a:spcPct val="99500"/>
              </a:lnSpc>
              <a:spcBef>
                <a:spcPts val="110"/>
              </a:spcBef>
            </a:pPr>
            <a:r>
              <a:rPr sz="2100" spc="-5" dirty="0">
                <a:latin typeface="Microsoft YaHei"/>
                <a:cs typeface="Microsoft YaHei"/>
              </a:rPr>
              <a:t>链传动优点：安装精度要求低，径向力小，多齿同时啮合承载能力强，耐高温腐蚀，</a:t>
            </a:r>
            <a:r>
              <a:rPr sz="2100" spc="-50" dirty="0">
                <a:latin typeface="Microsoft YaHei"/>
                <a:cs typeface="Microsoft YaHei"/>
              </a:rPr>
              <a:t> </a:t>
            </a:r>
            <a:r>
              <a:rPr sz="2100" spc="-5" dirty="0">
                <a:latin typeface="Microsoft YaHei"/>
                <a:cs typeface="Microsoft YaHei"/>
              </a:rPr>
              <a:t>能在恶劣环境工作，可远距离传输，可转旋</a:t>
            </a:r>
            <a:r>
              <a:rPr sz="2100" spc="-10" dirty="0">
                <a:latin typeface="Microsoft YaHei"/>
                <a:cs typeface="Microsoft YaHei"/>
              </a:rPr>
              <a:t>转运动为直线运动</a:t>
            </a:r>
            <a:endParaRPr sz="2100">
              <a:latin typeface="Microsoft YaHei"/>
              <a:cs typeface="Microsoft YaHei"/>
            </a:endParaRPr>
          </a:p>
          <a:p>
            <a:pPr marL="12700" marR="276860" algn="just">
              <a:lnSpc>
                <a:spcPct val="99300"/>
              </a:lnSpc>
              <a:spcBef>
                <a:spcPts val="1460"/>
              </a:spcBef>
            </a:pPr>
            <a:r>
              <a:rPr sz="2100" spc="-5" dirty="0">
                <a:latin typeface="Microsoft YaHei"/>
                <a:cs typeface="Microsoft YaHei"/>
              </a:rPr>
              <a:t>缺点：瞬时传动比不恒定，运转时产生噪声和振动，重量大，精度不高，占用空间</a:t>
            </a:r>
            <a:r>
              <a:rPr sz="2100" spc="-25" dirty="0">
                <a:latin typeface="Microsoft YaHei"/>
                <a:cs typeface="Microsoft YaHei"/>
              </a:rPr>
              <a:t>较大</a:t>
            </a:r>
            <a:endParaRPr sz="2100">
              <a:latin typeface="Microsoft YaHei"/>
              <a:cs typeface="Microsoft YaHei"/>
            </a:endParaRPr>
          </a:p>
        </p:txBody>
      </p:sp>
      <p:pic>
        <p:nvPicPr>
          <p:cNvPr id="5" name="object 5"/>
          <p:cNvPicPr/>
          <p:nvPr/>
        </p:nvPicPr>
        <p:blipFill>
          <a:blip r:embed="rId3" cstate="print"/>
          <a:stretch>
            <a:fillRect/>
          </a:stretch>
        </p:blipFill>
        <p:spPr>
          <a:xfrm>
            <a:off x="6147815" y="2481072"/>
            <a:ext cx="4090416" cy="2307335"/>
          </a:xfrm>
          <a:prstGeom prst="rect">
            <a:avLst/>
          </a:prstGeom>
        </p:spPr>
      </p:pic>
      <p:pic>
        <p:nvPicPr>
          <p:cNvPr id="6" name="object 6"/>
          <p:cNvPicPr/>
          <p:nvPr/>
        </p:nvPicPr>
        <p:blipFill>
          <a:blip r:embed="rId4" cstate="print"/>
          <a:stretch>
            <a:fillRect/>
          </a:stretch>
        </p:blipFill>
        <p:spPr>
          <a:xfrm>
            <a:off x="3878579" y="5262371"/>
            <a:ext cx="6134099" cy="141274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354139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a:t>
            </a:r>
          </a:p>
        </p:txBody>
      </p:sp>
      <p:pic>
        <p:nvPicPr>
          <p:cNvPr id="3" name="object 3"/>
          <p:cNvPicPr/>
          <p:nvPr/>
        </p:nvPicPr>
        <p:blipFill>
          <a:blip r:embed="rId2" cstate="print"/>
          <a:stretch>
            <a:fillRect/>
          </a:stretch>
        </p:blipFill>
        <p:spPr>
          <a:xfrm>
            <a:off x="0" y="772668"/>
            <a:ext cx="10692384" cy="1071372"/>
          </a:xfrm>
          <a:prstGeom prst="rect">
            <a:avLst/>
          </a:prstGeom>
        </p:spPr>
      </p:pic>
      <p:pic>
        <p:nvPicPr>
          <p:cNvPr id="4" name="object 4"/>
          <p:cNvPicPr/>
          <p:nvPr/>
        </p:nvPicPr>
        <p:blipFill>
          <a:blip r:embed="rId3" cstate="print"/>
          <a:stretch>
            <a:fillRect/>
          </a:stretch>
        </p:blipFill>
        <p:spPr>
          <a:xfrm>
            <a:off x="4986528" y="2755392"/>
            <a:ext cx="5263896" cy="3198875"/>
          </a:xfrm>
          <a:prstGeom prst="rect">
            <a:avLst/>
          </a:prstGeom>
        </p:spPr>
      </p:pic>
      <p:sp>
        <p:nvSpPr>
          <p:cNvPr id="5" name="object 5"/>
          <p:cNvSpPr txBox="1"/>
          <p:nvPr/>
        </p:nvSpPr>
        <p:spPr>
          <a:xfrm>
            <a:off x="964161" y="3116104"/>
            <a:ext cx="3238500" cy="2205355"/>
          </a:xfrm>
          <a:prstGeom prst="rect">
            <a:avLst/>
          </a:prstGeom>
        </p:spPr>
        <p:txBody>
          <a:bodyPr vert="horz" wrap="square" lIns="0" tIns="16510" rIns="0" bIns="0" rtlCol="0">
            <a:spAutoFit/>
          </a:bodyPr>
          <a:lstStyle/>
          <a:p>
            <a:pPr marL="12700">
              <a:lnSpc>
                <a:spcPct val="100000"/>
              </a:lnSpc>
              <a:spcBef>
                <a:spcPts val="130"/>
              </a:spcBef>
            </a:pPr>
            <a:r>
              <a:rPr sz="1550" dirty="0">
                <a:latin typeface="Microsoft YaHei"/>
                <a:cs typeface="Microsoft YaHei"/>
              </a:rPr>
              <a:t>节距</a:t>
            </a:r>
            <a:r>
              <a:rPr sz="1550" dirty="0">
                <a:latin typeface="Calibri"/>
                <a:cs typeface="Calibri"/>
              </a:rPr>
              <a:t>P</a:t>
            </a:r>
            <a:r>
              <a:rPr sz="1550" spc="-5" dirty="0">
                <a:latin typeface="Microsoft YaHei"/>
                <a:cs typeface="Microsoft YaHei"/>
              </a:rPr>
              <a:t>是链条滚子之间的中心距离</a:t>
            </a:r>
            <a:endParaRPr sz="1550">
              <a:latin typeface="Microsoft YaHei"/>
              <a:cs typeface="Microsoft YaHei"/>
            </a:endParaRPr>
          </a:p>
          <a:p>
            <a:pPr marL="12700" marR="5080">
              <a:lnSpc>
                <a:spcPct val="100600"/>
              </a:lnSpc>
              <a:spcBef>
                <a:spcPts val="2680"/>
              </a:spcBef>
            </a:pPr>
            <a:r>
              <a:rPr sz="1550" spc="-5" dirty="0">
                <a:latin typeface="Microsoft YaHei"/>
                <a:cs typeface="Microsoft YaHei"/>
              </a:rPr>
              <a:t>节距越大，承载能力越强多边形效应越明显，传动平稳性越低</a:t>
            </a:r>
            <a:endParaRPr sz="1550">
              <a:latin typeface="Microsoft YaHei"/>
              <a:cs typeface="Microsoft YaHei"/>
            </a:endParaRPr>
          </a:p>
          <a:p>
            <a:pPr>
              <a:lnSpc>
                <a:spcPct val="100000"/>
              </a:lnSpc>
              <a:spcBef>
                <a:spcPts val="345"/>
              </a:spcBef>
            </a:pPr>
            <a:endParaRPr sz="1550">
              <a:latin typeface="Microsoft YaHei"/>
              <a:cs typeface="Microsoft YaHei"/>
            </a:endParaRPr>
          </a:p>
          <a:p>
            <a:pPr marL="12700">
              <a:lnSpc>
                <a:spcPct val="100000"/>
              </a:lnSpc>
            </a:pPr>
            <a:r>
              <a:rPr sz="1550" spc="-5" dirty="0">
                <a:latin typeface="Microsoft YaHei"/>
                <a:cs typeface="Microsoft YaHei"/>
              </a:rPr>
              <a:t>链条链节的数目选择偶数</a:t>
            </a:r>
            <a:endParaRPr sz="1550">
              <a:latin typeface="Microsoft YaHei"/>
              <a:cs typeface="Microsoft YaHei"/>
            </a:endParaRPr>
          </a:p>
          <a:p>
            <a:pPr marL="12700">
              <a:lnSpc>
                <a:spcPct val="100000"/>
              </a:lnSpc>
              <a:spcBef>
                <a:spcPts val="1920"/>
              </a:spcBef>
            </a:pPr>
            <a:r>
              <a:rPr sz="1550" spc="-5" dirty="0">
                <a:latin typeface="Microsoft YaHei"/>
                <a:cs typeface="Microsoft YaHei"/>
              </a:rPr>
              <a:t>链轮的齿数和链条的齿数需要互质</a:t>
            </a:r>
            <a:endParaRPr sz="1550">
              <a:latin typeface="Microsoft YaHei"/>
              <a:cs typeface="Microsoft YaHe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354139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a:spLocks noGrp="1"/>
          </p:cNvSpPr>
          <p:nvPr>
            <p:ph type="body" idx="1"/>
          </p:nvPr>
        </p:nvSpPr>
        <p:spPr>
          <a:prstGeom prst="rect">
            <a:avLst/>
          </a:prstGeom>
        </p:spPr>
        <p:txBody>
          <a:bodyPr vert="horz" wrap="square" lIns="0" tIns="154940" rIns="0" bIns="0" rtlCol="0">
            <a:spAutoFit/>
          </a:bodyPr>
          <a:lstStyle/>
          <a:p>
            <a:pPr marL="12700">
              <a:lnSpc>
                <a:spcPct val="100000"/>
              </a:lnSpc>
              <a:spcBef>
                <a:spcPts val="1220"/>
              </a:spcBef>
            </a:pPr>
            <a:r>
              <a:rPr b="0" dirty="0">
                <a:latin typeface="Microsoft YaHei"/>
                <a:cs typeface="Microsoft YaHei"/>
              </a:rPr>
              <a:t>链传动的</a:t>
            </a:r>
            <a:r>
              <a:rPr spc="-10" dirty="0"/>
              <a:t>多边形效应</a:t>
            </a:r>
          </a:p>
          <a:p>
            <a:pPr marL="376555" marR="60960" algn="just">
              <a:lnSpc>
                <a:spcPct val="101299"/>
              </a:lnSpc>
              <a:spcBef>
                <a:spcPts val="1105"/>
              </a:spcBef>
            </a:pPr>
            <a:r>
              <a:rPr b="0" spc="-5" dirty="0">
                <a:latin typeface="Microsoft YaHei"/>
                <a:cs typeface="Microsoft YaHei"/>
              </a:rPr>
              <a:t>链条整体是一挠性体，但对单个链节，却是刚性体。所以链条绕在链轮上时，并非沿轮周弯曲成圆弧性，而是折成正多边形的一部分，此正多边形的边长为，边数为链轮的齿数。</a:t>
            </a:r>
          </a:p>
          <a:p>
            <a:pPr marL="376555" marR="5080" algn="just">
              <a:lnSpc>
                <a:spcPct val="101600"/>
              </a:lnSpc>
              <a:spcBef>
                <a:spcPts val="1925"/>
              </a:spcBef>
            </a:pPr>
            <a:r>
              <a:rPr dirty="0">
                <a:solidFill>
                  <a:srgbClr val="111111"/>
                </a:solidFill>
              </a:rPr>
              <a:t>多边形效应</a:t>
            </a:r>
            <a:r>
              <a:rPr b="0" spc="-5" dirty="0">
                <a:solidFill>
                  <a:srgbClr val="111111"/>
                </a:solidFill>
                <a:latin typeface="Microsoft YaHei"/>
                <a:cs typeface="Microsoft YaHei"/>
              </a:rPr>
              <a:t>是机械用语，指链条刚进入主动链轮时，链轮转过一个齿，水平方向链速就从小到大，再从大到小变化一次，同时伴随着链条竖直方向上下运动一次。 链条忽上忽下颤抖且</a:t>
            </a:r>
            <a:r>
              <a:rPr b="0" dirty="0">
                <a:solidFill>
                  <a:srgbClr val="111111"/>
                </a:solidFill>
                <a:latin typeface="Microsoft YaHei"/>
                <a:cs typeface="Microsoft YaHei"/>
              </a:rPr>
              <a:t>由于接触部分是</a:t>
            </a:r>
            <a:r>
              <a:rPr dirty="0">
                <a:solidFill>
                  <a:srgbClr val="111111"/>
                </a:solidFill>
              </a:rPr>
              <a:t>多边</a:t>
            </a:r>
            <a:r>
              <a:rPr b="0" spc="-5" dirty="0">
                <a:solidFill>
                  <a:srgbClr val="111111"/>
                </a:solidFill>
                <a:latin typeface="Microsoft YaHei"/>
                <a:cs typeface="Microsoft YaHei"/>
              </a:rPr>
              <a:t>形的部分，由于多边形的</a:t>
            </a:r>
            <a:r>
              <a:rPr b="0" dirty="0">
                <a:solidFill>
                  <a:srgbClr val="111111"/>
                </a:solidFill>
                <a:latin typeface="Microsoft YaHei"/>
                <a:cs typeface="Microsoft YaHei"/>
              </a:rPr>
              <a:t>存在而引起的</a:t>
            </a:r>
            <a:r>
              <a:rPr dirty="0">
                <a:solidFill>
                  <a:srgbClr val="111111"/>
                </a:solidFill>
              </a:rPr>
              <a:t>链传动</a:t>
            </a:r>
            <a:r>
              <a:rPr b="0" spc="-5" dirty="0">
                <a:solidFill>
                  <a:srgbClr val="111111"/>
                </a:solidFill>
                <a:latin typeface="Microsoft YaHei"/>
                <a:cs typeface="Microsoft YaHei"/>
              </a:rPr>
              <a:t>的运动不均匀性。 这种现</a:t>
            </a:r>
            <a:r>
              <a:rPr b="0" dirty="0">
                <a:solidFill>
                  <a:srgbClr val="111111"/>
                </a:solidFill>
                <a:latin typeface="Microsoft YaHei"/>
                <a:cs typeface="Microsoft YaHei"/>
              </a:rPr>
              <a:t>象称为</a:t>
            </a:r>
            <a:r>
              <a:rPr dirty="0">
                <a:solidFill>
                  <a:srgbClr val="111111"/>
                </a:solidFill>
              </a:rPr>
              <a:t>链传动的多边形效应</a:t>
            </a:r>
            <a:r>
              <a:rPr b="0" spc="-50" dirty="0">
                <a:solidFill>
                  <a:srgbClr val="111111"/>
                </a:solidFill>
                <a:latin typeface="Microsoft YaHei"/>
                <a:cs typeface="Microsoft YaHei"/>
              </a:rPr>
              <a:t>。</a:t>
            </a:r>
          </a:p>
        </p:txBody>
      </p:sp>
      <p:pic>
        <p:nvPicPr>
          <p:cNvPr id="5" name="object 5"/>
          <p:cNvPicPr/>
          <p:nvPr/>
        </p:nvPicPr>
        <p:blipFill>
          <a:blip r:embed="rId3" cstate="print"/>
          <a:stretch>
            <a:fillRect/>
          </a:stretch>
        </p:blipFill>
        <p:spPr>
          <a:xfrm>
            <a:off x="7786116" y="4434840"/>
            <a:ext cx="2464308" cy="2203704"/>
          </a:xfrm>
          <a:prstGeom prst="rect">
            <a:avLst/>
          </a:prstGeom>
        </p:spPr>
      </p:pic>
      <p:sp>
        <p:nvSpPr>
          <p:cNvPr id="6" name="object 6"/>
          <p:cNvSpPr txBox="1"/>
          <p:nvPr/>
        </p:nvSpPr>
        <p:spPr>
          <a:xfrm>
            <a:off x="5248108" y="5075917"/>
            <a:ext cx="2276475" cy="745490"/>
          </a:xfrm>
          <a:prstGeom prst="rect">
            <a:avLst/>
          </a:prstGeom>
        </p:spPr>
        <p:txBody>
          <a:bodyPr vert="horz" wrap="square" lIns="0" tIns="13970" rIns="0" bIns="0" rtlCol="0">
            <a:spAutoFit/>
          </a:bodyPr>
          <a:lstStyle/>
          <a:p>
            <a:pPr marL="12700" marR="5080">
              <a:lnSpc>
                <a:spcPct val="101299"/>
              </a:lnSpc>
              <a:spcBef>
                <a:spcPts val="110"/>
              </a:spcBef>
            </a:pPr>
            <a:r>
              <a:rPr sz="1550" dirty="0">
                <a:solidFill>
                  <a:srgbClr val="111111"/>
                </a:solidFill>
                <a:latin typeface="Microsoft YaHei"/>
                <a:cs typeface="Microsoft YaHei"/>
              </a:rPr>
              <a:t>如何减小</a:t>
            </a:r>
            <a:r>
              <a:rPr sz="1550" b="1" dirty="0">
                <a:solidFill>
                  <a:srgbClr val="111111"/>
                </a:solidFill>
                <a:latin typeface="Microsoft YaHei"/>
                <a:cs typeface="Microsoft YaHei"/>
              </a:rPr>
              <a:t>多边形效应</a:t>
            </a:r>
            <a:r>
              <a:rPr sz="1550" spc="-50" dirty="0">
                <a:solidFill>
                  <a:srgbClr val="111111"/>
                </a:solidFill>
                <a:latin typeface="Microsoft YaHei"/>
                <a:cs typeface="Microsoft YaHei"/>
              </a:rPr>
              <a:t>：</a:t>
            </a:r>
            <a:r>
              <a:rPr sz="1550" spc="500" dirty="0">
                <a:solidFill>
                  <a:srgbClr val="111111"/>
                </a:solidFill>
                <a:latin typeface="Microsoft YaHei"/>
                <a:cs typeface="Microsoft YaHei"/>
              </a:rPr>
              <a:t> </a:t>
            </a:r>
            <a:r>
              <a:rPr sz="1550" dirty="0">
                <a:solidFill>
                  <a:srgbClr val="111111"/>
                </a:solidFill>
                <a:latin typeface="Microsoft YaHei"/>
                <a:cs typeface="Microsoft YaHei"/>
              </a:rPr>
              <a:t>增加齿数</a:t>
            </a:r>
            <a:r>
              <a:rPr sz="1550" dirty="0">
                <a:solidFill>
                  <a:srgbClr val="111111"/>
                </a:solidFill>
                <a:latin typeface="Arial MT"/>
                <a:cs typeface="Arial MT"/>
              </a:rPr>
              <a:t>Z</a:t>
            </a:r>
            <a:r>
              <a:rPr sz="1550" spc="-10" dirty="0">
                <a:solidFill>
                  <a:srgbClr val="111111"/>
                </a:solidFill>
                <a:latin typeface="Microsoft YaHei"/>
                <a:cs typeface="Microsoft YaHei"/>
              </a:rPr>
              <a:t>，减小轮齿的</a:t>
            </a:r>
            <a:r>
              <a:rPr sz="1550" dirty="0">
                <a:solidFill>
                  <a:srgbClr val="111111"/>
                </a:solidFill>
                <a:latin typeface="Microsoft YaHei"/>
                <a:cs typeface="Microsoft YaHei"/>
              </a:rPr>
              <a:t>节距</a:t>
            </a:r>
            <a:r>
              <a:rPr sz="1550" dirty="0">
                <a:solidFill>
                  <a:srgbClr val="111111"/>
                </a:solidFill>
                <a:latin typeface="Arial MT"/>
                <a:cs typeface="Arial MT"/>
              </a:rPr>
              <a:t>P</a:t>
            </a:r>
            <a:r>
              <a:rPr sz="1550" dirty="0">
                <a:solidFill>
                  <a:srgbClr val="111111"/>
                </a:solidFill>
                <a:latin typeface="Microsoft YaHei"/>
                <a:cs typeface="Microsoft YaHei"/>
              </a:rPr>
              <a:t>，降低链轮转速</a:t>
            </a:r>
            <a:r>
              <a:rPr sz="1550" dirty="0">
                <a:solidFill>
                  <a:srgbClr val="111111"/>
                </a:solidFill>
                <a:latin typeface="Arial MT"/>
                <a:cs typeface="Arial MT"/>
              </a:rPr>
              <a:t>n</a:t>
            </a:r>
            <a:r>
              <a:rPr sz="1550" spc="-50" dirty="0">
                <a:solidFill>
                  <a:srgbClr val="111111"/>
                </a:solidFill>
                <a:latin typeface="Microsoft YaHei"/>
                <a:cs typeface="Microsoft YaHei"/>
              </a:rPr>
              <a:t>。</a:t>
            </a:r>
            <a:endParaRPr sz="1550">
              <a:latin typeface="Microsoft YaHei"/>
              <a:cs typeface="Microsoft YaHei"/>
            </a:endParaRPr>
          </a:p>
        </p:txBody>
      </p:sp>
      <p:pic>
        <p:nvPicPr>
          <p:cNvPr id="7" name="object 7"/>
          <p:cNvPicPr/>
          <p:nvPr/>
        </p:nvPicPr>
        <p:blipFill>
          <a:blip r:embed="rId4" cstate="print"/>
          <a:stretch>
            <a:fillRect/>
          </a:stretch>
        </p:blipFill>
        <p:spPr>
          <a:xfrm>
            <a:off x="5527547" y="2023872"/>
            <a:ext cx="4518659" cy="230123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4876165" cy="559435"/>
          </a:xfrm>
          <a:prstGeom prst="rect">
            <a:avLst/>
          </a:prstGeom>
        </p:spPr>
        <p:txBody>
          <a:bodyPr vert="horz" wrap="square" lIns="0" tIns="12700" rIns="0" bIns="0" rtlCol="0">
            <a:spAutoFit/>
          </a:bodyPr>
          <a:lstStyle/>
          <a:p>
            <a:pPr marL="12700">
              <a:lnSpc>
                <a:spcPct val="100000"/>
              </a:lnSpc>
              <a:spcBef>
                <a:spcPts val="100"/>
              </a:spcBef>
            </a:pPr>
            <a:r>
              <a:rPr spc="-25" dirty="0"/>
              <a:t>2</a:t>
            </a:r>
            <a:r>
              <a:rPr spc="-15" dirty="0"/>
              <a:t>.带传动、链传动的涨紧</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289051" y="3795733"/>
            <a:ext cx="2837815" cy="1949450"/>
          </a:xfrm>
          <a:prstGeom prst="rect">
            <a:avLst/>
          </a:prstGeom>
        </p:spPr>
        <p:txBody>
          <a:bodyPr vert="horz" wrap="square" lIns="0" tIns="16510" rIns="0" bIns="0" rtlCol="0">
            <a:spAutoFit/>
          </a:bodyPr>
          <a:lstStyle/>
          <a:p>
            <a:pPr marL="12700">
              <a:lnSpc>
                <a:spcPct val="100000"/>
              </a:lnSpc>
              <a:spcBef>
                <a:spcPts val="130"/>
              </a:spcBef>
            </a:pPr>
            <a:r>
              <a:rPr sz="1550" spc="-5" dirty="0">
                <a:latin typeface="Microsoft YaHei"/>
                <a:cs typeface="Microsoft YaHei"/>
              </a:rPr>
              <a:t>方法一：中心距设置为可调结构</a:t>
            </a:r>
            <a:endParaRPr sz="1550">
              <a:latin typeface="Microsoft YaHei"/>
              <a:cs typeface="Microsoft YaHei"/>
            </a:endParaRPr>
          </a:p>
          <a:p>
            <a:pPr marL="12700" marR="5080">
              <a:lnSpc>
                <a:spcPct val="101800"/>
              </a:lnSpc>
              <a:spcBef>
                <a:spcPts val="1889"/>
              </a:spcBef>
            </a:pPr>
            <a:r>
              <a:rPr sz="1550" spc="25" dirty="0">
                <a:latin typeface="Microsoft YaHei"/>
                <a:cs typeface="Microsoft YaHei"/>
              </a:rPr>
              <a:t>方法二：安装涨紧轮</a:t>
            </a:r>
            <a:r>
              <a:rPr sz="1550" dirty="0">
                <a:latin typeface="Calibri"/>
                <a:cs typeface="Calibri"/>
              </a:rPr>
              <a:t>(</a:t>
            </a:r>
            <a:r>
              <a:rPr sz="1550" spc="15" dirty="0">
                <a:latin typeface="Microsoft YaHei"/>
                <a:cs typeface="Microsoft YaHei"/>
              </a:rPr>
              <a:t>张紧轮一</a:t>
            </a:r>
            <a:r>
              <a:rPr sz="1550" spc="25" dirty="0">
                <a:latin typeface="Microsoft YaHei"/>
                <a:cs typeface="Microsoft YaHei"/>
              </a:rPr>
              <a:t>般应放在松边内侧</a:t>
            </a:r>
            <a:r>
              <a:rPr sz="1550" dirty="0">
                <a:latin typeface="Calibri"/>
                <a:cs typeface="Calibri"/>
              </a:rPr>
              <a:t>(</a:t>
            </a:r>
            <a:r>
              <a:rPr sz="1550" spc="20" dirty="0">
                <a:latin typeface="Microsoft YaHei"/>
                <a:cs typeface="Microsoft YaHei"/>
              </a:rPr>
              <a:t>可用惰轮</a:t>
            </a:r>
            <a:r>
              <a:rPr sz="1550" spc="5" dirty="0">
                <a:latin typeface="Calibri"/>
                <a:cs typeface="Calibri"/>
              </a:rPr>
              <a:t>/</a:t>
            </a:r>
            <a:r>
              <a:rPr sz="1550" spc="30" dirty="0">
                <a:latin typeface="Microsoft YaHei"/>
                <a:cs typeface="Microsoft YaHei"/>
              </a:rPr>
              <a:t>同步轮）</a:t>
            </a:r>
            <a:r>
              <a:rPr sz="1550" spc="15" dirty="0">
                <a:latin typeface="Microsoft YaHei"/>
                <a:cs typeface="Microsoft YaHei"/>
              </a:rPr>
              <a:t>靠近大轮，以免过分影响</a:t>
            </a:r>
            <a:r>
              <a:rPr sz="1550" spc="20" dirty="0">
                <a:latin typeface="Microsoft YaHei"/>
                <a:cs typeface="Microsoft YaHei"/>
              </a:rPr>
              <a:t>小带轮的包角。若张紧轮置于松边外侧，则应尽量靠近小带轮，</a:t>
            </a:r>
            <a:r>
              <a:rPr sz="1550" spc="30" dirty="0">
                <a:latin typeface="Microsoft YaHei"/>
                <a:cs typeface="Microsoft YaHei"/>
              </a:rPr>
              <a:t>增加包角。</a:t>
            </a:r>
            <a:r>
              <a:rPr sz="1550" dirty="0">
                <a:latin typeface="Calibri"/>
                <a:cs typeface="Calibri"/>
              </a:rPr>
              <a:t>)</a:t>
            </a:r>
            <a:endParaRPr sz="1550">
              <a:latin typeface="Calibri"/>
              <a:cs typeface="Calibri"/>
            </a:endParaRPr>
          </a:p>
        </p:txBody>
      </p:sp>
      <p:grpSp>
        <p:nvGrpSpPr>
          <p:cNvPr id="5" name="object 5"/>
          <p:cNvGrpSpPr/>
          <p:nvPr/>
        </p:nvGrpSpPr>
        <p:grpSpPr>
          <a:xfrm>
            <a:off x="3424427" y="1970532"/>
            <a:ext cx="7213600" cy="4758055"/>
            <a:chOff x="3424427" y="1970532"/>
            <a:chExt cx="7213600" cy="4758055"/>
          </a:xfrm>
        </p:grpSpPr>
        <p:pic>
          <p:nvPicPr>
            <p:cNvPr id="6" name="object 6"/>
            <p:cNvPicPr/>
            <p:nvPr/>
          </p:nvPicPr>
          <p:blipFill>
            <a:blip r:embed="rId3" cstate="print"/>
            <a:stretch>
              <a:fillRect/>
            </a:stretch>
          </p:blipFill>
          <p:spPr>
            <a:xfrm>
              <a:off x="3424427" y="2851403"/>
              <a:ext cx="3002279" cy="1583435"/>
            </a:xfrm>
            <a:prstGeom prst="rect">
              <a:avLst/>
            </a:prstGeom>
          </p:spPr>
        </p:pic>
        <p:pic>
          <p:nvPicPr>
            <p:cNvPr id="7" name="object 7"/>
            <p:cNvPicPr/>
            <p:nvPr/>
          </p:nvPicPr>
          <p:blipFill>
            <a:blip r:embed="rId4" cstate="print"/>
            <a:stretch>
              <a:fillRect/>
            </a:stretch>
          </p:blipFill>
          <p:spPr>
            <a:xfrm>
              <a:off x="7357871" y="1970532"/>
              <a:ext cx="3279648" cy="2606040"/>
            </a:xfrm>
            <a:prstGeom prst="rect">
              <a:avLst/>
            </a:prstGeom>
          </p:spPr>
        </p:pic>
        <p:pic>
          <p:nvPicPr>
            <p:cNvPr id="8" name="object 8"/>
            <p:cNvPicPr/>
            <p:nvPr/>
          </p:nvPicPr>
          <p:blipFill>
            <a:blip r:embed="rId5" cstate="print"/>
            <a:stretch>
              <a:fillRect/>
            </a:stretch>
          </p:blipFill>
          <p:spPr>
            <a:xfrm>
              <a:off x="6039611" y="2055875"/>
              <a:ext cx="1676399" cy="1274063"/>
            </a:xfrm>
            <a:prstGeom prst="rect">
              <a:avLst/>
            </a:prstGeom>
          </p:spPr>
        </p:pic>
        <p:pic>
          <p:nvPicPr>
            <p:cNvPr id="9" name="object 9"/>
            <p:cNvPicPr/>
            <p:nvPr/>
          </p:nvPicPr>
          <p:blipFill>
            <a:blip r:embed="rId6" cstate="print"/>
            <a:stretch>
              <a:fillRect/>
            </a:stretch>
          </p:blipFill>
          <p:spPr>
            <a:xfrm>
              <a:off x="7252715" y="4613148"/>
              <a:ext cx="3378708" cy="2115312"/>
            </a:xfrm>
            <a:prstGeom prst="rect">
              <a:avLst/>
            </a:prstGeom>
          </p:spPr>
        </p:pic>
        <p:pic>
          <p:nvPicPr>
            <p:cNvPr id="10" name="object 10"/>
            <p:cNvPicPr/>
            <p:nvPr/>
          </p:nvPicPr>
          <p:blipFill>
            <a:blip r:embed="rId7" cstate="print"/>
            <a:stretch>
              <a:fillRect/>
            </a:stretch>
          </p:blipFill>
          <p:spPr>
            <a:xfrm>
              <a:off x="3439667" y="4613148"/>
              <a:ext cx="3378708" cy="2095500"/>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pic>
        <p:nvPicPr>
          <p:cNvPr id="4" name="object 4"/>
          <p:cNvPicPr/>
          <p:nvPr/>
        </p:nvPicPr>
        <p:blipFill>
          <a:blip r:embed="rId3" cstate="print"/>
          <a:stretch>
            <a:fillRect/>
          </a:stretch>
        </p:blipFill>
        <p:spPr>
          <a:xfrm>
            <a:off x="499872" y="3267455"/>
            <a:ext cx="3814571" cy="3008375"/>
          </a:xfrm>
          <a:prstGeom prst="rect">
            <a:avLst/>
          </a:prstGeom>
        </p:spPr>
      </p:pic>
      <p:pic>
        <p:nvPicPr>
          <p:cNvPr id="5" name="object 5"/>
          <p:cNvPicPr/>
          <p:nvPr/>
        </p:nvPicPr>
        <p:blipFill>
          <a:blip r:embed="rId4" cstate="print"/>
          <a:stretch>
            <a:fillRect/>
          </a:stretch>
        </p:blipFill>
        <p:spPr>
          <a:xfrm>
            <a:off x="5113020" y="3267455"/>
            <a:ext cx="3989832" cy="290931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628914" y="2870735"/>
            <a:ext cx="3437254" cy="744220"/>
          </a:xfrm>
          <a:prstGeom prst="rect">
            <a:avLst/>
          </a:prstGeom>
        </p:spPr>
        <p:txBody>
          <a:bodyPr vert="horz" wrap="square" lIns="0" tIns="14604" rIns="0" bIns="0" rtlCol="0">
            <a:spAutoFit/>
          </a:bodyPr>
          <a:lstStyle/>
          <a:p>
            <a:pPr marL="12700" marR="5080" algn="just">
              <a:lnSpc>
                <a:spcPct val="101000"/>
              </a:lnSpc>
              <a:spcBef>
                <a:spcPts val="114"/>
              </a:spcBef>
            </a:pPr>
            <a:r>
              <a:rPr sz="1550" b="1" spc="-5" dirty="0">
                <a:latin typeface="Microsoft YaHei"/>
                <a:cs typeface="Microsoft YaHei"/>
              </a:rPr>
              <a:t>连杆机构的共同特点是其原动件的运动都要经过一个不与机架直接相连的称之为连杆的中间构件，才能传动从动件</a:t>
            </a:r>
            <a:endParaRPr sz="1550">
              <a:latin typeface="Microsoft YaHei"/>
              <a:cs typeface="Microsoft YaHei"/>
            </a:endParaRPr>
          </a:p>
        </p:txBody>
      </p:sp>
      <p:sp>
        <p:nvSpPr>
          <p:cNvPr id="5" name="object 5"/>
          <p:cNvSpPr txBox="1"/>
          <p:nvPr/>
        </p:nvSpPr>
        <p:spPr>
          <a:xfrm>
            <a:off x="741678" y="4304741"/>
            <a:ext cx="3789045" cy="1603375"/>
          </a:xfrm>
          <a:prstGeom prst="rect">
            <a:avLst/>
          </a:prstGeom>
        </p:spPr>
        <p:txBody>
          <a:bodyPr vert="horz" wrap="square" lIns="0" tIns="16510" rIns="0" bIns="0" rtlCol="0">
            <a:spAutoFit/>
          </a:bodyPr>
          <a:lstStyle/>
          <a:p>
            <a:pPr marL="12700">
              <a:lnSpc>
                <a:spcPct val="100000"/>
              </a:lnSpc>
              <a:spcBef>
                <a:spcPts val="130"/>
              </a:spcBef>
            </a:pPr>
            <a:r>
              <a:rPr sz="1550" b="1" dirty="0">
                <a:latin typeface="Microsoft YaHei"/>
                <a:cs typeface="Microsoft YaHei"/>
              </a:rPr>
              <a:t>优点</a:t>
            </a:r>
            <a:r>
              <a:rPr sz="1550" dirty="0">
                <a:latin typeface="Microsoft YaHei"/>
                <a:cs typeface="Microsoft YaHei"/>
              </a:rPr>
              <a:t>：</a:t>
            </a:r>
            <a:r>
              <a:rPr sz="1550" dirty="0">
                <a:latin typeface="Calibri"/>
                <a:cs typeface="Calibri"/>
              </a:rPr>
              <a:t>1.</a:t>
            </a:r>
            <a:r>
              <a:rPr sz="1550" spc="-10" dirty="0">
                <a:latin typeface="Microsoft YaHei"/>
                <a:cs typeface="Microsoft YaHei"/>
              </a:rPr>
              <a:t>加工制造容易</a:t>
            </a:r>
            <a:endParaRPr sz="1550">
              <a:latin typeface="Microsoft YaHei"/>
              <a:cs typeface="Microsoft YaHei"/>
            </a:endParaRPr>
          </a:p>
          <a:p>
            <a:pPr marL="164465" indent="-152400">
              <a:lnSpc>
                <a:spcPct val="100000"/>
              </a:lnSpc>
              <a:spcBef>
                <a:spcPts val="40"/>
              </a:spcBef>
              <a:buSzPct val="93548"/>
              <a:buFont typeface="Calibri"/>
              <a:buAutoNum type="arabicPeriod" startAt="2"/>
              <a:tabLst>
                <a:tab pos="164465" algn="l"/>
              </a:tabLst>
            </a:pPr>
            <a:r>
              <a:rPr sz="1550" spc="-10" dirty="0">
                <a:latin typeface="Microsoft YaHei"/>
                <a:cs typeface="Microsoft YaHei"/>
              </a:rPr>
              <a:t>承载能力较大</a:t>
            </a:r>
            <a:endParaRPr sz="1550">
              <a:latin typeface="Microsoft YaHei"/>
              <a:cs typeface="Microsoft YaHei"/>
            </a:endParaRPr>
          </a:p>
          <a:p>
            <a:pPr marL="164465" indent="-152400">
              <a:lnSpc>
                <a:spcPct val="100000"/>
              </a:lnSpc>
              <a:spcBef>
                <a:spcPts val="25"/>
              </a:spcBef>
              <a:buSzPct val="93548"/>
              <a:buFont typeface="Calibri"/>
              <a:buAutoNum type="arabicPeriod" startAt="2"/>
              <a:tabLst>
                <a:tab pos="164465" algn="l"/>
              </a:tabLst>
            </a:pPr>
            <a:r>
              <a:rPr sz="1550" spc="-5" dirty="0">
                <a:latin typeface="Microsoft YaHei"/>
                <a:cs typeface="Microsoft YaHei"/>
              </a:rPr>
              <a:t>很方便的改变运动的传递方向、扩大行程</a:t>
            </a:r>
            <a:endParaRPr sz="1550">
              <a:latin typeface="Microsoft YaHei"/>
              <a:cs typeface="Microsoft YaHei"/>
            </a:endParaRPr>
          </a:p>
          <a:p>
            <a:pPr marL="164465" indent="-152400">
              <a:lnSpc>
                <a:spcPct val="100000"/>
              </a:lnSpc>
              <a:spcBef>
                <a:spcPts val="35"/>
              </a:spcBef>
              <a:buSzPct val="93548"/>
              <a:buFont typeface="Calibri"/>
              <a:buAutoNum type="arabicPeriod" startAt="2"/>
              <a:tabLst>
                <a:tab pos="164465" algn="l"/>
              </a:tabLst>
            </a:pPr>
            <a:r>
              <a:rPr sz="1550" spc="-10" dirty="0">
                <a:latin typeface="Microsoft YaHei"/>
                <a:cs typeface="Microsoft YaHei"/>
              </a:rPr>
              <a:t>远距离传动</a:t>
            </a:r>
            <a:endParaRPr sz="1550">
              <a:latin typeface="Microsoft YaHei"/>
              <a:cs typeface="Microsoft YaHei"/>
            </a:endParaRPr>
          </a:p>
          <a:p>
            <a:pPr marL="12700">
              <a:lnSpc>
                <a:spcPct val="100000"/>
              </a:lnSpc>
              <a:spcBef>
                <a:spcPts val="1090"/>
              </a:spcBef>
            </a:pPr>
            <a:r>
              <a:rPr sz="1550" b="1" dirty="0">
                <a:latin typeface="Microsoft YaHei"/>
                <a:cs typeface="Microsoft YaHei"/>
              </a:rPr>
              <a:t>缺点</a:t>
            </a:r>
            <a:r>
              <a:rPr sz="1550" dirty="0">
                <a:latin typeface="Microsoft YaHei"/>
                <a:cs typeface="Microsoft YaHei"/>
              </a:rPr>
              <a:t>：</a:t>
            </a:r>
            <a:r>
              <a:rPr sz="1550" dirty="0">
                <a:latin typeface="Calibri"/>
                <a:cs typeface="Calibri"/>
              </a:rPr>
              <a:t>1.</a:t>
            </a:r>
            <a:r>
              <a:rPr sz="1550" spc="-5" dirty="0">
                <a:latin typeface="Microsoft YaHei"/>
                <a:cs typeface="Microsoft YaHei"/>
              </a:rPr>
              <a:t>必须经过中间构件，机械效率低</a:t>
            </a:r>
            <a:endParaRPr sz="1550">
              <a:latin typeface="Microsoft YaHei"/>
              <a:cs typeface="Microsoft YaHei"/>
            </a:endParaRPr>
          </a:p>
          <a:p>
            <a:pPr marL="12700">
              <a:lnSpc>
                <a:spcPct val="100000"/>
              </a:lnSpc>
              <a:spcBef>
                <a:spcPts val="35"/>
              </a:spcBef>
            </a:pPr>
            <a:r>
              <a:rPr sz="1550" dirty="0">
                <a:latin typeface="Calibri"/>
                <a:cs typeface="Calibri"/>
              </a:rPr>
              <a:t>2.</a:t>
            </a:r>
            <a:r>
              <a:rPr sz="1550" spc="-5" dirty="0">
                <a:latin typeface="Microsoft YaHei"/>
                <a:cs typeface="Microsoft YaHei"/>
              </a:rPr>
              <a:t>惯性力难以消除，不宜高速</a:t>
            </a:r>
            <a:endParaRPr sz="1550">
              <a:latin typeface="Microsoft YaHei"/>
              <a:cs typeface="Microsoft YaHei"/>
            </a:endParaRPr>
          </a:p>
        </p:txBody>
      </p:sp>
      <p:pic>
        <p:nvPicPr>
          <p:cNvPr id="6" name="object 6"/>
          <p:cNvPicPr/>
          <p:nvPr/>
        </p:nvPicPr>
        <p:blipFill>
          <a:blip r:embed="rId3" cstate="print"/>
          <a:stretch>
            <a:fillRect/>
          </a:stretch>
        </p:blipFill>
        <p:spPr>
          <a:xfrm>
            <a:off x="4971288" y="2223516"/>
            <a:ext cx="3977640" cy="1746503"/>
          </a:xfrm>
          <a:prstGeom prst="rect">
            <a:avLst/>
          </a:prstGeom>
        </p:spPr>
      </p:pic>
      <p:pic>
        <p:nvPicPr>
          <p:cNvPr id="7" name="object 7"/>
          <p:cNvPicPr/>
          <p:nvPr/>
        </p:nvPicPr>
        <p:blipFill>
          <a:blip r:embed="rId4" cstate="print"/>
          <a:stretch>
            <a:fillRect/>
          </a:stretch>
        </p:blipFill>
        <p:spPr>
          <a:xfrm>
            <a:off x="4971288" y="4434840"/>
            <a:ext cx="3977640" cy="190042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2205990" cy="559435"/>
          </a:xfrm>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pic>
        <p:nvPicPr>
          <p:cNvPr id="4" name="object 4"/>
          <p:cNvPicPr/>
          <p:nvPr/>
        </p:nvPicPr>
        <p:blipFill>
          <a:blip r:embed="rId3" cstate="print"/>
          <a:stretch>
            <a:fillRect/>
          </a:stretch>
        </p:blipFill>
        <p:spPr>
          <a:xfrm>
            <a:off x="545591" y="3371088"/>
            <a:ext cx="3395472" cy="2535935"/>
          </a:xfrm>
          <a:prstGeom prst="rect">
            <a:avLst/>
          </a:prstGeom>
        </p:spPr>
      </p:pic>
      <p:sp>
        <p:nvSpPr>
          <p:cNvPr id="5" name="object 5"/>
          <p:cNvSpPr txBox="1"/>
          <p:nvPr/>
        </p:nvSpPr>
        <p:spPr>
          <a:xfrm>
            <a:off x="554206" y="2628376"/>
            <a:ext cx="2595880" cy="672465"/>
          </a:xfrm>
          <a:prstGeom prst="rect">
            <a:avLst/>
          </a:prstGeom>
        </p:spPr>
        <p:txBody>
          <a:bodyPr vert="horz" wrap="square" lIns="0" tIns="82550" rIns="0" bIns="0" rtlCol="0">
            <a:spAutoFit/>
          </a:bodyPr>
          <a:lstStyle/>
          <a:p>
            <a:pPr marL="12700">
              <a:lnSpc>
                <a:spcPct val="100000"/>
              </a:lnSpc>
              <a:spcBef>
                <a:spcPts val="650"/>
              </a:spcBef>
            </a:pPr>
            <a:r>
              <a:rPr sz="1550" dirty="0">
                <a:latin typeface="Microsoft YaHei"/>
                <a:cs typeface="Microsoft YaHei"/>
              </a:rPr>
              <a:t>常用连杆结构</a:t>
            </a:r>
            <a:r>
              <a:rPr sz="1550" dirty="0">
                <a:latin typeface="Calibri"/>
                <a:cs typeface="Calibri"/>
              </a:rPr>
              <a:t>——</a:t>
            </a:r>
            <a:r>
              <a:rPr sz="1550" spc="-10" dirty="0">
                <a:latin typeface="Microsoft YaHei"/>
                <a:cs typeface="Microsoft YaHei"/>
              </a:rPr>
              <a:t>平面四连杆</a:t>
            </a:r>
            <a:endParaRPr sz="1550">
              <a:latin typeface="Microsoft YaHei"/>
              <a:cs typeface="Microsoft YaHei"/>
            </a:endParaRPr>
          </a:p>
          <a:p>
            <a:pPr marL="12700">
              <a:lnSpc>
                <a:spcPct val="100000"/>
              </a:lnSpc>
              <a:spcBef>
                <a:spcPts val="580"/>
              </a:spcBef>
            </a:pPr>
            <a:r>
              <a:rPr sz="1750" dirty="0">
                <a:latin typeface="Microsoft YaHei"/>
                <a:cs typeface="Microsoft YaHei"/>
              </a:rPr>
              <a:t>以</a:t>
            </a:r>
            <a:r>
              <a:rPr sz="1750" u="sng" dirty="0">
                <a:uFill>
                  <a:solidFill>
                    <a:srgbClr val="000000"/>
                  </a:solidFill>
                </a:uFill>
                <a:latin typeface="Microsoft YaHei"/>
                <a:cs typeface="Microsoft YaHei"/>
              </a:rPr>
              <a:t>铰链四连杆</a:t>
            </a:r>
            <a:r>
              <a:rPr sz="1750" spc="-25" dirty="0">
                <a:latin typeface="Microsoft YaHei"/>
                <a:cs typeface="Microsoft YaHei"/>
              </a:rPr>
              <a:t>为例</a:t>
            </a:r>
            <a:endParaRPr sz="1750">
              <a:latin typeface="Microsoft YaHei"/>
              <a:cs typeface="Microsoft YaHei"/>
            </a:endParaRPr>
          </a:p>
        </p:txBody>
      </p:sp>
      <p:sp>
        <p:nvSpPr>
          <p:cNvPr id="6" name="object 6"/>
          <p:cNvSpPr txBox="1"/>
          <p:nvPr/>
        </p:nvSpPr>
        <p:spPr>
          <a:xfrm>
            <a:off x="4448054" y="2974363"/>
            <a:ext cx="4466590" cy="2882265"/>
          </a:xfrm>
          <a:prstGeom prst="rect">
            <a:avLst/>
          </a:prstGeom>
        </p:spPr>
        <p:txBody>
          <a:bodyPr vert="horz" wrap="square" lIns="0" tIns="12065" rIns="0" bIns="0" rtlCol="0">
            <a:spAutoFit/>
          </a:bodyPr>
          <a:lstStyle/>
          <a:p>
            <a:pPr marL="12700" marR="338455">
              <a:lnSpc>
                <a:spcPct val="101899"/>
              </a:lnSpc>
              <a:spcBef>
                <a:spcPts val="95"/>
              </a:spcBef>
            </a:pPr>
            <a:r>
              <a:rPr sz="1550" dirty="0">
                <a:latin typeface="Microsoft YaHei"/>
                <a:cs typeface="Microsoft YaHei"/>
              </a:rPr>
              <a:t>如图，在此结构中，</a:t>
            </a:r>
            <a:r>
              <a:rPr sz="1550" dirty="0">
                <a:latin typeface="Calibri"/>
                <a:cs typeface="Calibri"/>
              </a:rPr>
              <a:t>AD</a:t>
            </a:r>
            <a:r>
              <a:rPr sz="1550" dirty="0">
                <a:latin typeface="Microsoft YaHei"/>
                <a:cs typeface="Microsoft YaHei"/>
              </a:rPr>
              <a:t>为</a:t>
            </a:r>
            <a:r>
              <a:rPr sz="1550" b="1" dirty="0">
                <a:solidFill>
                  <a:srgbClr val="1D386B"/>
                </a:solidFill>
                <a:latin typeface="Microsoft YaHei"/>
                <a:cs typeface="Microsoft YaHei"/>
              </a:rPr>
              <a:t>机架</a:t>
            </a:r>
            <a:r>
              <a:rPr sz="1550" dirty="0">
                <a:latin typeface="Microsoft YaHei"/>
                <a:cs typeface="Microsoft YaHei"/>
              </a:rPr>
              <a:t>，</a:t>
            </a:r>
            <a:r>
              <a:rPr sz="1550" dirty="0">
                <a:latin typeface="Calibri"/>
                <a:cs typeface="Calibri"/>
              </a:rPr>
              <a:t>AB</a:t>
            </a:r>
            <a:r>
              <a:rPr sz="1550" dirty="0">
                <a:latin typeface="Microsoft YaHei"/>
                <a:cs typeface="Microsoft YaHei"/>
              </a:rPr>
              <a:t>、</a:t>
            </a:r>
            <a:r>
              <a:rPr sz="1550" dirty="0">
                <a:latin typeface="Calibri"/>
                <a:cs typeface="Calibri"/>
              </a:rPr>
              <a:t>CD</a:t>
            </a:r>
            <a:r>
              <a:rPr sz="1550" spc="-20" dirty="0">
                <a:latin typeface="Microsoft YaHei"/>
                <a:cs typeface="Microsoft YaHei"/>
              </a:rPr>
              <a:t>两杆与</a:t>
            </a:r>
            <a:r>
              <a:rPr sz="1550" dirty="0">
                <a:latin typeface="Microsoft YaHei"/>
                <a:cs typeface="Microsoft YaHei"/>
              </a:rPr>
              <a:t>机架相连成为</a:t>
            </a:r>
            <a:r>
              <a:rPr sz="1550" b="1" dirty="0">
                <a:solidFill>
                  <a:srgbClr val="1D386B"/>
                </a:solidFill>
                <a:latin typeface="Microsoft YaHei"/>
                <a:cs typeface="Microsoft YaHei"/>
              </a:rPr>
              <a:t>连架杆</a:t>
            </a:r>
            <a:r>
              <a:rPr sz="1550" dirty="0">
                <a:latin typeface="Microsoft YaHei"/>
                <a:cs typeface="Microsoft YaHei"/>
              </a:rPr>
              <a:t>，</a:t>
            </a:r>
            <a:r>
              <a:rPr sz="1550" dirty="0">
                <a:latin typeface="Calibri"/>
                <a:cs typeface="Calibri"/>
              </a:rPr>
              <a:t>BC</a:t>
            </a:r>
            <a:r>
              <a:rPr sz="1550" dirty="0">
                <a:latin typeface="Microsoft YaHei"/>
                <a:cs typeface="Microsoft YaHei"/>
              </a:rPr>
              <a:t>为</a:t>
            </a:r>
            <a:r>
              <a:rPr sz="1550" b="1" dirty="0">
                <a:solidFill>
                  <a:srgbClr val="1D386B"/>
                </a:solidFill>
                <a:latin typeface="Microsoft YaHei"/>
                <a:cs typeface="Microsoft YaHei"/>
              </a:rPr>
              <a:t>连杆</a:t>
            </a:r>
            <a:r>
              <a:rPr sz="1550" spc="-50" dirty="0">
                <a:latin typeface="Microsoft YaHei"/>
                <a:cs typeface="Microsoft YaHei"/>
              </a:rPr>
              <a:t>。</a:t>
            </a:r>
            <a:endParaRPr sz="1550">
              <a:latin typeface="Microsoft YaHei"/>
              <a:cs typeface="Microsoft YaHei"/>
            </a:endParaRPr>
          </a:p>
          <a:p>
            <a:pPr marL="12700" marR="5080">
              <a:lnSpc>
                <a:spcPts val="1900"/>
              </a:lnSpc>
              <a:spcBef>
                <a:spcPts val="55"/>
              </a:spcBef>
            </a:pPr>
            <a:r>
              <a:rPr sz="1550" dirty="0">
                <a:latin typeface="Microsoft YaHei"/>
                <a:cs typeface="Microsoft YaHei"/>
              </a:rPr>
              <a:t>在连架杆中能做整周回转者称之为</a:t>
            </a:r>
            <a:r>
              <a:rPr sz="1550" b="1" dirty="0">
                <a:solidFill>
                  <a:srgbClr val="1D386B"/>
                </a:solidFill>
                <a:latin typeface="Microsoft YaHei"/>
                <a:cs typeface="Microsoft YaHei"/>
              </a:rPr>
              <a:t>曲柄（图</a:t>
            </a:r>
            <a:r>
              <a:rPr sz="1550" b="1" spc="-20" dirty="0">
                <a:solidFill>
                  <a:srgbClr val="1D386B"/>
                </a:solidFill>
                <a:latin typeface="Calibri"/>
                <a:cs typeface="Calibri"/>
              </a:rPr>
              <a:t>AB</a:t>
            </a:r>
            <a:r>
              <a:rPr sz="1550" b="1" spc="-20" dirty="0">
                <a:solidFill>
                  <a:srgbClr val="1D386B"/>
                </a:solidFill>
                <a:latin typeface="Microsoft YaHei"/>
                <a:cs typeface="Microsoft YaHei"/>
              </a:rPr>
              <a:t>）</a:t>
            </a:r>
            <a:r>
              <a:rPr sz="1550" spc="-20" dirty="0">
                <a:latin typeface="Microsoft YaHei"/>
                <a:cs typeface="Microsoft YaHei"/>
              </a:rPr>
              <a:t>，</a:t>
            </a:r>
            <a:r>
              <a:rPr sz="1550" dirty="0">
                <a:latin typeface="Microsoft YaHei"/>
                <a:cs typeface="Microsoft YaHei"/>
              </a:rPr>
              <a:t>只能在一定范围内摆动者称为</a:t>
            </a:r>
            <a:r>
              <a:rPr sz="1550" b="1" dirty="0">
                <a:solidFill>
                  <a:srgbClr val="1D386B"/>
                </a:solidFill>
                <a:latin typeface="Microsoft YaHei"/>
                <a:cs typeface="Microsoft YaHei"/>
              </a:rPr>
              <a:t>摇杆（图</a:t>
            </a:r>
            <a:r>
              <a:rPr sz="1550" b="1" spc="-25" dirty="0">
                <a:solidFill>
                  <a:srgbClr val="1D386B"/>
                </a:solidFill>
                <a:latin typeface="Calibri"/>
                <a:cs typeface="Calibri"/>
              </a:rPr>
              <a:t>CD</a:t>
            </a:r>
            <a:r>
              <a:rPr sz="1550" b="1" spc="-25" dirty="0">
                <a:solidFill>
                  <a:srgbClr val="1D386B"/>
                </a:solidFill>
                <a:latin typeface="Microsoft YaHei"/>
                <a:cs typeface="Microsoft YaHei"/>
              </a:rPr>
              <a:t>）</a:t>
            </a:r>
            <a:endParaRPr sz="1550">
              <a:latin typeface="Microsoft YaHei"/>
              <a:cs typeface="Microsoft YaHei"/>
            </a:endParaRPr>
          </a:p>
          <a:p>
            <a:pPr>
              <a:lnSpc>
                <a:spcPct val="100000"/>
              </a:lnSpc>
              <a:spcBef>
                <a:spcPts val="1614"/>
              </a:spcBef>
            </a:pPr>
            <a:endParaRPr sz="1550">
              <a:latin typeface="Microsoft YaHei"/>
              <a:cs typeface="Microsoft YaHei"/>
            </a:endParaRPr>
          </a:p>
          <a:p>
            <a:pPr marL="12700">
              <a:lnSpc>
                <a:spcPct val="100000"/>
              </a:lnSpc>
              <a:spcBef>
                <a:spcPts val="5"/>
              </a:spcBef>
            </a:pPr>
            <a:r>
              <a:rPr sz="1550" b="1" spc="-10" dirty="0">
                <a:latin typeface="Microsoft YaHei"/>
                <a:cs typeface="Microsoft YaHei"/>
              </a:rPr>
              <a:t>曲柄存在条件</a:t>
            </a:r>
            <a:endParaRPr sz="1550">
              <a:latin typeface="Microsoft YaHei"/>
              <a:cs typeface="Microsoft YaHei"/>
            </a:endParaRPr>
          </a:p>
          <a:p>
            <a:pPr marL="389890" indent="-165735">
              <a:lnSpc>
                <a:spcPct val="100000"/>
              </a:lnSpc>
              <a:spcBef>
                <a:spcPts val="960"/>
              </a:spcBef>
              <a:buSzPct val="93548"/>
              <a:buAutoNum type="arabicPeriod"/>
              <a:tabLst>
                <a:tab pos="389890" algn="l"/>
              </a:tabLst>
            </a:pPr>
            <a:r>
              <a:rPr sz="1550" spc="-10" dirty="0">
                <a:latin typeface="Microsoft YaHei"/>
                <a:cs typeface="Microsoft YaHei"/>
              </a:rPr>
              <a:t>能做整周运动</a:t>
            </a:r>
            <a:endParaRPr sz="1550">
              <a:latin typeface="Microsoft YaHei"/>
              <a:cs typeface="Microsoft YaHei"/>
            </a:endParaRPr>
          </a:p>
          <a:p>
            <a:pPr marL="224154" marR="822325" indent="165735" algn="just">
              <a:lnSpc>
                <a:spcPct val="101899"/>
              </a:lnSpc>
              <a:buSzPct val="93548"/>
              <a:buAutoNum type="arabicPeriod"/>
              <a:tabLst>
                <a:tab pos="389890" algn="l"/>
              </a:tabLst>
            </a:pPr>
            <a:r>
              <a:rPr sz="1550" spc="-5" dirty="0">
                <a:latin typeface="Microsoft YaHei"/>
                <a:cs typeface="Microsoft YaHei"/>
              </a:rPr>
              <a:t>满足杆长之和条件：最短杆与最长杆长度之和小于或等于其余两杆长度之和</a:t>
            </a:r>
            <a:r>
              <a:rPr sz="1550" spc="-50" dirty="0">
                <a:latin typeface="Microsoft YaHei"/>
                <a:cs typeface="Microsoft YaHei"/>
              </a:rPr>
              <a:t> </a:t>
            </a:r>
            <a:r>
              <a:rPr sz="1550" dirty="0">
                <a:latin typeface="Microsoft YaHei"/>
                <a:cs typeface="Microsoft YaHei"/>
              </a:rPr>
              <a:t>3</a:t>
            </a:r>
            <a:r>
              <a:rPr sz="1550" spc="-5" dirty="0">
                <a:latin typeface="Microsoft YaHei"/>
                <a:cs typeface="Microsoft YaHei"/>
              </a:rPr>
              <a:t>.最短杆是机架或连架杆</a:t>
            </a:r>
            <a:endParaRPr sz="1550">
              <a:latin typeface="Microsoft YaHei"/>
              <a:cs typeface="Microsoft YaHe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554206" y="2788421"/>
            <a:ext cx="2595880" cy="779145"/>
          </a:xfrm>
          <a:prstGeom prst="rect">
            <a:avLst/>
          </a:prstGeom>
        </p:spPr>
        <p:txBody>
          <a:bodyPr vert="horz" wrap="square" lIns="0" tIns="16510" rIns="0" bIns="0" rtlCol="0">
            <a:spAutoFit/>
          </a:bodyPr>
          <a:lstStyle/>
          <a:p>
            <a:pPr marL="12700">
              <a:lnSpc>
                <a:spcPct val="100000"/>
              </a:lnSpc>
              <a:spcBef>
                <a:spcPts val="130"/>
              </a:spcBef>
            </a:pPr>
            <a:r>
              <a:rPr sz="1550" dirty="0">
                <a:latin typeface="Microsoft YaHei"/>
                <a:cs typeface="Microsoft YaHei"/>
              </a:rPr>
              <a:t>常用连杆结构</a:t>
            </a:r>
            <a:r>
              <a:rPr sz="1550" dirty="0">
                <a:latin typeface="Calibri"/>
                <a:cs typeface="Calibri"/>
              </a:rPr>
              <a:t>——</a:t>
            </a:r>
            <a:r>
              <a:rPr sz="1550" spc="-10" dirty="0">
                <a:latin typeface="Microsoft YaHei"/>
                <a:cs typeface="Microsoft YaHei"/>
              </a:rPr>
              <a:t>平面四连杆</a:t>
            </a:r>
            <a:endParaRPr sz="1550">
              <a:latin typeface="Microsoft YaHei"/>
              <a:cs typeface="Microsoft YaHei"/>
            </a:endParaRPr>
          </a:p>
          <a:p>
            <a:pPr marL="12700">
              <a:lnSpc>
                <a:spcPct val="100000"/>
              </a:lnSpc>
              <a:spcBef>
                <a:spcPts val="1940"/>
              </a:spcBef>
            </a:pPr>
            <a:r>
              <a:rPr sz="1750" dirty="0">
                <a:latin typeface="Microsoft YaHei"/>
                <a:cs typeface="Microsoft YaHei"/>
              </a:rPr>
              <a:t>以</a:t>
            </a:r>
            <a:r>
              <a:rPr sz="1750" b="1" dirty="0">
                <a:latin typeface="Microsoft YaHei"/>
                <a:cs typeface="Microsoft YaHei"/>
              </a:rPr>
              <a:t>曲柄摇杆</a:t>
            </a:r>
            <a:r>
              <a:rPr sz="1750" spc="-25" dirty="0">
                <a:latin typeface="Microsoft YaHei"/>
                <a:cs typeface="Microsoft YaHei"/>
              </a:rPr>
              <a:t>为例</a:t>
            </a:r>
            <a:endParaRPr sz="1750">
              <a:latin typeface="Microsoft YaHei"/>
              <a:cs typeface="Microsoft YaHei"/>
            </a:endParaRPr>
          </a:p>
        </p:txBody>
      </p:sp>
      <p:pic>
        <p:nvPicPr>
          <p:cNvPr id="5" name="object 5"/>
          <p:cNvPicPr/>
          <p:nvPr/>
        </p:nvPicPr>
        <p:blipFill>
          <a:blip r:embed="rId3" cstate="print"/>
          <a:stretch>
            <a:fillRect/>
          </a:stretch>
        </p:blipFill>
        <p:spPr>
          <a:xfrm>
            <a:off x="374904" y="3820667"/>
            <a:ext cx="3433571" cy="2343912"/>
          </a:xfrm>
          <a:prstGeom prst="rect">
            <a:avLst/>
          </a:prstGeom>
        </p:spPr>
      </p:pic>
      <p:pic>
        <p:nvPicPr>
          <p:cNvPr id="6" name="object 6"/>
          <p:cNvPicPr/>
          <p:nvPr/>
        </p:nvPicPr>
        <p:blipFill>
          <a:blip r:embed="rId4" cstate="print"/>
          <a:stretch>
            <a:fillRect/>
          </a:stretch>
        </p:blipFill>
        <p:spPr>
          <a:xfrm>
            <a:off x="4648200" y="2506980"/>
            <a:ext cx="4101083" cy="2589275"/>
          </a:xfrm>
          <a:prstGeom prst="rect">
            <a:avLst/>
          </a:prstGeom>
        </p:spPr>
      </p:pic>
      <p:sp>
        <p:nvSpPr>
          <p:cNvPr id="7" name="object 7"/>
          <p:cNvSpPr txBox="1"/>
          <p:nvPr/>
        </p:nvSpPr>
        <p:spPr>
          <a:xfrm>
            <a:off x="4589795" y="5481297"/>
            <a:ext cx="2435860" cy="267335"/>
          </a:xfrm>
          <a:prstGeom prst="rect">
            <a:avLst/>
          </a:prstGeom>
        </p:spPr>
        <p:txBody>
          <a:bodyPr vert="horz" wrap="square" lIns="0" tIns="16510" rIns="0" bIns="0" rtlCol="0">
            <a:spAutoFit/>
          </a:bodyPr>
          <a:lstStyle/>
          <a:p>
            <a:pPr marL="12700">
              <a:lnSpc>
                <a:spcPct val="100000"/>
              </a:lnSpc>
              <a:spcBef>
                <a:spcPts val="130"/>
              </a:spcBef>
            </a:pPr>
            <a:r>
              <a:rPr sz="1550" spc="-5" dirty="0">
                <a:latin typeface="Microsoft YaHei"/>
                <a:cs typeface="Microsoft YaHei"/>
              </a:rPr>
              <a:t>曲柄摇杆特点：有急回特性</a:t>
            </a:r>
            <a:endParaRPr sz="1550">
              <a:latin typeface="Microsoft YaHei"/>
              <a:cs typeface="Microsoft YaHe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pic>
        <p:nvPicPr>
          <p:cNvPr id="4" name="object 4"/>
          <p:cNvPicPr/>
          <p:nvPr/>
        </p:nvPicPr>
        <p:blipFill>
          <a:blip r:embed="rId3" cstate="print"/>
          <a:stretch>
            <a:fillRect/>
          </a:stretch>
        </p:blipFill>
        <p:spPr>
          <a:xfrm>
            <a:off x="5279135" y="2673096"/>
            <a:ext cx="4655819" cy="3361943"/>
          </a:xfrm>
          <a:prstGeom prst="rect">
            <a:avLst/>
          </a:prstGeom>
        </p:spPr>
      </p:pic>
      <p:sp>
        <p:nvSpPr>
          <p:cNvPr id="5" name="object 5"/>
          <p:cNvSpPr txBox="1"/>
          <p:nvPr/>
        </p:nvSpPr>
        <p:spPr>
          <a:xfrm>
            <a:off x="336298" y="2795692"/>
            <a:ext cx="4422140" cy="2800350"/>
          </a:xfrm>
          <a:prstGeom prst="rect">
            <a:avLst/>
          </a:prstGeom>
        </p:spPr>
        <p:txBody>
          <a:bodyPr vert="horz" wrap="square" lIns="0" tIns="151130" rIns="0" bIns="0" rtlCol="0">
            <a:spAutoFit/>
          </a:bodyPr>
          <a:lstStyle/>
          <a:p>
            <a:pPr marL="12700">
              <a:lnSpc>
                <a:spcPct val="100000"/>
              </a:lnSpc>
              <a:spcBef>
                <a:spcPts val="1190"/>
              </a:spcBef>
            </a:pPr>
            <a:r>
              <a:rPr sz="1550" b="1" spc="-10" dirty="0">
                <a:latin typeface="Microsoft YaHei"/>
                <a:cs typeface="Microsoft YaHei"/>
              </a:rPr>
              <a:t>双曲柄结构：</a:t>
            </a:r>
            <a:endParaRPr sz="1550">
              <a:latin typeface="Microsoft YaHei"/>
              <a:cs typeface="Microsoft YaHei"/>
            </a:endParaRPr>
          </a:p>
          <a:p>
            <a:pPr marL="181610" marR="5080">
              <a:lnSpc>
                <a:spcPts val="2060"/>
              </a:lnSpc>
              <a:spcBef>
                <a:spcPts val="1285"/>
              </a:spcBef>
            </a:pPr>
            <a:r>
              <a:rPr sz="1750" spc="-5" dirty="0">
                <a:latin typeface="Microsoft YaHei"/>
                <a:cs typeface="Microsoft YaHei"/>
              </a:rPr>
              <a:t>两连架杆均为曲柄的铰链四杆机构称为双曲</a:t>
            </a:r>
            <a:r>
              <a:rPr sz="1750" spc="-15" dirty="0">
                <a:latin typeface="Microsoft YaHei"/>
                <a:cs typeface="Microsoft YaHei"/>
              </a:rPr>
              <a:t>柄机构。</a:t>
            </a:r>
            <a:endParaRPr sz="1750">
              <a:latin typeface="Microsoft YaHei"/>
              <a:cs typeface="Microsoft YaHei"/>
            </a:endParaRPr>
          </a:p>
          <a:p>
            <a:pPr marL="181610" marR="55244">
              <a:lnSpc>
                <a:spcPct val="100000"/>
              </a:lnSpc>
              <a:spcBef>
                <a:spcPts val="2050"/>
              </a:spcBef>
            </a:pPr>
            <a:r>
              <a:rPr sz="1750" dirty="0">
                <a:latin typeface="Microsoft YaHei"/>
                <a:cs typeface="Microsoft YaHei"/>
              </a:rPr>
              <a:t>双曲柄机构功能</a:t>
            </a:r>
            <a:r>
              <a:rPr sz="1750" spc="-10" dirty="0">
                <a:latin typeface="Calibri"/>
                <a:cs typeface="Calibri"/>
              </a:rPr>
              <a:t>:</a:t>
            </a:r>
            <a:r>
              <a:rPr sz="1750" dirty="0">
                <a:latin typeface="Microsoft YaHei"/>
                <a:cs typeface="Microsoft YaHei"/>
              </a:rPr>
              <a:t>原动曲柄转动</a:t>
            </a:r>
            <a:r>
              <a:rPr sz="1750" dirty="0">
                <a:latin typeface="Calibri"/>
                <a:cs typeface="Calibri"/>
              </a:rPr>
              <a:t>(</a:t>
            </a:r>
            <a:r>
              <a:rPr sz="1750" dirty="0">
                <a:latin typeface="Microsoft YaHei"/>
                <a:cs typeface="Microsoft YaHei"/>
              </a:rPr>
              <a:t>匀速</a:t>
            </a:r>
            <a:r>
              <a:rPr sz="1750" spc="-20" dirty="0">
                <a:latin typeface="Calibri"/>
                <a:cs typeface="Calibri"/>
              </a:rPr>
              <a:t>)→</a:t>
            </a:r>
            <a:r>
              <a:rPr sz="1750" spc="-25" dirty="0">
                <a:latin typeface="Microsoft YaHei"/>
                <a:cs typeface="Microsoft YaHei"/>
              </a:rPr>
              <a:t>从动</a:t>
            </a:r>
            <a:r>
              <a:rPr sz="1750" dirty="0">
                <a:latin typeface="Microsoft YaHei"/>
                <a:cs typeface="Microsoft YaHei"/>
              </a:rPr>
              <a:t>曲柄转动</a:t>
            </a:r>
            <a:r>
              <a:rPr sz="1750" dirty="0">
                <a:latin typeface="Calibri"/>
                <a:cs typeface="Calibri"/>
              </a:rPr>
              <a:t>(</a:t>
            </a:r>
            <a:r>
              <a:rPr sz="1750" dirty="0">
                <a:latin typeface="Microsoft YaHei"/>
                <a:cs typeface="Microsoft YaHei"/>
              </a:rPr>
              <a:t>非匀速或匀速</a:t>
            </a:r>
            <a:r>
              <a:rPr sz="1750" spc="-50" dirty="0">
                <a:latin typeface="Calibri"/>
                <a:cs typeface="Calibri"/>
              </a:rPr>
              <a:t>)</a:t>
            </a:r>
            <a:endParaRPr sz="1750">
              <a:latin typeface="Calibri"/>
              <a:cs typeface="Calibri"/>
            </a:endParaRPr>
          </a:p>
          <a:p>
            <a:pPr>
              <a:lnSpc>
                <a:spcPct val="100000"/>
              </a:lnSpc>
              <a:spcBef>
                <a:spcPts val="1040"/>
              </a:spcBef>
            </a:pPr>
            <a:endParaRPr sz="1750">
              <a:latin typeface="Calibri"/>
              <a:cs typeface="Calibri"/>
            </a:endParaRPr>
          </a:p>
          <a:p>
            <a:pPr marL="181610" marR="227329">
              <a:lnSpc>
                <a:spcPts val="2060"/>
              </a:lnSpc>
            </a:pPr>
            <a:r>
              <a:rPr sz="1750" spc="-5" dirty="0">
                <a:latin typeface="Microsoft YaHei"/>
                <a:cs typeface="Microsoft YaHei"/>
              </a:rPr>
              <a:t>双曲柄机构中，最常用的是平行四边形机构，或称平行双曲柄机构。</a:t>
            </a:r>
            <a:endParaRPr sz="1750">
              <a:latin typeface="Microsoft YaHei"/>
              <a:cs typeface="Microsoft YaHe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595382" y="3114521"/>
            <a:ext cx="3765550" cy="292735"/>
          </a:xfrm>
          <a:prstGeom prst="rect">
            <a:avLst/>
          </a:prstGeom>
        </p:spPr>
        <p:txBody>
          <a:bodyPr vert="horz" wrap="square" lIns="0" tIns="12700" rIns="0" bIns="0" rtlCol="0">
            <a:spAutoFit/>
          </a:bodyPr>
          <a:lstStyle/>
          <a:p>
            <a:pPr marL="12700">
              <a:lnSpc>
                <a:spcPct val="100000"/>
              </a:lnSpc>
              <a:spcBef>
                <a:spcPts val="100"/>
              </a:spcBef>
            </a:pPr>
            <a:r>
              <a:rPr sz="1750" dirty="0">
                <a:latin typeface="Microsoft YaHei"/>
                <a:cs typeface="Microsoft YaHei"/>
              </a:rPr>
              <a:t>最简单的连杆结构</a:t>
            </a:r>
            <a:r>
              <a:rPr sz="1750" spc="-30" dirty="0">
                <a:latin typeface="Calibri"/>
                <a:cs typeface="Calibri"/>
              </a:rPr>
              <a:t>——</a:t>
            </a:r>
            <a:r>
              <a:rPr sz="1750" spc="-10" dirty="0">
                <a:latin typeface="Microsoft YaHei"/>
                <a:cs typeface="Microsoft YaHei"/>
              </a:rPr>
              <a:t>平面平行四连杆</a:t>
            </a:r>
            <a:endParaRPr sz="1750">
              <a:latin typeface="Microsoft YaHei"/>
              <a:cs typeface="Microsoft YaHei"/>
            </a:endParaRPr>
          </a:p>
        </p:txBody>
      </p:sp>
      <p:pic>
        <p:nvPicPr>
          <p:cNvPr id="5" name="object 5"/>
          <p:cNvPicPr/>
          <p:nvPr/>
        </p:nvPicPr>
        <p:blipFill>
          <a:blip r:embed="rId3" cstate="print"/>
          <a:stretch>
            <a:fillRect/>
          </a:stretch>
        </p:blipFill>
        <p:spPr>
          <a:xfrm>
            <a:off x="454151" y="3866388"/>
            <a:ext cx="4155948" cy="2563367"/>
          </a:xfrm>
          <a:prstGeom prst="rect">
            <a:avLst/>
          </a:prstGeom>
        </p:spPr>
      </p:pic>
      <p:sp>
        <p:nvSpPr>
          <p:cNvPr id="6" name="object 6"/>
          <p:cNvSpPr txBox="1"/>
          <p:nvPr/>
        </p:nvSpPr>
        <p:spPr>
          <a:xfrm>
            <a:off x="5999465" y="2076749"/>
            <a:ext cx="1813560" cy="292735"/>
          </a:xfrm>
          <a:prstGeom prst="rect">
            <a:avLst/>
          </a:prstGeom>
        </p:spPr>
        <p:txBody>
          <a:bodyPr vert="horz" wrap="square" lIns="0" tIns="12700" rIns="0" bIns="0" rtlCol="0">
            <a:spAutoFit/>
          </a:bodyPr>
          <a:lstStyle/>
          <a:p>
            <a:pPr marL="12700">
              <a:lnSpc>
                <a:spcPct val="100000"/>
              </a:lnSpc>
              <a:spcBef>
                <a:spcPts val="100"/>
              </a:spcBef>
            </a:pPr>
            <a:r>
              <a:rPr sz="1750" spc="-5" dirty="0">
                <a:latin typeface="Microsoft YaHei"/>
                <a:cs typeface="Microsoft YaHei"/>
              </a:rPr>
              <a:t>应用：</a:t>
            </a:r>
            <a:r>
              <a:rPr sz="1750" spc="-10" dirty="0">
                <a:latin typeface="Calibri"/>
                <a:cs typeface="Calibri"/>
              </a:rPr>
              <a:t>pitch</a:t>
            </a:r>
            <a:r>
              <a:rPr sz="1750" spc="-20" dirty="0">
                <a:latin typeface="Microsoft YaHei"/>
                <a:cs typeface="Microsoft YaHei"/>
              </a:rPr>
              <a:t>轴驱动</a:t>
            </a:r>
            <a:endParaRPr sz="1750">
              <a:latin typeface="Microsoft YaHei"/>
              <a:cs typeface="Microsoft YaHei"/>
            </a:endParaRPr>
          </a:p>
        </p:txBody>
      </p:sp>
      <p:pic>
        <p:nvPicPr>
          <p:cNvPr id="7" name="object 7"/>
          <p:cNvPicPr/>
          <p:nvPr/>
        </p:nvPicPr>
        <p:blipFill>
          <a:blip r:embed="rId4" cstate="print"/>
          <a:stretch>
            <a:fillRect/>
          </a:stretch>
        </p:blipFill>
        <p:spPr>
          <a:xfrm>
            <a:off x="5341620" y="2485643"/>
            <a:ext cx="3390900" cy="4002024"/>
          </a:xfrm>
          <a:prstGeom prst="rect">
            <a:avLst/>
          </a:prstGeom>
        </p:spPr>
      </p:pic>
      <p:sp>
        <p:nvSpPr>
          <p:cNvPr id="8" name="object 8"/>
          <p:cNvSpPr txBox="1"/>
          <p:nvPr/>
        </p:nvSpPr>
        <p:spPr>
          <a:xfrm>
            <a:off x="8911841" y="3535138"/>
            <a:ext cx="1232535" cy="1707514"/>
          </a:xfrm>
          <a:prstGeom prst="rect">
            <a:avLst/>
          </a:prstGeom>
        </p:spPr>
        <p:txBody>
          <a:bodyPr vert="horz" wrap="square" lIns="0" tIns="13970" rIns="0" bIns="0" rtlCol="0">
            <a:spAutoFit/>
          </a:bodyPr>
          <a:lstStyle/>
          <a:p>
            <a:pPr marL="12700" marR="5080" algn="just">
              <a:lnSpc>
                <a:spcPct val="101299"/>
              </a:lnSpc>
              <a:spcBef>
                <a:spcPts val="110"/>
              </a:spcBef>
            </a:pPr>
            <a:r>
              <a:rPr sz="1550" spc="-10" dirty="0">
                <a:latin typeface="Microsoft YaHei"/>
                <a:cs typeface="Microsoft YaHei"/>
              </a:rPr>
              <a:t>优点：可以利用电机本身重量与云台前部</a:t>
            </a:r>
            <a:r>
              <a:rPr sz="1550" spc="-15" dirty="0">
                <a:latin typeface="Microsoft YaHei"/>
                <a:cs typeface="Microsoft YaHei"/>
              </a:rPr>
              <a:t>重量配平</a:t>
            </a:r>
            <a:endParaRPr sz="1550">
              <a:latin typeface="Microsoft YaHei"/>
              <a:cs typeface="Microsoft YaHei"/>
            </a:endParaRPr>
          </a:p>
          <a:p>
            <a:pPr marL="12700" marR="5080" algn="just">
              <a:lnSpc>
                <a:spcPct val="101000"/>
              </a:lnSpc>
              <a:spcBef>
                <a:spcPts val="50"/>
              </a:spcBef>
            </a:pPr>
            <a:r>
              <a:rPr sz="1550" spc="-10" dirty="0">
                <a:latin typeface="Microsoft YaHei"/>
                <a:cs typeface="Microsoft YaHei"/>
              </a:rPr>
              <a:t>缺点：传动有间隙，不如直</a:t>
            </a:r>
            <a:r>
              <a:rPr sz="1550" spc="-15" dirty="0">
                <a:latin typeface="Microsoft YaHei"/>
                <a:cs typeface="Microsoft YaHei"/>
              </a:rPr>
              <a:t>连精度高</a:t>
            </a:r>
            <a:endParaRPr sz="1550">
              <a:latin typeface="Microsoft YaHei"/>
              <a:cs typeface="Microsoft YaHe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1848053" y="3257823"/>
            <a:ext cx="1137920" cy="292735"/>
          </a:xfrm>
          <a:prstGeom prst="rect">
            <a:avLst/>
          </a:prstGeom>
        </p:spPr>
        <p:txBody>
          <a:bodyPr vert="horz" wrap="square" lIns="0" tIns="12700" rIns="0" bIns="0" rtlCol="0">
            <a:spAutoFit/>
          </a:bodyPr>
          <a:lstStyle/>
          <a:p>
            <a:pPr marL="12700">
              <a:lnSpc>
                <a:spcPct val="100000"/>
              </a:lnSpc>
              <a:spcBef>
                <a:spcPts val="100"/>
              </a:spcBef>
            </a:pPr>
            <a:r>
              <a:rPr sz="1750" b="1" spc="-10" dirty="0">
                <a:latin typeface="Microsoft YaHei"/>
                <a:cs typeface="Microsoft YaHei"/>
              </a:rPr>
              <a:t>双摇杆结构</a:t>
            </a:r>
            <a:endParaRPr sz="1750">
              <a:latin typeface="Microsoft YaHei"/>
              <a:cs typeface="Microsoft YaHei"/>
            </a:endParaRPr>
          </a:p>
        </p:txBody>
      </p:sp>
      <p:pic>
        <p:nvPicPr>
          <p:cNvPr id="5" name="object 5"/>
          <p:cNvPicPr/>
          <p:nvPr/>
        </p:nvPicPr>
        <p:blipFill>
          <a:blip r:embed="rId3" cstate="print"/>
          <a:stretch>
            <a:fillRect/>
          </a:stretch>
        </p:blipFill>
        <p:spPr>
          <a:xfrm>
            <a:off x="208788" y="3774948"/>
            <a:ext cx="4413503" cy="2505455"/>
          </a:xfrm>
          <a:prstGeom prst="rect">
            <a:avLst/>
          </a:prstGeom>
        </p:spPr>
      </p:pic>
      <p:sp>
        <p:nvSpPr>
          <p:cNvPr id="6" name="object 6"/>
          <p:cNvSpPr txBox="1"/>
          <p:nvPr/>
        </p:nvSpPr>
        <p:spPr>
          <a:xfrm>
            <a:off x="6923025" y="3257823"/>
            <a:ext cx="1360805" cy="292735"/>
          </a:xfrm>
          <a:prstGeom prst="rect">
            <a:avLst/>
          </a:prstGeom>
        </p:spPr>
        <p:txBody>
          <a:bodyPr vert="horz" wrap="square" lIns="0" tIns="12700" rIns="0" bIns="0" rtlCol="0">
            <a:spAutoFit/>
          </a:bodyPr>
          <a:lstStyle/>
          <a:p>
            <a:pPr marL="12700">
              <a:lnSpc>
                <a:spcPct val="100000"/>
              </a:lnSpc>
              <a:spcBef>
                <a:spcPts val="100"/>
              </a:spcBef>
            </a:pPr>
            <a:r>
              <a:rPr sz="1750" b="1" spc="-10" dirty="0">
                <a:latin typeface="Microsoft YaHei"/>
                <a:cs typeface="Microsoft YaHei"/>
              </a:rPr>
              <a:t>曲柄滑块结构</a:t>
            </a:r>
            <a:endParaRPr sz="1750">
              <a:latin typeface="Microsoft YaHei"/>
              <a:cs typeface="Microsoft YaHei"/>
            </a:endParaRPr>
          </a:p>
        </p:txBody>
      </p:sp>
      <p:pic>
        <p:nvPicPr>
          <p:cNvPr id="7" name="object 7"/>
          <p:cNvPicPr/>
          <p:nvPr/>
        </p:nvPicPr>
        <p:blipFill>
          <a:blip r:embed="rId4" cstate="print"/>
          <a:stretch>
            <a:fillRect/>
          </a:stretch>
        </p:blipFill>
        <p:spPr>
          <a:xfrm>
            <a:off x="4922520" y="3852672"/>
            <a:ext cx="5356859" cy="233629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5060692" y="2494317"/>
            <a:ext cx="1467485" cy="345440"/>
          </a:xfrm>
          <a:prstGeom prst="rect">
            <a:avLst/>
          </a:prstGeom>
        </p:spPr>
        <p:txBody>
          <a:bodyPr vert="horz" wrap="square" lIns="0" tIns="12700" rIns="0" bIns="0" rtlCol="0">
            <a:spAutoFit/>
          </a:bodyPr>
          <a:lstStyle/>
          <a:p>
            <a:pPr marL="12700">
              <a:lnSpc>
                <a:spcPct val="100000"/>
              </a:lnSpc>
              <a:spcBef>
                <a:spcPts val="100"/>
              </a:spcBef>
            </a:pPr>
            <a:r>
              <a:rPr sz="1550" dirty="0">
                <a:latin typeface="Calibri"/>
                <a:cs typeface="Calibri"/>
              </a:rPr>
              <a:t>What</a:t>
            </a:r>
            <a:r>
              <a:rPr sz="1550" spc="25" dirty="0">
                <a:latin typeface="Calibri"/>
                <a:cs typeface="Calibri"/>
              </a:rPr>
              <a:t> </a:t>
            </a:r>
            <a:r>
              <a:rPr sz="1550" dirty="0">
                <a:latin typeface="Calibri"/>
                <a:cs typeface="Calibri"/>
              </a:rPr>
              <a:t>is</a:t>
            </a:r>
            <a:r>
              <a:rPr sz="1550" spc="15" dirty="0">
                <a:latin typeface="Calibri"/>
                <a:cs typeface="Calibri"/>
              </a:rPr>
              <a:t> </a:t>
            </a:r>
            <a:r>
              <a:rPr sz="2100" b="1" spc="-80" dirty="0">
                <a:solidFill>
                  <a:srgbClr val="1C364B"/>
                </a:solidFill>
                <a:latin typeface="Microsoft YaHei"/>
                <a:cs typeface="Microsoft YaHei"/>
              </a:rPr>
              <a:t>死点 </a:t>
            </a:r>
            <a:r>
              <a:rPr sz="1550" spc="-50" dirty="0">
                <a:latin typeface="Microsoft YaHei"/>
                <a:cs typeface="Microsoft YaHei"/>
              </a:rPr>
              <a:t>？</a:t>
            </a:r>
            <a:endParaRPr sz="1550">
              <a:latin typeface="Microsoft YaHei"/>
              <a:cs typeface="Microsoft YaHei"/>
            </a:endParaRPr>
          </a:p>
        </p:txBody>
      </p:sp>
      <p:pic>
        <p:nvPicPr>
          <p:cNvPr id="5" name="object 5"/>
          <p:cNvPicPr/>
          <p:nvPr/>
        </p:nvPicPr>
        <p:blipFill>
          <a:blip r:embed="rId3" cstate="print"/>
          <a:stretch>
            <a:fillRect/>
          </a:stretch>
        </p:blipFill>
        <p:spPr>
          <a:xfrm>
            <a:off x="653795" y="3246119"/>
            <a:ext cx="4192523" cy="2235707"/>
          </a:xfrm>
          <a:prstGeom prst="rect">
            <a:avLst/>
          </a:prstGeom>
        </p:spPr>
      </p:pic>
      <p:sp>
        <p:nvSpPr>
          <p:cNvPr id="6" name="object 6"/>
          <p:cNvSpPr txBox="1"/>
          <p:nvPr/>
        </p:nvSpPr>
        <p:spPr>
          <a:xfrm>
            <a:off x="5414208" y="3169441"/>
            <a:ext cx="3954779" cy="2654935"/>
          </a:xfrm>
          <a:prstGeom prst="rect">
            <a:avLst/>
          </a:prstGeom>
        </p:spPr>
        <p:txBody>
          <a:bodyPr vert="horz" wrap="square" lIns="0" tIns="13335" rIns="0" bIns="0" rtlCol="0">
            <a:spAutoFit/>
          </a:bodyPr>
          <a:lstStyle/>
          <a:p>
            <a:pPr marL="12700" marR="121285" algn="just">
              <a:lnSpc>
                <a:spcPct val="101499"/>
              </a:lnSpc>
              <a:spcBef>
                <a:spcPts val="105"/>
              </a:spcBef>
            </a:pPr>
            <a:r>
              <a:rPr sz="1550" spc="-5" dirty="0">
                <a:latin typeface="Microsoft YaHei"/>
                <a:cs typeface="Microsoft YaHei"/>
              </a:rPr>
              <a:t>一般都是使用曲柄作为主动件，而摇杆作为从动件。在曲柄摇杆机构中，有两种特殊的位置，就是当使用摇杆作为主动件，曲柄作为从动件时，连杆和曲柄共线，也就是说，变成三角形了。这时，机构的传动角为零，</a:t>
            </a:r>
            <a:r>
              <a:rPr sz="1550" dirty="0">
                <a:latin typeface="Microsoft YaHei"/>
                <a:cs typeface="Microsoft YaHei"/>
              </a:rPr>
              <a:t>此时不论驱动力</a:t>
            </a:r>
            <a:r>
              <a:rPr sz="1550" dirty="0">
                <a:latin typeface="Calibri"/>
                <a:cs typeface="Calibri"/>
              </a:rPr>
              <a:t>F</a:t>
            </a:r>
            <a:r>
              <a:rPr sz="1550" dirty="0">
                <a:latin typeface="Microsoft YaHei"/>
                <a:cs typeface="Microsoft YaHei"/>
              </a:rPr>
              <a:t>有多大</a:t>
            </a:r>
            <a:r>
              <a:rPr sz="1550" dirty="0">
                <a:latin typeface="Calibri"/>
                <a:cs typeface="Calibri"/>
              </a:rPr>
              <a:t>,</a:t>
            </a:r>
            <a:r>
              <a:rPr sz="1550" dirty="0">
                <a:latin typeface="Microsoft YaHei"/>
                <a:cs typeface="Microsoft YaHei"/>
              </a:rPr>
              <a:t>其有效分力</a:t>
            </a:r>
            <a:r>
              <a:rPr sz="1550" spc="-10" dirty="0">
                <a:latin typeface="Calibri"/>
                <a:cs typeface="Calibri"/>
              </a:rPr>
              <a:t>F'=0,</a:t>
            </a:r>
            <a:endParaRPr sz="1550">
              <a:latin typeface="Calibri"/>
              <a:cs typeface="Calibri"/>
            </a:endParaRPr>
          </a:p>
          <a:p>
            <a:pPr marL="12700">
              <a:lnSpc>
                <a:spcPct val="100000"/>
              </a:lnSpc>
              <a:spcBef>
                <a:spcPts val="35"/>
              </a:spcBef>
            </a:pPr>
            <a:r>
              <a:rPr sz="1550" dirty="0">
                <a:latin typeface="Microsoft YaHei"/>
                <a:cs typeface="Microsoft YaHei"/>
              </a:rPr>
              <a:t>摇杆再怎么使劲，曲柄也不会转动了，</a:t>
            </a:r>
            <a:r>
              <a:rPr sz="1550" dirty="0">
                <a:latin typeface="Calibri"/>
                <a:cs typeface="Calibri"/>
              </a:rPr>
              <a:t>A</a:t>
            </a:r>
            <a:r>
              <a:rPr sz="1550" spc="-25" dirty="0">
                <a:latin typeface="Microsoft YaHei"/>
                <a:cs typeface="Microsoft YaHei"/>
              </a:rPr>
              <a:t>点和</a:t>
            </a:r>
            <a:endParaRPr sz="1550">
              <a:latin typeface="Microsoft YaHei"/>
              <a:cs typeface="Microsoft YaHei"/>
            </a:endParaRPr>
          </a:p>
          <a:p>
            <a:pPr marL="12700">
              <a:lnSpc>
                <a:spcPct val="100000"/>
              </a:lnSpc>
              <a:spcBef>
                <a:spcPts val="25"/>
              </a:spcBef>
            </a:pPr>
            <a:r>
              <a:rPr sz="1550" dirty="0">
                <a:latin typeface="Calibri"/>
                <a:cs typeface="Calibri"/>
              </a:rPr>
              <a:t>B</a:t>
            </a:r>
            <a:r>
              <a:rPr sz="1550" spc="-10" dirty="0">
                <a:latin typeface="Microsoft YaHei"/>
                <a:cs typeface="Microsoft YaHei"/>
              </a:rPr>
              <a:t>点成为“死点”。</a:t>
            </a:r>
            <a:endParaRPr sz="1550">
              <a:latin typeface="Microsoft YaHei"/>
              <a:cs typeface="Microsoft YaHei"/>
            </a:endParaRPr>
          </a:p>
          <a:p>
            <a:pPr>
              <a:lnSpc>
                <a:spcPct val="100000"/>
              </a:lnSpc>
              <a:spcBef>
                <a:spcPts val="860"/>
              </a:spcBef>
            </a:pPr>
            <a:endParaRPr sz="1550">
              <a:latin typeface="Microsoft YaHei"/>
              <a:cs typeface="Microsoft YaHei"/>
            </a:endParaRPr>
          </a:p>
          <a:p>
            <a:pPr marL="12700">
              <a:lnSpc>
                <a:spcPct val="100000"/>
              </a:lnSpc>
              <a:spcBef>
                <a:spcPts val="5"/>
              </a:spcBef>
            </a:pPr>
            <a:r>
              <a:rPr sz="1550" spc="-5" dirty="0">
                <a:latin typeface="Microsoft YaHei"/>
                <a:cs typeface="Microsoft YaHei"/>
              </a:rPr>
              <a:t>一定要避免出现死点！</a:t>
            </a:r>
            <a:endParaRPr sz="1550">
              <a:latin typeface="Microsoft YaHei"/>
              <a:cs typeface="Microsoft YaHe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0" dirty="0"/>
              <a:t>.连杆传动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639601" y="2928630"/>
            <a:ext cx="8782050" cy="2912745"/>
          </a:xfrm>
          <a:prstGeom prst="rect">
            <a:avLst/>
          </a:prstGeom>
        </p:spPr>
        <p:txBody>
          <a:bodyPr vert="horz" wrap="square" lIns="0" tIns="12700" rIns="0" bIns="0" rtlCol="0">
            <a:spAutoFit/>
          </a:bodyPr>
          <a:lstStyle/>
          <a:p>
            <a:pPr marL="12700">
              <a:lnSpc>
                <a:spcPct val="100000"/>
              </a:lnSpc>
              <a:spcBef>
                <a:spcPts val="100"/>
              </a:spcBef>
            </a:pPr>
            <a:r>
              <a:rPr sz="1750" spc="-5" dirty="0">
                <a:latin typeface="Microsoft YaHei"/>
                <a:cs typeface="Microsoft YaHei"/>
              </a:rPr>
              <a:t>连杆机构在机器人中的应用</a:t>
            </a:r>
            <a:endParaRPr sz="1750">
              <a:latin typeface="Microsoft YaHei"/>
              <a:cs typeface="Microsoft YaHei"/>
            </a:endParaRPr>
          </a:p>
          <a:p>
            <a:pPr marL="395605" indent="-248920">
              <a:lnSpc>
                <a:spcPct val="100000"/>
              </a:lnSpc>
              <a:spcBef>
                <a:spcPts val="2720"/>
              </a:spcBef>
              <a:buFont typeface="Wingdings"/>
              <a:buChar char=""/>
              <a:tabLst>
                <a:tab pos="395605" algn="l"/>
              </a:tabLst>
            </a:pPr>
            <a:r>
              <a:rPr sz="1550" b="1" dirty="0">
                <a:solidFill>
                  <a:srgbClr val="1A1F28"/>
                </a:solidFill>
                <a:latin typeface="Calibri"/>
                <a:cs typeface="Calibri"/>
              </a:rPr>
              <a:t>Pitch</a:t>
            </a:r>
            <a:r>
              <a:rPr sz="1550" b="1" dirty="0">
                <a:solidFill>
                  <a:srgbClr val="1A1F28"/>
                </a:solidFill>
                <a:latin typeface="Microsoft YaHei"/>
                <a:cs typeface="Microsoft YaHei"/>
              </a:rPr>
              <a:t>轴调节</a:t>
            </a:r>
            <a:r>
              <a:rPr sz="1550" spc="-50" dirty="0">
                <a:solidFill>
                  <a:srgbClr val="1A1F28"/>
                </a:solidFill>
                <a:latin typeface="Microsoft YaHei"/>
                <a:cs typeface="Microsoft YaHei"/>
              </a:rPr>
              <a:t>：</a:t>
            </a:r>
            <a:endParaRPr sz="1550">
              <a:latin typeface="Microsoft YaHei"/>
              <a:cs typeface="Microsoft YaHei"/>
            </a:endParaRPr>
          </a:p>
          <a:p>
            <a:pPr marL="547370">
              <a:lnSpc>
                <a:spcPct val="100000"/>
              </a:lnSpc>
              <a:spcBef>
                <a:spcPts val="335"/>
              </a:spcBef>
            </a:pPr>
            <a:r>
              <a:rPr sz="1550" spc="-5" dirty="0">
                <a:solidFill>
                  <a:srgbClr val="1A1F28"/>
                </a:solidFill>
                <a:latin typeface="Microsoft YaHei"/>
                <a:cs typeface="Microsoft YaHei"/>
              </a:rPr>
              <a:t>通过连杆机构调节发射机构的仰角和水平旋转，以控制弹丸的发射轨迹。</a:t>
            </a:r>
            <a:endParaRPr sz="1550">
              <a:latin typeface="Microsoft YaHei"/>
              <a:cs typeface="Microsoft YaHei"/>
            </a:endParaRPr>
          </a:p>
          <a:p>
            <a:pPr marL="395605" indent="-248920">
              <a:lnSpc>
                <a:spcPct val="100000"/>
              </a:lnSpc>
              <a:spcBef>
                <a:spcPts val="1995"/>
              </a:spcBef>
              <a:buFont typeface="Wingdings"/>
              <a:buChar char=""/>
              <a:tabLst>
                <a:tab pos="395605" algn="l"/>
              </a:tabLst>
            </a:pPr>
            <a:r>
              <a:rPr sz="1550" b="1" dirty="0">
                <a:solidFill>
                  <a:srgbClr val="1A1F28"/>
                </a:solidFill>
                <a:latin typeface="Microsoft YaHei"/>
                <a:cs typeface="Microsoft YaHei"/>
              </a:rPr>
              <a:t>转向和悬挂系统</a:t>
            </a:r>
            <a:r>
              <a:rPr sz="1550" spc="-50" dirty="0">
                <a:solidFill>
                  <a:srgbClr val="1A1F28"/>
                </a:solidFill>
                <a:latin typeface="Microsoft YaHei"/>
                <a:cs typeface="Microsoft YaHei"/>
              </a:rPr>
              <a:t>：</a:t>
            </a:r>
            <a:endParaRPr sz="1550">
              <a:latin typeface="Microsoft YaHei"/>
              <a:cs typeface="Microsoft YaHei"/>
            </a:endParaRPr>
          </a:p>
          <a:p>
            <a:pPr marL="547370" marR="5080">
              <a:lnSpc>
                <a:spcPts val="1720"/>
              </a:lnSpc>
              <a:spcBef>
                <a:spcPts val="545"/>
              </a:spcBef>
            </a:pPr>
            <a:r>
              <a:rPr sz="1550" spc="-5" dirty="0">
                <a:solidFill>
                  <a:srgbClr val="1A1F28"/>
                </a:solidFill>
                <a:latin typeface="Microsoft YaHei"/>
                <a:cs typeface="Microsoft YaHei"/>
              </a:rPr>
              <a:t>在轮式或履带式移动机器人中，连杆机构可以用于实现转向或悬挂系统，提高机器人的机动性</a:t>
            </a:r>
            <a:r>
              <a:rPr sz="1550" spc="-10" dirty="0">
                <a:solidFill>
                  <a:srgbClr val="1A1F28"/>
                </a:solidFill>
                <a:latin typeface="Microsoft YaHei"/>
                <a:cs typeface="Microsoft YaHei"/>
              </a:rPr>
              <a:t>和稳定性。</a:t>
            </a:r>
            <a:endParaRPr sz="1550">
              <a:latin typeface="Microsoft YaHei"/>
              <a:cs typeface="Microsoft YaHei"/>
            </a:endParaRPr>
          </a:p>
          <a:p>
            <a:pPr marL="395605" indent="-248920">
              <a:lnSpc>
                <a:spcPct val="100000"/>
              </a:lnSpc>
              <a:spcBef>
                <a:spcPts val="1955"/>
              </a:spcBef>
              <a:buFont typeface="Wingdings"/>
              <a:buChar char=""/>
              <a:tabLst>
                <a:tab pos="395605" algn="l"/>
              </a:tabLst>
            </a:pPr>
            <a:r>
              <a:rPr sz="1550" b="1" dirty="0">
                <a:solidFill>
                  <a:srgbClr val="1A1F28"/>
                </a:solidFill>
                <a:latin typeface="Microsoft YaHei"/>
                <a:cs typeface="Microsoft YaHei"/>
              </a:rPr>
              <a:t>机械臂关节</a:t>
            </a:r>
            <a:r>
              <a:rPr sz="1550" spc="-50" dirty="0">
                <a:solidFill>
                  <a:srgbClr val="1A1F28"/>
                </a:solidFill>
                <a:latin typeface="Microsoft YaHei"/>
                <a:cs typeface="Microsoft YaHei"/>
              </a:rPr>
              <a:t>：</a:t>
            </a:r>
            <a:endParaRPr sz="1550">
              <a:latin typeface="Microsoft YaHei"/>
              <a:cs typeface="Microsoft YaHei"/>
            </a:endParaRPr>
          </a:p>
          <a:p>
            <a:pPr marL="547370">
              <a:lnSpc>
                <a:spcPct val="100000"/>
              </a:lnSpc>
              <a:spcBef>
                <a:spcPts val="335"/>
              </a:spcBef>
            </a:pPr>
            <a:r>
              <a:rPr sz="1550" spc="-5" dirty="0">
                <a:solidFill>
                  <a:srgbClr val="1A1F28"/>
                </a:solidFill>
                <a:latin typeface="Microsoft YaHei"/>
                <a:cs typeface="Microsoft YaHei"/>
              </a:rPr>
              <a:t>机械臂的各个关节可以使用连杆机构来实现转动、摆动等动作，完成复杂的操作任务。</a:t>
            </a:r>
            <a:endParaRPr sz="1550">
              <a:latin typeface="Microsoft YaHei"/>
              <a:cs typeface="Microsoft YaHei"/>
            </a:endParaRPr>
          </a:p>
        </p:txBody>
      </p:sp>
      <p:pic>
        <p:nvPicPr>
          <p:cNvPr id="5" name="object 5"/>
          <p:cNvPicPr/>
          <p:nvPr/>
        </p:nvPicPr>
        <p:blipFill>
          <a:blip r:embed="rId3" cstate="print"/>
          <a:stretch>
            <a:fillRect/>
          </a:stretch>
        </p:blipFill>
        <p:spPr>
          <a:xfrm>
            <a:off x="8770619" y="2061972"/>
            <a:ext cx="1292351" cy="129692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72668"/>
            <a:ext cx="10692384" cy="1071372"/>
          </a:xfrm>
          <a:prstGeom prst="rect">
            <a:avLst/>
          </a:prstGeom>
        </p:spPr>
      </p:pic>
      <p:pic>
        <p:nvPicPr>
          <p:cNvPr id="3" name="object 3"/>
          <p:cNvPicPr/>
          <p:nvPr/>
        </p:nvPicPr>
        <p:blipFill>
          <a:blip r:embed="rId3" cstate="print"/>
          <a:stretch>
            <a:fillRect/>
          </a:stretch>
        </p:blipFill>
        <p:spPr>
          <a:xfrm>
            <a:off x="6126479" y="2731008"/>
            <a:ext cx="3959351" cy="2965703"/>
          </a:xfrm>
          <a:prstGeom prst="rect">
            <a:avLst/>
          </a:prstGeom>
        </p:spPr>
      </p:pic>
      <p:pic>
        <p:nvPicPr>
          <p:cNvPr id="4" name="object 4"/>
          <p:cNvPicPr/>
          <p:nvPr/>
        </p:nvPicPr>
        <p:blipFill>
          <a:blip r:embed="rId4" cstate="print"/>
          <a:stretch>
            <a:fillRect/>
          </a:stretch>
        </p:blipFill>
        <p:spPr>
          <a:xfrm>
            <a:off x="905255" y="3453384"/>
            <a:ext cx="3892295" cy="1869948"/>
          </a:xfrm>
          <a:prstGeom prst="rect">
            <a:avLst/>
          </a:prstGeom>
        </p:spPr>
      </p:pic>
      <p:sp>
        <p:nvSpPr>
          <p:cNvPr id="5" name="object 5"/>
          <p:cNvSpPr txBox="1"/>
          <p:nvPr/>
        </p:nvSpPr>
        <p:spPr>
          <a:xfrm>
            <a:off x="2334237" y="2937756"/>
            <a:ext cx="915669" cy="292735"/>
          </a:xfrm>
          <a:prstGeom prst="rect">
            <a:avLst/>
          </a:prstGeom>
        </p:spPr>
        <p:txBody>
          <a:bodyPr vert="horz" wrap="square" lIns="0" tIns="12700" rIns="0" bIns="0" rtlCol="0">
            <a:spAutoFit/>
          </a:bodyPr>
          <a:lstStyle/>
          <a:p>
            <a:pPr marL="12700">
              <a:lnSpc>
                <a:spcPct val="100000"/>
              </a:lnSpc>
              <a:spcBef>
                <a:spcPts val="100"/>
              </a:spcBef>
            </a:pPr>
            <a:r>
              <a:rPr sz="1750" b="1" spc="-15" dirty="0">
                <a:latin typeface="Microsoft YaHei"/>
                <a:cs typeface="Microsoft YaHei"/>
              </a:rPr>
              <a:t>梯形丝杠</a:t>
            </a:r>
            <a:endParaRPr sz="1750">
              <a:latin typeface="Microsoft YaHei"/>
              <a:cs typeface="Microsoft YaHei"/>
            </a:endParaRPr>
          </a:p>
        </p:txBody>
      </p:sp>
      <p:sp>
        <p:nvSpPr>
          <p:cNvPr id="6" name="object 6"/>
          <p:cNvSpPr txBox="1"/>
          <p:nvPr/>
        </p:nvSpPr>
        <p:spPr>
          <a:xfrm>
            <a:off x="7608843" y="2258077"/>
            <a:ext cx="915669" cy="292735"/>
          </a:xfrm>
          <a:prstGeom prst="rect">
            <a:avLst/>
          </a:prstGeom>
        </p:spPr>
        <p:txBody>
          <a:bodyPr vert="horz" wrap="square" lIns="0" tIns="12700" rIns="0" bIns="0" rtlCol="0">
            <a:spAutoFit/>
          </a:bodyPr>
          <a:lstStyle/>
          <a:p>
            <a:pPr marL="12700">
              <a:lnSpc>
                <a:spcPct val="100000"/>
              </a:lnSpc>
              <a:spcBef>
                <a:spcPts val="100"/>
              </a:spcBef>
            </a:pPr>
            <a:r>
              <a:rPr sz="1750" b="1" spc="-15" dirty="0">
                <a:latin typeface="Microsoft YaHei"/>
                <a:cs typeface="Microsoft YaHei"/>
              </a:rPr>
              <a:t>滚珠丝杠</a:t>
            </a:r>
            <a:endParaRPr sz="1750">
              <a:latin typeface="Microsoft YaHei"/>
              <a:cs typeface="Microsoft YaHei"/>
            </a:endParaRPr>
          </a:p>
        </p:txBody>
      </p:sp>
      <p:sp>
        <p:nvSpPr>
          <p:cNvPr id="7" name="object 7"/>
          <p:cNvSpPr txBox="1"/>
          <p:nvPr/>
        </p:nvSpPr>
        <p:spPr>
          <a:xfrm>
            <a:off x="5999441" y="5409690"/>
            <a:ext cx="4488815" cy="1228725"/>
          </a:xfrm>
          <a:prstGeom prst="rect">
            <a:avLst/>
          </a:prstGeom>
        </p:spPr>
        <p:txBody>
          <a:bodyPr vert="horz" wrap="square" lIns="0" tIns="12065" rIns="0" bIns="0" rtlCol="0">
            <a:spAutoFit/>
          </a:bodyPr>
          <a:lstStyle/>
          <a:p>
            <a:pPr marL="12700" marR="200025">
              <a:lnSpc>
                <a:spcPct val="101899"/>
              </a:lnSpc>
              <a:spcBef>
                <a:spcPts val="95"/>
              </a:spcBef>
            </a:pPr>
            <a:r>
              <a:rPr sz="1550" dirty="0">
                <a:latin typeface="Microsoft YaHei"/>
                <a:cs typeface="Microsoft YaHei"/>
              </a:rPr>
              <a:t>使用场景</a:t>
            </a:r>
            <a:r>
              <a:rPr sz="1550" dirty="0">
                <a:latin typeface="Calibri"/>
                <a:cs typeface="Calibri"/>
              </a:rPr>
              <a:t>:</a:t>
            </a:r>
            <a:r>
              <a:rPr sz="1550" spc="-5" dirty="0">
                <a:latin typeface="Microsoft YaHei"/>
                <a:cs typeface="Microsoft YaHei"/>
              </a:rPr>
              <a:t>适用于高速、高精度和负载较大的直线</a:t>
            </a:r>
            <a:r>
              <a:rPr sz="1550" spc="-10" dirty="0">
                <a:latin typeface="Microsoft YaHei"/>
                <a:cs typeface="Microsoft YaHei"/>
              </a:rPr>
              <a:t>传动场合。</a:t>
            </a:r>
            <a:endParaRPr sz="1550">
              <a:latin typeface="Microsoft YaHei"/>
              <a:cs typeface="Microsoft YaHei"/>
            </a:endParaRPr>
          </a:p>
          <a:p>
            <a:pPr marL="12700" marR="5080">
              <a:lnSpc>
                <a:spcPts val="1900"/>
              </a:lnSpc>
              <a:spcBef>
                <a:spcPts val="55"/>
              </a:spcBef>
            </a:pPr>
            <a:r>
              <a:rPr sz="1550" spc="30" dirty="0">
                <a:latin typeface="Microsoft YaHei"/>
                <a:cs typeface="Microsoft YaHei"/>
              </a:rPr>
              <a:t>优点</a:t>
            </a:r>
            <a:r>
              <a:rPr sz="1550" dirty="0">
                <a:latin typeface="Calibri"/>
                <a:cs typeface="Calibri"/>
              </a:rPr>
              <a:t>:</a:t>
            </a:r>
            <a:r>
              <a:rPr sz="1550" spc="10" dirty="0">
                <a:latin typeface="Microsoft YaHei"/>
                <a:cs typeface="Microsoft YaHei"/>
              </a:rPr>
              <a:t>运动平稳、噪音低，传动效率高，传动比大。</a:t>
            </a:r>
            <a:r>
              <a:rPr sz="1550" spc="30" dirty="0">
                <a:latin typeface="Microsoft YaHei"/>
                <a:cs typeface="Microsoft YaHei"/>
              </a:rPr>
              <a:t>缺点</a:t>
            </a:r>
            <a:r>
              <a:rPr sz="1550" dirty="0">
                <a:latin typeface="Calibri"/>
                <a:cs typeface="Calibri"/>
              </a:rPr>
              <a:t>:</a:t>
            </a:r>
            <a:r>
              <a:rPr sz="1550" spc="10" dirty="0">
                <a:latin typeface="Microsoft YaHei"/>
                <a:cs typeface="Microsoft YaHei"/>
              </a:rPr>
              <a:t>成本相对较高，需要经常维护保养，不能自锁</a:t>
            </a:r>
            <a:r>
              <a:rPr sz="1550" spc="30" dirty="0">
                <a:latin typeface="Microsoft YaHei"/>
                <a:cs typeface="Microsoft YaHei"/>
              </a:rPr>
              <a:t>，传动效率低</a:t>
            </a:r>
            <a:endParaRPr sz="1550">
              <a:latin typeface="Microsoft YaHei"/>
              <a:cs typeface="Microsoft YaHei"/>
            </a:endParaRPr>
          </a:p>
        </p:txBody>
      </p:sp>
      <p:sp>
        <p:nvSpPr>
          <p:cNvPr id="8" name="object 8"/>
          <p:cNvSpPr txBox="1"/>
          <p:nvPr/>
        </p:nvSpPr>
        <p:spPr>
          <a:xfrm>
            <a:off x="1758223" y="5409690"/>
            <a:ext cx="2435860" cy="988060"/>
          </a:xfrm>
          <a:prstGeom prst="rect">
            <a:avLst/>
          </a:prstGeom>
        </p:spPr>
        <p:txBody>
          <a:bodyPr vert="horz" wrap="square" lIns="0" tIns="16510" rIns="0" bIns="0" rtlCol="0">
            <a:spAutoFit/>
          </a:bodyPr>
          <a:lstStyle/>
          <a:p>
            <a:pPr marL="12700">
              <a:lnSpc>
                <a:spcPct val="100000"/>
              </a:lnSpc>
              <a:spcBef>
                <a:spcPts val="130"/>
              </a:spcBef>
            </a:pPr>
            <a:r>
              <a:rPr sz="1550" spc="-5" dirty="0">
                <a:latin typeface="Microsoft YaHei"/>
                <a:cs typeface="Microsoft YaHei"/>
              </a:rPr>
              <a:t>优点：可自锁，传动比大</a:t>
            </a:r>
            <a:endParaRPr sz="1550">
              <a:latin typeface="Microsoft YaHei"/>
              <a:cs typeface="Microsoft YaHei"/>
            </a:endParaRPr>
          </a:p>
          <a:p>
            <a:pPr marL="12700" marR="5080">
              <a:lnSpc>
                <a:spcPct val="100000"/>
              </a:lnSpc>
              <a:spcBef>
                <a:spcPts val="1960"/>
              </a:spcBef>
            </a:pPr>
            <a:r>
              <a:rPr sz="1550" spc="-5" dirty="0">
                <a:latin typeface="Microsoft YaHei"/>
                <a:cs typeface="Microsoft YaHei"/>
              </a:rPr>
              <a:t>缺点：螺母和螺纹之间有间隙，精度不高，传动效率低</a:t>
            </a:r>
            <a:endParaRPr sz="1550">
              <a:latin typeface="Microsoft YaHei"/>
              <a:cs typeface="Microsoft YaHei"/>
            </a:endParaRPr>
          </a:p>
        </p:txBody>
      </p:sp>
      <p:sp>
        <p:nvSpPr>
          <p:cNvPr id="9" name="object 9"/>
          <p:cNvSpPr txBox="1">
            <a:spLocks noGrp="1"/>
          </p:cNvSpPr>
          <p:nvPr>
            <p:ph type="title"/>
          </p:nvPr>
        </p:nvSpPr>
        <p:spPr>
          <a:xfrm>
            <a:off x="281509" y="2062951"/>
            <a:ext cx="6418580" cy="559435"/>
          </a:xfrm>
          <a:prstGeom prst="rect">
            <a:avLst/>
          </a:prstGeom>
        </p:spPr>
        <p:txBody>
          <a:bodyPr vert="horz" wrap="square" lIns="0" tIns="12700" rIns="0" bIns="0" rtlCol="0">
            <a:spAutoFit/>
          </a:bodyPr>
          <a:lstStyle/>
          <a:p>
            <a:pPr marL="12700">
              <a:lnSpc>
                <a:spcPct val="100000"/>
              </a:lnSpc>
              <a:spcBef>
                <a:spcPts val="100"/>
              </a:spcBef>
            </a:pPr>
            <a:r>
              <a:rPr sz="5250" spc="-37" baseline="-3174" dirty="0"/>
              <a:t>4</a:t>
            </a:r>
            <a:r>
              <a:rPr sz="5250" spc="-7" baseline="-3174" dirty="0"/>
              <a:t>.螺旋传动——丝杠 </a:t>
            </a:r>
            <a:r>
              <a:rPr sz="1750" spc="-5" dirty="0">
                <a:solidFill>
                  <a:srgbClr val="000000"/>
                </a:solidFill>
              </a:rPr>
              <a:t>化旋转运动为直线运动</a:t>
            </a:r>
            <a:endParaRPr sz="175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72668"/>
            <a:ext cx="10692384" cy="1071372"/>
          </a:xfrm>
          <a:prstGeom prst="rect">
            <a:avLst/>
          </a:prstGeom>
        </p:spPr>
      </p:pic>
      <p:sp>
        <p:nvSpPr>
          <p:cNvPr id="3" name="object 3"/>
          <p:cNvSpPr txBox="1">
            <a:spLocks noGrp="1"/>
          </p:cNvSpPr>
          <p:nvPr>
            <p:ph type="title"/>
          </p:nvPr>
        </p:nvSpPr>
        <p:spPr>
          <a:xfrm>
            <a:off x="281509" y="2062951"/>
            <a:ext cx="6418580" cy="559435"/>
          </a:xfrm>
          <a:prstGeom prst="rect">
            <a:avLst/>
          </a:prstGeom>
        </p:spPr>
        <p:txBody>
          <a:bodyPr vert="horz" wrap="square" lIns="0" tIns="12700" rIns="0" bIns="0" rtlCol="0">
            <a:spAutoFit/>
          </a:bodyPr>
          <a:lstStyle/>
          <a:p>
            <a:pPr marL="12700">
              <a:lnSpc>
                <a:spcPct val="100000"/>
              </a:lnSpc>
              <a:spcBef>
                <a:spcPts val="100"/>
              </a:spcBef>
            </a:pPr>
            <a:r>
              <a:rPr sz="5250" spc="-37" baseline="-3174" dirty="0"/>
              <a:t>4</a:t>
            </a:r>
            <a:r>
              <a:rPr sz="5250" spc="-7" baseline="-3174" dirty="0"/>
              <a:t>.螺旋传动——丝杠 </a:t>
            </a:r>
            <a:r>
              <a:rPr sz="1750" spc="-5" dirty="0">
                <a:solidFill>
                  <a:srgbClr val="000000"/>
                </a:solidFill>
              </a:rPr>
              <a:t>化旋转运动为直线运动</a:t>
            </a:r>
            <a:endParaRPr sz="1750"/>
          </a:p>
        </p:txBody>
      </p:sp>
      <p:pic>
        <p:nvPicPr>
          <p:cNvPr id="4" name="object 4"/>
          <p:cNvPicPr/>
          <p:nvPr/>
        </p:nvPicPr>
        <p:blipFill>
          <a:blip r:embed="rId3" cstate="print"/>
          <a:stretch>
            <a:fillRect/>
          </a:stretch>
        </p:blipFill>
        <p:spPr>
          <a:xfrm>
            <a:off x="94488" y="3994403"/>
            <a:ext cx="2801111" cy="2302764"/>
          </a:xfrm>
          <a:prstGeom prst="rect">
            <a:avLst/>
          </a:prstGeom>
        </p:spPr>
      </p:pic>
      <p:pic>
        <p:nvPicPr>
          <p:cNvPr id="5" name="object 5"/>
          <p:cNvPicPr/>
          <p:nvPr/>
        </p:nvPicPr>
        <p:blipFill>
          <a:blip r:embed="rId4" cstate="print"/>
          <a:stretch>
            <a:fillRect/>
          </a:stretch>
        </p:blipFill>
        <p:spPr>
          <a:xfrm>
            <a:off x="5964935" y="3973067"/>
            <a:ext cx="4642103" cy="2616707"/>
          </a:xfrm>
          <a:prstGeom prst="rect">
            <a:avLst/>
          </a:prstGeom>
        </p:spPr>
      </p:pic>
      <p:pic>
        <p:nvPicPr>
          <p:cNvPr id="6" name="object 6"/>
          <p:cNvPicPr/>
          <p:nvPr/>
        </p:nvPicPr>
        <p:blipFill>
          <a:blip r:embed="rId5" cstate="print"/>
          <a:stretch>
            <a:fillRect/>
          </a:stretch>
        </p:blipFill>
        <p:spPr>
          <a:xfrm>
            <a:off x="2956560" y="2773680"/>
            <a:ext cx="2947416" cy="2442971"/>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5</a:t>
            </a:r>
            <a:r>
              <a:rPr spc="-20" dirty="0"/>
              <a:t>.凸轮传动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784308" y="3186140"/>
            <a:ext cx="3638550" cy="2642870"/>
          </a:xfrm>
          <a:prstGeom prst="rect">
            <a:avLst/>
          </a:prstGeom>
        </p:spPr>
        <p:txBody>
          <a:bodyPr vert="horz" wrap="square" lIns="0" tIns="13335" rIns="0" bIns="0" rtlCol="0">
            <a:spAutoFit/>
          </a:bodyPr>
          <a:lstStyle/>
          <a:p>
            <a:pPr marL="12700" marR="205740" algn="just">
              <a:lnSpc>
                <a:spcPct val="101499"/>
              </a:lnSpc>
              <a:spcBef>
                <a:spcPts val="105"/>
              </a:spcBef>
            </a:pPr>
            <a:r>
              <a:rPr sz="1550" spc="-5" dirty="0">
                <a:latin typeface="Microsoft YaHei"/>
                <a:cs typeface="Microsoft YaHei"/>
              </a:rPr>
              <a:t>定义：凸轮传动主要由凸轮、挺杆、推杆和气门等部件组成。其中，凸轮是带有凸起的规则或不规则回转轮，它通过旋转运动来驱动挺杆和推杆，进而实现</a:t>
            </a:r>
            <a:r>
              <a:rPr sz="1550" spc="-10" dirty="0">
                <a:latin typeface="Microsoft YaHei"/>
                <a:cs typeface="Microsoft YaHei"/>
              </a:rPr>
              <a:t>气门的开启和闭合。</a:t>
            </a:r>
            <a:endParaRPr sz="1550">
              <a:latin typeface="Microsoft YaHei"/>
              <a:cs typeface="Microsoft YaHei"/>
            </a:endParaRPr>
          </a:p>
          <a:p>
            <a:pPr marL="12700" marR="5080" algn="just">
              <a:lnSpc>
                <a:spcPct val="101499"/>
              </a:lnSpc>
              <a:spcBef>
                <a:spcPts val="1725"/>
              </a:spcBef>
            </a:pPr>
            <a:r>
              <a:rPr sz="1550" spc="-5" dirty="0">
                <a:latin typeface="Microsoft YaHei"/>
                <a:cs typeface="Microsoft YaHei"/>
              </a:rPr>
              <a:t>原理：通过人为设定加工而成的弧面或沟槽进行上下运动或往复运动的一种机械回转机构。当凸轮旋转时，其凸起部分会推动挺杆和推杆，使气门产生往复运动，从而实现对气体流动的控制。</a:t>
            </a:r>
            <a:endParaRPr sz="1550">
              <a:latin typeface="Microsoft YaHei"/>
              <a:cs typeface="Microsoft YaHei"/>
            </a:endParaRPr>
          </a:p>
        </p:txBody>
      </p:sp>
      <p:pic>
        <p:nvPicPr>
          <p:cNvPr id="5" name="object 5"/>
          <p:cNvPicPr/>
          <p:nvPr/>
        </p:nvPicPr>
        <p:blipFill>
          <a:blip r:embed="rId3" cstate="print"/>
          <a:stretch>
            <a:fillRect/>
          </a:stretch>
        </p:blipFill>
        <p:spPr>
          <a:xfrm>
            <a:off x="5640323" y="2964180"/>
            <a:ext cx="4044696" cy="3241548"/>
          </a:xfrm>
          <a:prstGeom prst="rect">
            <a:avLst/>
          </a:prstGeom>
        </p:spPr>
      </p:pic>
      <p:sp>
        <p:nvSpPr>
          <p:cNvPr id="6" name="object 6"/>
          <p:cNvSpPr txBox="1"/>
          <p:nvPr/>
        </p:nvSpPr>
        <p:spPr>
          <a:xfrm>
            <a:off x="2712211" y="2299253"/>
            <a:ext cx="2250440" cy="292735"/>
          </a:xfrm>
          <a:prstGeom prst="rect">
            <a:avLst/>
          </a:prstGeom>
        </p:spPr>
        <p:txBody>
          <a:bodyPr vert="horz" wrap="square" lIns="0" tIns="12700" rIns="0" bIns="0" rtlCol="0">
            <a:spAutoFit/>
          </a:bodyPr>
          <a:lstStyle/>
          <a:p>
            <a:pPr marL="12700">
              <a:lnSpc>
                <a:spcPct val="100000"/>
              </a:lnSpc>
              <a:spcBef>
                <a:spcPts val="100"/>
              </a:spcBef>
            </a:pPr>
            <a:r>
              <a:rPr sz="1750" b="1" spc="-5" dirty="0">
                <a:latin typeface="Microsoft YaHei"/>
                <a:cs typeface="Microsoft YaHei"/>
              </a:rPr>
              <a:t>化旋转运动为直线运动</a:t>
            </a:r>
            <a:endParaRPr sz="1750">
              <a:latin typeface="Microsoft YaHei"/>
              <a:cs typeface="Microsoft YaHe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509" y="2088918"/>
            <a:ext cx="2205990" cy="559435"/>
          </a:xfrm>
          <a:prstGeom prst="rect">
            <a:avLst/>
          </a:prstGeom>
        </p:spPr>
        <p:txBody>
          <a:bodyPr vert="horz" wrap="square" lIns="0" tIns="12700" rIns="0" bIns="0" rtlCol="0">
            <a:spAutoFit/>
          </a:bodyPr>
          <a:lstStyle/>
          <a:p>
            <a:pPr marL="12700">
              <a:lnSpc>
                <a:spcPct val="100000"/>
              </a:lnSpc>
              <a:spcBef>
                <a:spcPts val="100"/>
              </a:spcBef>
            </a:pPr>
            <a:r>
              <a:rPr spc="-25" dirty="0"/>
              <a:t>5</a:t>
            </a:r>
            <a:r>
              <a:rPr spc="-20" dirty="0"/>
              <a:t>.凸轮传动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584769" y="3039887"/>
            <a:ext cx="6165215" cy="2255520"/>
          </a:xfrm>
          <a:prstGeom prst="rect">
            <a:avLst/>
          </a:prstGeom>
        </p:spPr>
        <p:txBody>
          <a:bodyPr vert="horz" wrap="square" lIns="0" tIns="12700" rIns="0" bIns="0" rtlCol="0">
            <a:spAutoFit/>
          </a:bodyPr>
          <a:lstStyle/>
          <a:p>
            <a:pPr marL="12700">
              <a:lnSpc>
                <a:spcPct val="100000"/>
              </a:lnSpc>
              <a:spcBef>
                <a:spcPts val="100"/>
              </a:spcBef>
            </a:pPr>
            <a:r>
              <a:rPr sz="2100" spc="-10" dirty="0">
                <a:latin typeface="Microsoft YaHei"/>
                <a:cs typeface="Microsoft YaHei"/>
              </a:rPr>
              <a:t>凸轮传动主要特点：</a:t>
            </a:r>
            <a:endParaRPr sz="2100">
              <a:latin typeface="Microsoft YaHei"/>
              <a:cs typeface="Microsoft YaHei"/>
            </a:endParaRPr>
          </a:p>
          <a:p>
            <a:pPr marL="12700">
              <a:lnSpc>
                <a:spcPct val="100000"/>
              </a:lnSpc>
              <a:spcBef>
                <a:spcPts val="10"/>
              </a:spcBef>
            </a:pPr>
            <a:r>
              <a:rPr sz="2100" spc="-5" dirty="0">
                <a:latin typeface="Microsoft YaHei"/>
                <a:cs typeface="Microsoft YaHei"/>
              </a:rPr>
              <a:t>运动控制精确、结构简单紧凑、可靠性高、适用性广</a:t>
            </a:r>
            <a:endParaRPr sz="2100">
              <a:latin typeface="Microsoft YaHei"/>
              <a:cs typeface="Microsoft YaHei"/>
            </a:endParaRPr>
          </a:p>
          <a:p>
            <a:pPr>
              <a:lnSpc>
                <a:spcPct val="100000"/>
              </a:lnSpc>
              <a:spcBef>
                <a:spcPts val="160"/>
              </a:spcBef>
            </a:pPr>
            <a:endParaRPr sz="2100">
              <a:latin typeface="Microsoft YaHei"/>
              <a:cs typeface="Microsoft YaHei"/>
            </a:endParaRPr>
          </a:p>
          <a:p>
            <a:pPr marL="12700">
              <a:lnSpc>
                <a:spcPct val="100000"/>
              </a:lnSpc>
            </a:pPr>
            <a:r>
              <a:rPr sz="2100" spc="-5" dirty="0">
                <a:latin typeface="Microsoft YaHei"/>
                <a:cs typeface="Microsoft YaHei"/>
              </a:rPr>
              <a:t>优点：传动效率高，运动平稳，易于实现自动化</a:t>
            </a:r>
            <a:endParaRPr sz="2100">
              <a:latin typeface="Microsoft YaHei"/>
              <a:cs typeface="Microsoft YaHei"/>
            </a:endParaRPr>
          </a:p>
          <a:p>
            <a:pPr marL="12700">
              <a:lnSpc>
                <a:spcPct val="100000"/>
              </a:lnSpc>
              <a:spcBef>
                <a:spcPts val="3435"/>
              </a:spcBef>
            </a:pPr>
            <a:r>
              <a:rPr sz="2100" spc="-5" dirty="0">
                <a:latin typeface="Microsoft YaHei"/>
                <a:cs typeface="Microsoft YaHei"/>
              </a:rPr>
              <a:t>缺点：加工、维护成本高，设计较为复杂，磨损问题</a:t>
            </a:r>
            <a:endParaRPr sz="2100">
              <a:latin typeface="Microsoft YaHei"/>
              <a:cs typeface="Microsoft YaHe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72668"/>
            <a:ext cx="10692384" cy="1071372"/>
          </a:xfrm>
          <a:prstGeom prst="rect">
            <a:avLst/>
          </a:prstGeom>
        </p:spPr>
      </p:pic>
      <p:sp>
        <p:nvSpPr>
          <p:cNvPr id="3" name="object 3"/>
          <p:cNvSpPr txBox="1">
            <a:spLocks noGrp="1"/>
          </p:cNvSpPr>
          <p:nvPr>
            <p:ph type="title"/>
          </p:nvPr>
        </p:nvSpPr>
        <p:spPr>
          <a:xfrm>
            <a:off x="283030" y="2090390"/>
            <a:ext cx="4239260" cy="559435"/>
          </a:xfrm>
          <a:prstGeom prst="rect">
            <a:avLst/>
          </a:prstGeom>
        </p:spPr>
        <p:txBody>
          <a:bodyPr vert="horz" wrap="square" lIns="0" tIns="12700" rIns="0" bIns="0" rtlCol="0">
            <a:spAutoFit/>
          </a:bodyPr>
          <a:lstStyle/>
          <a:p>
            <a:pPr marL="12700">
              <a:lnSpc>
                <a:spcPct val="100000"/>
              </a:lnSpc>
              <a:spcBef>
                <a:spcPts val="100"/>
              </a:spcBef>
            </a:pPr>
            <a:r>
              <a:rPr spc="-25" dirty="0"/>
              <a:t>5</a:t>
            </a:r>
            <a:r>
              <a:rPr spc="35" dirty="0"/>
              <a:t>.凸轮传动 </a:t>
            </a:r>
            <a:r>
              <a:rPr sz="2100" b="0" spc="-10" dirty="0">
                <a:solidFill>
                  <a:srgbClr val="05073B"/>
                </a:solidFill>
                <a:latin typeface="Microsoft YaHei"/>
                <a:cs typeface="Microsoft YaHei"/>
              </a:rPr>
              <a:t>分类及适用场景</a:t>
            </a:r>
            <a:endParaRPr sz="2100">
              <a:latin typeface="Microsoft YaHei"/>
              <a:cs typeface="Microsoft YaHei"/>
            </a:endParaRPr>
          </a:p>
        </p:txBody>
      </p:sp>
      <p:sp>
        <p:nvSpPr>
          <p:cNvPr id="4" name="object 4"/>
          <p:cNvSpPr txBox="1"/>
          <p:nvPr/>
        </p:nvSpPr>
        <p:spPr>
          <a:xfrm>
            <a:off x="499348" y="3349278"/>
            <a:ext cx="6737984" cy="2672080"/>
          </a:xfrm>
          <a:prstGeom prst="rect">
            <a:avLst/>
          </a:prstGeom>
        </p:spPr>
        <p:txBody>
          <a:bodyPr vert="horz" wrap="square" lIns="0" tIns="12065" rIns="0" bIns="0" rtlCol="0">
            <a:spAutoFit/>
          </a:bodyPr>
          <a:lstStyle/>
          <a:p>
            <a:pPr marL="312420" marR="200025" indent="-300355" algn="just">
              <a:lnSpc>
                <a:spcPct val="101899"/>
              </a:lnSpc>
              <a:spcBef>
                <a:spcPts val="95"/>
              </a:spcBef>
              <a:buSzPct val="54838"/>
              <a:buFont typeface="Wingdings"/>
              <a:buChar char=""/>
              <a:tabLst>
                <a:tab pos="312420" algn="l"/>
              </a:tabLst>
            </a:pPr>
            <a:r>
              <a:rPr sz="1550" b="1" dirty="0">
                <a:latin typeface="Microsoft YaHei"/>
                <a:cs typeface="Microsoft YaHei"/>
              </a:rPr>
              <a:t>圆盘凸轮（盘形凸轮）</a:t>
            </a:r>
            <a:r>
              <a:rPr sz="1550" b="1" dirty="0">
                <a:latin typeface="Malgun Gothic"/>
                <a:cs typeface="Malgun Gothic"/>
              </a:rPr>
              <a:t>：</a:t>
            </a:r>
            <a:r>
              <a:rPr sz="1550" spc="-5" dirty="0">
                <a:latin typeface="Microsoft YaHei"/>
                <a:cs typeface="Microsoft YaHei"/>
              </a:rPr>
              <a:t>具有变化向径的构件绕固定轴线回转，轮廓线一般为圆弧形。主要用于轻工机械、纺织机械和印刷机械等领域。</a:t>
            </a:r>
            <a:endParaRPr sz="1550">
              <a:latin typeface="Microsoft YaHei"/>
              <a:cs typeface="Microsoft YaHei"/>
            </a:endParaRPr>
          </a:p>
          <a:p>
            <a:pPr>
              <a:lnSpc>
                <a:spcPct val="100000"/>
              </a:lnSpc>
              <a:spcBef>
                <a:spcPts val="925"/>
              </a:spcBef>
              <a:buFont typeface="Wingdings"/>
              <a:buChar char=""/>
            </a:pPr>
            <a:endParaRPr sz="1550">
              <a:latin typeface="Microsoft YaHei"/>
              <a:cs typeface="Microsoft YaHei"/>
            </a:endParaRPr>
          </a:p>
          <a:p>
            <a:pPr marL="312420" marR="198755" indent="-300355" algn="just">
              <a:lnSpc>
                <a:spcPct val="101899"/>
              </a:lnSpc>
              <a:buSzPct val="54838"/>
              <a:buFont typeface="Wingdings"/>
              <a:buChar char=""/>
              <a:tabLst>
                <a:tab pos="312420" algn="l"/>
              </a:tabLst>
            </a:pPr>
            <a:r>
              <a:rPr sz="1550" b="1" dirty="0">
                <a:latin typeface="Microsoft YaHei"/>
                <a:cs typeface="Microsoft YaHei"/>
              </a:rPr>
              <a:t>圆柱凸轮</a:t>
            </a:r>
            <a:r>
              <a:rPr sz="1550" b="1" dirty="0">
                <a:latin typeface="Malgun Gothic"/>
                <a:cs typeface="Malgun Gothic"/>
              </a:rPr>
              <a:t>：</a:t>
            </a:r>
            <a:r>
              <a:rPr sz="1550" spc="-5" dirty="0">
                <a:latin typeface="Microsoft YaHei"/>
                <a:cs typeface="Microsoft YaHei"/>
              </a:rPr>
              <a:t>圆柱面上有轮廓曲线的构件，与从动件的接触点位置并不是固定不变的，而是随轴线方向变化，属于空间凸轮。主要用于机床、自动化设备和包装机械等领域。</a:t>
            </a:r>
            <a:endParaRPr sz="1550">
              <a:latin typeface="Microsoft YaHei"/>
              <a:cs typeface="Microsoft YaHei"/>
            </a:endParaRPr>
          </a:p>
          <a:p>
            <a:pPr>
              <a:lnSpc>
                <a:spcPct val="100000"/>
              </a:lnSpc>
              <a:spcBef>
                <a:spcPts val="994"/>
              </a:spcBef>
              <a:buFont typeface="Wingdings"/>
              <a:buChar char=""/>
            </a:pPr>
            <a:endParaRPr sz="1550">
              <a:latin typeface="Microsoft YaHei"/>
              <a:cs typeface="Microsoft YaHei"/>
            </a:endParaRPr>
          </a:p>
          <a:p>
            <a:pPr marL="312420" marR="5080" indent="-300355">
              <a:lnSpc>
                <a:spcPct val="100000"/>
              </a:lnSpc>
              <a:buSzPct val="54838"/>
              <a:buFont typeface="Wingdings"/>
              <a:buChar char=""/>
              <a:tabLst>
                <a:tab pos="312420" algn="l"/>
              </a:tabLst>
            </a:pPr>
            <a:r>
              <a:rPr sz="1550" b="1" dirty="0">
                <a:latin typeface="Microsoft YaHei"/>
                <a:cs typeface="Microsoft YaHei"/>
              </a:rPr>
              <a:t>圆锥凸轮：</a:t>
            </a:r>
            <a:r>
              <a:rPr sz="1550" spc="-5" dirty="0">
                <a:latin typeface="Microsoft YaHei"/>
                <a:cs typeface="Microsoft YaHei"/>
              </a:rPr>
              <a:t>圆锥面上有轮廓曲线的构件，从动件沿圆锥面上的曲线运动。主要用于重型机械、矿山机械和石油机械等领域。</a:t>
            </a:r>
            <a:endParaRPr sz="1550">
              <a:latin typeface="Microsoft YaHei"/>
              <a:cs typeface="Microsoft YaHei"/>
            </a:endParaRPr>
          </a:p>
        </p:txBody>
      </p:sp>
      <p:grpSp>
        <p:nvGrpSpPr>
          <p:cNvPr id="5" name="object 5"/>
          <p:cNvGrpSpPr/>
          <p:nvPr/>
        </p:nvGrpSpPr>
        <p:grpSpPr>
          <a:xfrm>
            <a:off x="7374635" y="1970532"/>
            <a:ext cx="2476500" cy="4683760"/>
            <a:chOff x="7374635" y="1970532"/>
            <a:chExt cx="2476500" cy="4683760"/>
          </a:xfrm>
        </p:grpSpPr>
        <p:pic>
          <p:nvPicPr>
            <p:cNvPr id="6" name="object 6"/>
            <p:cNvPicPr/>
            <p:nvPr/>
          </p:nvPicPr>
          <p:blipFill>
            <a:blip r:embed="rId3" cstate="print"/>
            <a:stretch>
              <a:fillRect/>
            </a:stretch>
          </p:blipFill>
          <p:spPr>
            <a:xfrm>
              <a:off x="7374635" y="1970532"/>
              <a:ext cx="2476500" cy="3253739"/>
            </a:xfrm>
            <a:prstGeom prst="rect">
              <a:avLst/>
            </a:prstGeom>
          </p:spPr>
        </p:pic>
        <p:pic>
          <p:nvPicPr>
            <p:cNvPr id="7" name="object 7"/>
            <p:cNvPicPr/>
            <p:nvPr/>
          </p:nvPicPr>
          <p:blipFill>
            <a:blip r:embed="rId4" cstate="print"/>
            <a:stretch>
              <a:fillRect/>
            </a:stretch>
          </p:blipFill>
          <p:spPr>
            <a:xfrm>
              <a:off x="7559039" y="5221223"/>
              <a:ext cx="1676400" cy="1432559"/>
            </a:xfrm>
            <a:prstGeom prst="rect">
              <a:avLst/>
            </a:prstGeom>
          </p:spPr>
        </p:pic>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5</a:t>
            </a:r>
            <a:r>
              <a:rPr spc="-20" dirty="0"/>
              <a:t>.凸轮传动</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458225" y="3367578"/>
            <a:ext cx="6543040" cy="508000"/>
          </a:xfrm>
          <a:prstGeom prst="rect">
            <a:avLst/>
          </a:prstGeom>
        </p:spPr>
        <p:txBody>
          <a:bodyPr vert="horz" wrap="square" lIns="0" tIns="12065" rIns="0" bIns="0" rtlCol="0">
            <a:spAutoFit/>
          </a:bodyPr>
          <a:lstStyle/>
          <a:p>
            <a:pPr marL="312420" marR="5080" indent="-300355">
              <a:lnSpc>
                <a:spcPct val="101899"/>
              </a:lnSpc>
              <a:spcBef>
                <a:spcPts val="95"/>
              </a:spcBef>
              <a:buSzPct val="54838"/>
              <a:buFont typeface="Symbol"/>
              <a:buChar char=""/>
              <a:tabLst>
                <a:tab pos="312420" algn="l"/>
              </a:tabLst>
            </a:pPr>
            <a:r>
              <a:rPr sz="1550" b="1" dirty="0">
                <a:latin typeface="Microsoft YaHei"/>
                <a:cs typeface="Microsoft YaHei"/>
              </a:rPr>
              <a:t>滑板凸轮（移动凸轮）</a:t>
            </a:r>
            <a:r>
              <a:rPr sz="1550" b="1" dirty="0">
                <a:latin typeface="Malgun Gothic"/>
                <a:cs typeface="Malgun Gothic"/>
              </a:rPr>
              <a:t>：</a:t>
            </a:r>
            <a:r>
              <a:rPr sz="1550" spc="-5" dirty="0">
                <a:latin typeface="Microsoft YaHei"/>
                <a:cs typeface="Microsoft YaHei"/>
              </a:rPr>
              <a:t>可看作是转轴在无穷远处的盘型凸轮。通常安装在往复构件上，也可安装在固定的机架上。</a:t>
            </a:r>
            <a:endParaRPr sz="1550">
              <a:latin typeface="Microsoft YaHei"/>
              <a:cs typeface="Microsoft YaHei"/>
            </a:endParaRPr>
          </a:p>
        </p:txBody>
      </p:sp>
      <p:sp>
        <p:nvSpPr>
          <p:cNvPr id="5" name="object 5"/>
          <p:cNvSpPr txBox="1"/>
          <p:nvPr/>
        </p:nvSpPr>
        <p:spPr>
          <a:xfrm>
            <a:off x="458225" y="4573073"/>
            <a:ext cx="6737984" cy="504825"/>
          </a:xfrm>
          <a:prstGeom prst="rect">
            <a:avLst/>
          </a:prstGeom>
        </p:spPr>
        <p:txBody>
          <a:bodyPr vert="horz" wrap="square" lIns="0" tIns="15240" rIns="0" bIns="0" rtlCol="0">
            <a:spAutoFit/>
          </a:bodyPr>
          <a:lstStyle/>
          <a:p>
            <a:pPr marL="312420" marR="5080" indent="-300355">
              <a:lnSpc>
                <a:spcPct val="100600"/>
              </a:lnSpc>
              <a:spcBef>
                <a:spcPts val="120"/>
              </a:spcBef>
              <a:buSzPct val="54838"/>
              <a:buFont typeface="Symbol"/>
              <a:buChar char=""/>
              <a:tabLst>
                <a:tab pos="312420" algn="l"/>
              </a:tabLst>
            </a:pPr>
            <a:r>
              <a:rPr sz="1550" b="1" dirty="0">
                <a:latin typeface="Microsoft YaHei"/>
                <a:cs typeface="Microsoft YaHei"/>
              </a:rPr>
              <a:t>摆动凸轮：</a:t>
            </a:r>
            <a:r>
              <a:rPr sz="1550" spc="-5" dirty="0">
                <a:latin typeface="Microsoft YaHei"/>
                <a:cs typeface="Microsoft YaHei"/>
              </a:rPr>
              <a:t>摆动凸轮的轮廓线为摆线或圆弧，从动件沿摆线或圆弧运动。主要用于汽车发动机、内燃机和压缩机等领域。</a:t>
            </a:r>
            <a:endParaRPr sz="1550">
              <a:latin typeface="Microsoft YaHei"/>
              <a:cs typeface="Microsoft YaHei"/>
            </a:endParaRPr>
          </a:p>
        </p:txBody>
      </p:sp>
      <p:pic>
        <p:nvPicPr>
          <p:cNvPr id="6" name="object 6"/>
          <p:cNvPicPr/>
          <p:nvPr/>
        </p:nvPicPr>
        <p:blipFill>
          <a:blip r:embed="rId3" cstate="print"/>
          <a:stretch>
            <a:fillRect/>
          </a:stretch>
        </p:blipFill>
        <p:spPr>
          <a:xfrm>
            <a:off x="7274052" y="2644140"/>
            <a:ext cx="2709672" cy="360730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3096260" cy="559435"/>
          </a:xfrm>
          <a:prstGeom prst="rect">
            <a:avLst/>
          </a:prstGeom>
        </p:spPr>
        <p:txBody>
          <a:bodyPr vert="horz" wrap="square" lIns="0" tIns="12700" rIns="0" bIns="0" rtlCol="0">
            <a:spAutoFit/>
          </a:bodyPr>
          <a:lstStyle/>
          <a:p>
            <a:pPr marL="12700">
              <a:lnSpc>
                <a:spcPct val="100000"/>
              </a:lnSpc>
              <a:spcBef>
                <a:spcPts val="100"/>
              </a:spcBef>
            </a:pPr>
            <a:r>
              <a:rPr spc="-25" dirty="0"/>
              <a:t>5</a:t>
            </a:r>
            <a:r>
              <a:rPr spc="-20" dirty="0"/>
              <a:t>.蜗轮蜗杆传动</a:t>
            </a:r>
          </a:p>
        </p:txBody>
      </p:sp>
      <p:pic>
        <p:nvPicPr>
          <p:cNvPr id="3" name="object 3"/>
          <p:cNvPicPr/>
          <p:nvPr/>
        </p:nvPicPr>
        <p:blipFill>
          <a:blip r:embed="rId2" cstate="print"/>
          <a:stretch>
            <a:fillRect/>
          </a:stretch>
        </p:blipFill>
        <p:spPr>
          <a:xfrm>
            <a:off x="0" y="772668"/>
            <a:ext cx="10692384" cy="1071372"/>
          </a:xfrm>
          <a:prstGeom prst="rect">
            <a:avLst/>
          </a:prstGeom>
        </p:spPr>
      </p:pic>
      <p:pic>
        <p:nvPicPr>
          <p:cNvPr id="4" name="object 4"/>
          <p:cNvPicPr/>
          <p:nvPr/>
        </p:nvPicPr>
        <p:blipFill>
          <a:blip r:embed="rId3" cstate="print"/>
          <a:stretch>
            <a:fillRect/>
          </a:stretch>
        </p:blipFill>
        <p:spPr>
          <a:xfrm>
            <a:off x="5242560" y="2673096"/>
            <a:ext cx="3415283" cy="3412235"/>
          </a:xfrm>
          <a:prstGeom prst="rect">
            <a:avLst/>
          </a:prstGeom>
        </p:spPr>
      </p:pic>
      <p:sp>
        <p:nvSpPr>
          <p:cNvPr id="5" name="object 5"/>
          <p:cNvSpPr txBox="1"/>
          <p:nvPr/>
        </p:nvSpPr>
        <p:spPr>
          <a:xfrm>
            <a:off x="538939" y="2871114"/>
            <a:ext cx="4234815" cy="2571115"/>
          </a:xfrm>
          <a:prstGeom prst="rect">
            <a:avLst/>
          </a:prstGeom>
        </p:spPr>
        <p:txBody>
          <a:bodyPr vert="horz" wrap="square" lIns="0" tIns="55244" rIns="0" bIns="0" rtlCol="0">
            <a:spAutoFit/>
          </a:bodyPr>
          <a:lstStyle/>
          <a:p>
            <a:pPr marL="12700">
              <a:lnSpc>
                <a:spcPct val="100000"/>
              </a:lnSpc>
              <a:spcBef>
                <a:spcPts val="434"/>
              </a:spcBef>
            </a:pPr>
            <a:r>
              <a:rPr sz="1750" spc="-20" dirty="0">
                <a:latin typeface="Microsoft YaHei"/>
                <a:cs typeface="Microsoft YaHei"/>
              </a:rPr>
              <a:t>优点：</a:t>
            </a:r>
            <a:endParaRPr sz="1750">
              <a:latin typeface="Microsoft YaHei"/>
              <a:cs typeface="Microsoft YaHei"/>
            </a:endParaRPr>
          </a:p>
          <a:p>
            <a:pPr marL="196850" marR="692150">
              <a:lnSpc>
                <a:spcPct val="100000"/>
              </a:lnSpc>
              <a:spcBef>
                <a:spcPts val="335"/>
              </a:spcBef>
            </a:pPr>
            <a:r>
              <a:rPr sz="1750" spc="-5" dirty="0">
                <a:latin typeface="Microsoft YaHei"/>
                <a:cs typeface="Microsoft YaHei"/>
              </a:rPr>
              <a:t>传动平稳，振动、冲击、噪声小</a:t>
            </a:r>
            <a:r>
              <a:rPr sz="1750" spc="-50" dirty="0">
                <a:latin typeface="Microsoft YaHei"/>
                <a:cs typeface="Microsoft YaHei"/>
              </a:rPr>
              <a:t> </a:t>
            </a:r>
            <a:r>
              <a:rPr sz="1750" spc="-5" dirty="0">
                <a:latin typeface="Microsoft YaHei"/>
                <a:cs typeface="Microsoft YaHei"/>
              </a:rPr>
              <a:t>传动比大，结构紧凑，具有自锁性</a:t>
            </a:r>
            <a:endParaRPr sz="1750">
              <a:latin typeface="Microsoft YaHei"/>
              <a:cs typeface="Microsoft YaHei"/>
            </a:endParaRPr>
          </a:p>
          <a:p>
            <a:pPr marL="12700">
              <a:lnSpc>
                <a:spcPct val="100000"/>
              </a:lnSpc>
              <a:spcBef>
                <a:spcPts val="1320"/>
              </a:spcBef>
            </a:pPr>
            <a:r>
              <a:rPr sz="1750" spc="-20" dirty="0">
                <a:latin typeface="Microsoft YaHei"/>
                <a:cs typeface="Microsoft YaHei"/>
              </a:rPr>
              <a:t>缺点：</a:t>
            </a:r>
            <a:endParaRPr sz="1750">
              <a:latin typeface="Microsoft YaHei"/>
              <a:cs typeface="Microsoft YaHei"/>
            </a:endParaRPr>
          </a:p>
          <a:p>
            <a:pPr marL="216535">
              <a:lnSpc>
                <a:spcPct val="100000"/>
              </a:lnSpc>
              <a:spcBef>
                <a:spcPts val="180"/>
              </a:spcBef>
            </a:pPr>
            <a:r>
              <a:rPr sz="1750" spc="-5" dirty="0">
                <a:latin typeface="Microsoft YaHei"/>
                <a:cs typeface="Microsoft YaHei"/>
              </a:rPr>
              <a:t>磨损严重，效率低，发热量大，成本较高</a:t>
            </a:r>
            <a:endParaRPr sz="1750">
              <a:latin typeface="Microsoft YaHei"/>
              <a:cs typeface="Microsoft YaHei"/>
            </a:endParaRPr>
          </a:p>
          <a:p>
            <a:pPr>
              <a:lnSpc>
                <a:spcPct val="100000"/>
              </a:lnSpc>
              <a:spcBef>
                <a:spcPts val="390"/>
              </a:spcBef>
            </a:pPr>
            <a:endParaRPr sz="1750">
              <a:latin typeface="Microsoft YaHei"/>
              <a:cs typeface="Microsoft YaHei"/>
            </a:endParaRPr>
          </a:p>
          <a:p>
            <a:pPr marL="12700" marR="1602740">
              <a:lnSpc>
                <a:spcPct val="100699"/>
              </a:lnSpc>
            </a:pPr>
            <a:r>
              <a:rPr sz="1550" spc="-5" dirty="0">
                <a:latin typeface="Microsoft YaHei"/>
                <a:cs typeface="Microsoft YaHei"/>
              </a:rPr>
              <a:t>适用于：需要空间交错传动，传动比大但传动功率要求不高</a:t>
            </a:r>
            <a:endParaRPr sz="1550">
              <a:latin typeface="Microsoft YaHei"/>
              <a:cs typeface="Microsoft YaHe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030" y="2088918"/>
            <a:ext cx="4876165" cy="559435"/>
          </a:xfrm>
          <a:prstGeom prst="rect">
            <a:avLst/>
          </a:prstGeom>
        </p:spPr>
        <p:txBody>
          <a:bodyPr vert="horz" wrap="square" lIns="0" tIns="12700" rIns="0" bIns="0" rtlCol="0">
            <a:spAutoFit/>
          </a:bodyPr>
          <a:lstStyle/>
          <a:p>
            <a:pPr marL="12700">
              <a:lnSpc>
                <a:spcPct val="100000"/>
              </a:lnSpc>
              <a:spcBef>
                <a:spcPts val="100"/>
              </a:spcBef>
            </a:pPr>
            <a:r>
              <a:rPr spc="-25" dirty="0"/>
              <a:t>6</a:t>
            </a:r>
            <a:r>
              <a:rPr spc="-15" dirty="0"/>
              <a:t>.如何正确选择传动方式</a:t>
            </a:r>
          </a:p>
        </p:txBody>
      </p:sp>
      <p:pic>
        <p:nvPicPr>
          <p:cNvPr id="3" name="object 3"/>
          <p:cNvPicPr/>
          <p:nvPr/>
        </p:nvPicPr>
        <p:blipFill>
          <a:blip r:embed="rId2" cstate="print"/>
          <a:stretch>
            <a:fillRect/>
          </a:stretch>
        </p:blipFill>
        <p:spPr>
          <a:xfrm>
            <a:off x="0" y="772668"/>
            <a:ext cx="10692384" cy="1071372"/>
          </a:xfrm>
          <a:prstGeom prst="rect">
            <a:avLst/>
          </a:prstGeom>
        </p:spPr>
      </p:pic>
      <p:sp>
        <p:nvSpPr>
          <p:cNvPr id="4" name="object 4"/>
          <p:cNvSpPr txBox="1"/>
          <p:nvPr/>
        </p:nvSpPr>
        <p:spPr>
          <a:xfrm>
            <a:off x="1752099" y="3177013"/>
            <a:ext cx="5906135" cy="2908935"/>
          </a:xfrm>
          <a:prstGeom prst="rect">
            <a:avLst/>
          </a:prstGeom>
        </p:spPr>
        <p:txBody>
          <a:bodyPr vert="horz" wrap="square" lIns="0" tIns="12700" rIns="0" bIns="0" rtlCol="0">
            <a:spAutoFit/>
          </a:bodyPr>
          <a:lstStyle/>
          <a:p>
            <a:pPr marL="12700">
              <a:lnSpc>
                <a:spcPct val="100000"/>
              </a:lnSpc>
              <a:spcBef>
                <a:spcPts val="100"/>
              </a:spcBef>
            </a:pPr>
            <a:r>
              <a:rPr sz="2100" spc="-5" dirty="0">
                <a:latin typeface="Microsoft YaHei"/>
                <a:cs typeface="Microsoft YaHei"/>
              </a:rPr>
              <a:t>选择传动方式时，需要考虑以下几个方面的因素：</a:t>
            </a:r>
            <a:endParaRPr sz="2100">
              <a:latin typeface="Microsoft YaHei"/>
              <a:cs typeface="Microsoft YaHei"/>
            </a:endParaRPr>
          </a:p>
          <a:p>
            <a:pPr marL="413384" indent="-400685">
              <a:lnSpc>
                <a:spcPct val="100000"/>
              </a:lnSpc>
              <a:spcBef>
                <a:spcPts val="2505"/>
              </a:spcBef>
              <a:buFont typeface="Wingdings"/>
              <a:buChar char=""/>
              <a:tabLst>
                <a:tab pos="413384" algn="l"/>
              </a:tabLst>
            </a:pPr>
            <a:r>
              <a:rPr sz="2450" spc="-10" dirty="0">
                <a:latin typeface="Microsoft YaHei"/>
                <a:cs typeface="Microsoft YaHei"/>
              </a:rPr>
              <a:t>成本、性价比</a:t>
            </a:r>
            <a:endParaRPr sz="2450">
              <a:latin typeface="Microsoft YaHei"/>
              <a:cs typeface="Microsoft YaHei"/>
            </a:endParaRPr>
          </a:p>
          <a:p>
            <a:pPr marL="413384" indent="-400685">
              <a:lnSpc>
                <a:spcPct val="100000"/>
              </a:lnSpc>
              <a:spcBef>
                <a:spcPts val="10"/>
              </a:spcBef>
              <a:buFont typeface="Wingdings"/>
              <a:buChar char=""/>
              <a:tabLst>
                <a:tab pos="413384" algn="l"/>
              </a:tabLst>
            </a:pPr>
            <a:r>
              <a:rPr sz="2450" spc="-15" dirty="0">
                <a:latin typeface="Microsoft YaHei"/>
                <a:cs typeface="Microsoft YaHei"/>
              </a:rPr>
              <a:t>负载特性</a:t>
            </a:r>
            <a:endParaRPr sz="2450">
              <a:latin typeface="Microsoft YaHei"/>
              <a:cs typeface="Microsoft YaHei"/>
            </a:endParaRPr>
          </a:p>
          <a:p>
            <a:pPr marL="413384" indent="-400685">
              <a:lnSpc>
                <a:spcPct val="100000"/>
              </a:lnSpc>
              <a:buFont typeface="Wingdings"/>
              <a:buChar char=""/>
              <a:tabLst>
                <a:tab pos="413384" algn="l"/>
              </a:tabLst>
            </a:pPr>
            <a:r>
              <a:rPr sz="2450" spc="-10" dirty="0">
                <a:latin typeface="Microsoft YaHei"/>
                <a:cs typeface="Microsoft YaHei"/>
              </a:rPr>
              <a:t>转速要求、传动比</a:t>
            </a:r>
            <a:endParaRPr sz="2450">
              <a:latin typeface="Microsoft YaHei"/>
              <a:cs typeface="Microsoft YaHei"/>
            </a:endParaRPr>
          </a:p>
          <a:p>
            <a:pPr marL="413384" indent="-400685">
              <a:lnSpc>
                <a:spcPct val="100000"/>
              </a:lnSpc>
              <a:spcBef>
                <a:spcPts val="15"/>
              </a:spcBef>
              <a:buFont typeface="Wingdings"/>
              <a:buChar char=""/>
              <a:tabLst>
                <a:tab pos="413384" algn="l"/>
              </a:tabLst>
            </a:pPr>
            <a:r>
              <a:rPr sz="2450" spc="-25" dirty="0">
                <a:latin typeface="Microsoft YaHei"/>
                <a:cs typeface="Microsoft YaHei"/>
              </a:rPr>
              <a:t>效率</a:t>
            </a:r>
            <a:endParaRPr sz="2450">
              <a:latin typeface="Microsoft YaHei"/>
              <a:cs typeface="Microsoft YaHei"/>
            </a:endParaRPr>
          </a:p>
          <a:p>
            <a:pPr marL="413384" indent="-400685">
              <a:lnSpc>
                <a:spcPct val="100000"/>
              </a:lnSpc>
              <a:buFont typeface="Wingdings"/>
              <a:buChar char=""/>
              <a:tabLst>
                <a:tab pos="413384" algn="l"/>
              </a:tabLst>
            </a:pPr>
            <a:r>
              <a:rPr sz="2450" spc="-10" dirty="0">
                <a:latin typeface="Microsoft YaHei"/>
                <a:cs typeface="Microsoft YaHei"/>
              </a:rPr>
              <a:t>预留的空间</a:t>
            </a:r>
            <a:endParaRPr sz="2450">
              <a:latin typeface="Microsoft YaHei"/>
              <a:cs typeface="Microsoft YaHei"/>
            </a:endParaRPr>
          </a:p>
          <a:p>
            <a:pPr marL="413384" indent="-400685">
              <a:lnSpc>
                <a:spcPct val="100000"/>
              </a:lnSpc>
              <a:spcBef>
                <a:spcPts val="10"/>
              </a:spcBef>
              <a:buFont typeface="Wingdings"/>
              <a:buChar char=""/>
              <a:tabLst>
                <a:tab pos="413384" algn="l"/>
              </a:tabLst>
            </a:pPr>
            <a:r>
              <a:rPr sz="2450" spc="-25" dirty="0">
                <a:latin typeface="Microsoft YaHei"/>
                <a:cs typeface="Microsoft YaHei"/>
              </a:rPr>
              <a:t>寿命</a:t>
            </a:r>
            <a:endParaRPr sz="2450">
              <a:latin typeface="Microsoft YaHei"/>
              <a:cs typeface="Microsoft YaHei"/>
            </a:endParaRPr>
          </a:p>
        </p:txBody>
      </p:sp>
      <p:pic>
        <p:nvPicPr>
          <p:cNvPr id="5" name="object 5"/>
          <p:cNvPicPr/>
          <p:nvPr/>
        </p:nvPicPr>
        <p:blipFill>
          <a:blip r:embed="rId3" cstate="print"/>
          <a:stretch>
            <a:fillRect/>
          </a:stretch>
        </p:blipFill>
        <p:spPr>
          <a:xfrm>
            <a:off x="8209788" y="4576572"/>
            <a:ext cx="2331719" cy="220979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72668"/>
            <a:ext cx="10692384" cy="1075943"/>
          </a:xfrm>
          <a:prstGeom prst="rect">
            <a:avLst/>
          </a:prstGeom>
        </p:spPr>
      </p:pic>
      <p:grpSp>
        <p:nvGrpSpPr>
          <p:cNvPr id="3" name="object 3"/>
          <p:cNvGrpSpPr/>
          <p:nvPr/>
        </p:nvGrpSpPr>
        <p:grpSpPr>
          <a:xfrm>
            <a:off x="3197351" y="2278379"/>
            <a:ext cx="4567555" cy="2943225"/>
            <a:chOff x="3197351" y="2278379"/>
            <a:chExt cx="4567555" cy="2943225"/>
          </a:xfrm>
        </p:grpSpPr>
        <p:pic>
          <p:nvPicPr>
            <p:cNvPr id="4" name="object 4"/>
            <p:cNvPicPr/>
            <p:nvPr/>
          </p:nvPicPr>
          <p:blipFill>
            <a:blip r:embed="rId3" cstate="print"/>
            <a:stretch>
              <a:fillRect/>
            </a:stretch>
          </p:blipFill>
          <p:spPr>
            <a:xfrm>
              <a:off x="3197351" y="2278379"/>
              <a:ext cx="4567427" cy="2942843"/>
            </a:xfrm>
            <a:prstGeom prst="rect">
              <a:avLst/>
            </a:prstGeom>
          </p:spPr>
        </p:pic>
        <p:pic>
          <p:nvPicPr>
            <p:cNvPr id="5" name="object 5"/>
            <p:cNvPicPr/>
            <p:nvPr/>
          </p:nvPicPr>
          <p:blipFill>
            <a:blip r:embed="rId4" cstate="print"/>
            <a:stretch>
              <a:fillRect/>
            </a:stretch>
          </p:blipFill>
          <p:spPr>
            <a:xfrm>
              <a:off x="3701033" y="3021330"/>
              <a:ext cx="3607617" cy="1449323"/>
            </a:xfrm>
            <a:prstGeom prst="rect">
              <a:avLst/>
            </a:prstGeom>
          </p:spPr>
        </p:pic>
      </p:grpSp>
      <p:sp>
        <p:nvSpPr>
          <p:cNvPr id="6" name="object 6"/>
          <p:cNvSpPr txBox="1"/>
          <p:nvPr/>
        </p:nvSpPr>
        <p:spPr>
          <a:xfrm>
            <a:off x="4783330" y="4824480"/>
            <a:ext cx="1092200" cy="345440"/>
          </a:xfrm>
          <a:prstGeom prst="rect">
            <a:avLst/>
          </a:prstGeom>
        </p:spPr>
        <p:txBody>
          <a:bodyPr vert="horz" wrap="square" lIns="0" tIns="12700" rIns="0" bIns="0" rtlCol="0">
            <a:spAutoFit/>
          </a:bodyPr>
          <a:lstStyle/>
          <a:p>
            <a:pPr marL="12700">
              <a:lnSpc>
                <a:spcPct val="100000"/>
              </a:lnSpc>
              <a:spcBef>
                <a:spcPts val="100"/>
              </a:spcBef>
            </a:pPr>
            <a:r>
              <a:rPr sz="2100" b="1" spc="-15" dirty="0">
                <a:solidFill>
                  <a:srgbClr val="3F3F3F"/>
                </a:solidFill>
                <a:latin typeface="Microsoft YaHei"/>
                <a:cs typeface="Microsoft YaHei"/>
              </a:rPr>
              <a:t>问答环节</a:t>
            </a:r>
            <a:endParaRPr sz="2100">
              <a:latin typeface="Microsoft YaHei"/>
              <a:cs typeface="Microsoft YaHei"/>
            </a:endParaRPr>
          </a:p>
        </p:txBody>
      </p:sp>
      <p:grpSp>
        <p:nvGrpSpPr>
          <p:cNvPr id="7" name="object 7"/>
          <p:cNvGrpSpPr/>
          <p:nvPr/>
        </p:nvGrpSpPr>
        <p:grpSpPr>
          <a:xfrm>
            <a:off x="0" y="1848612"/>
            <a:ext cx="10692765" cy="4937760"/>
            <a:chOff x="0" y="1848612"/>
            <a:chExt cx="10692765" cy="4937760"/>
          </a:xfrm>
        </p:grpSpPr>
        <p:pic>
          <p:nvPicPr>
            <p:cNvPr id="8" name="object 8"/>
            <p:cNvPicPr/>
            <p:nvPr/>
          </p:nvPicPr>
          <p:blipFill>
            <a:blip r:embed="rId5" cstate="print"/>
            <a:stretch>
              <a:fillRect/>
            </a:stretch>
          </p:blipFill>
          <p:spPr>
            <a:xfrm>
              <a:off x="0" y="2660903"/>
              <a:ext cx="4439411" cy="4125467"/>
            </a:xfrm>
            <a:prstGeom prst="rect">
              <a:avLst/>
            </a:prstGeom>
          </p:spPr>
        </p:pic>
        <p:pic>
          <p:nvPicPr>
            <p:cNvPr id="9" name="object 9"/>
            <p:cNvPicPr/>
            <p:nvPr/>
          </p:nvPicPr>
          <p:blipFill>
            <a:blip r:embed="rId6" cstate="print"/>
            <a:stretch>
              <a:fillRect/>
            </a:stretch>
          </p:blipFill>
          <p:spPr>
            <a:xfrm>
              <a:off x="9605771" y="1848612"/>
              <a:ext cx="1086612" cy="4937759"/>
            </a:xfrm>
            <a:prstGeom prst="rect">
              <a:avLst/>
            </a:prstGeom>
          </p:spPr>
        </p:pic>
        <p:pic>
          <p:nvPicPr>
            <p:cNvPr id="10" name="object 10"/>
            <p:cNvPicPr/>
            <p:nvPr/>
          </p:nvPicPr>
          <p:blipFill>
            <a:blip r:embed="rId7" cstate="print"/>
            <a:stretch>
              <a:fillRect/>
            </a:stretch>
          </p:blipFill>
          <p:spPr>
            <a:xfrm>
              <a:off x="7571232" y="1858771"/>
              <a:ext cx="3121152" cy="4927600"/>
            </a:xfrm>
            <a:prstGeom prst="rect">
              <a:avLst/>
            </a:prstGeom>
          </p:spPr>
        </p:pic>
        <p:pic>
          <p:nvPicPr>
            <p:cNvPr id="11" name="object 11"/>
            <p:cNvPicPr/>
            <p:nvPr/>
          </p:nvPicPr>
          <p:blipFill>
            <a:blip r:embed="rId8" cstate="print"/>
            <a:stretch>
              <a:fillRect/>
            </a:stretch>
          </p:blipFill>
          <p:spPr>
            <a:xfrm>
              <a:off x="112776" y="1991867"/>
              <a:ext cx="1347215" cy="1345691"/>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C5D97"/>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1359</Words>
  <Application>Microsoft Office PowerPoint</Application>
  <PresentationFormat>自定义</PresentationFormat>
  <Paragraphs>272</Paragraphs>
  <Slides>50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50</vt:i4>
      </vt:variant>
    </vt:vector>
  </HeadingPairs>
  <TitlesOfParts>
    <vt:vector size="57" baseType="lpstr">
      <vt:lpstr>Arial MT</vt:lpstr>
      <vt:lpstr>Malgun Gothic</vt:lpstr>
      <vt:lpstr>Microsoft YaHei</vt:lpstr>
      <vt:lpstr>Calibri</vt:lpstr>
      <vt:lpstr>Symbol</vt:lpstr>
      <vt:lpstr>Wingdings</vt:lpstr>
      <vt:lpstr>Office Theme</vt:lpstr>
      <vt:lpstr>机械组第五次线下培训 ——常用传动机构</vt:lpstr>
      <vt:lpstr>PowerPoint 演示文稿</vt:lpstr>
      <vt:lpstr>机器的组成</vt:lpstr>
      <vt:lpstr>机器的组成</vt:lpstr>
      <vt:lpstr>什么是传动系统？</vt:lpstr>
      <vt:lpstr>1.齿轮传动</vt:lpstr>
      <vt:lpstr>1.齿轮传动——分度圆</vt:lpstr>
      <vt:lpstr>1.齿轮传动——模数</vt:lpstr>
      <vt:lpstr>1.齿轮传动——齿数</vt:lpstr>
      <vt:lpstr>1.齿轮传动——其他参数</vt:lpstr>
      <vt:lpstr>1.齿轮传动——渐开线齿轮</vt:lpstr>
      <vt:lpstr>1.齿轮传动——压力角</vt:lpstr>
      <vt:lpstr>1.齿轮传动——传动比</vt:lpstr>
      <vt:lpstr>1.齿轮传动——减速箱</vt:lpstr>
      <vt:lpstr>1.齿轮传动——齿轮加工工艺</vt:lpstr>
      <vt:lpstr>1.齿轮传动——什么时候选择齿轮传动？</vt:lpstr>
      <vt:lpstr>1.齿轮传动——如何消除回程差</vt:lpstr>
      <vt:lpstr>1. 齿轮传动——其他类别</vt:lpstr>
      <vt:lpstr>1. 齿轮传动——斜齿轮</vt:lpstr>
      <vt:lpstr>1. 齿轮传动——斜齿轮螺旋角</vt:lpstr>
      <vt:lpstr>1. 齿轮传动——斜齿轮力的方向</vt:lpstr>
      <vt:lpstr>1. 齿轮传动——圆锥齿轮</vt:lpstr>
      <vt:lpstr>1. 齿轮传动——齿轮齿条</vt:lpstr>
      <vt:lpstr>2.带传动、链传动</vt:lpstr>
      <vt:lpstr>2.带传动、链传动</vt:lpstr>
      <vt:lpstr>2.带传动、链传动</vt:lpstr>
      <vt:lpstr>2.带传动、链传动</vt:lpstr>
      <vt:lpstr>2.带传动、链传动</vt:lpstr>
      <vt:lpstr>2.带传动、链传动</vt:lpstr>
      <vt:lpstr>2.带传动、链传动</vt:lpstr>
      <vt:lpstr>2.带传动、链传动</vt:lpstr>
      <vt:lpstr>2.带传动、链传动的涨紧</vt:lpstr>
      <vt:lpstr>3.连杆传动</vt:lpstr>
      <vt:lpstr>3.连杆传动</vt:lpstr>
      <vt:lpstr>3.连杆传动</vt:lpstr>
      <vt:lpstr>3.连杆传动</vt:lpstr>
      <vt:lpstr>3.连杆传动</vt:lpstr>
      <vt:lpstr>3.连杆传动</vt:lpstr>
      <vt:lpstr>3.连杆传动</vt:lpstr>
      <vt:lpstr>3.连杆传动</vt:lpstr>
      <vt:lpstr>3.连杆传动</vt:lpstr>
      <vt:lpstr>4.螺旋传动——丝杠 化旋转运动为直线运动</vt:lpstr>
      <vt:lpstr>4.螺旋传动——丝杠 化旋转运动为直线运动</vt:lpstr>
      <vt:lpstr>5.凸轮传动</vt:lpstr>
      <vt:lpstr>5.凸轮传动</vt:lpstr>
      <vt:lpstr>5.凸轮传动 分类及适用场景</vt:lpstr>
      <vt:lpstr>5.凸轮传动</vt:lpstr>
      <vt:lpstr>5.蜗轮蜗杆传动</vt:lpstr>
      <vt:lpstr>6.如何正确选择传动方式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,fl!¿ ùﾭ.pptx</dc:title>
  <dc:creator>ut</dc:creator>
  <cp:lastModifiedBy>嘉政 李</cp:lastModifiedBy>
  <cp:revision>1</cp:revision>
  <dcterms:created xsi:type="dcterms:W3CDTF">2025-11-16T09:33:05Z</dcterms:created>
  <dcterms:modified xsi:type="dcterms:W3CDTF">2025-11-16T10:54:32Z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2024-11-30T00:00:00Z</vt:filetime>
  </property>
  <property fmtid="{D5CDD505-2E9C-101B-9397-08002B2CF9AE}" pid="3" name="LastSaved">
    <vt:filetime>2025-11-16T00:00:00Z</vt:filetime>
  </property>
  <property fmtid="{D5CDD505-2E9C-101B-9397-08002B2CF9AE}" pid="4" name="Producer">
    <vt:lpwstr>Microsoft: Print To PDF</vt:lpwstr>
  </property>
</Properties>
</file>